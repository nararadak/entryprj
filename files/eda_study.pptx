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92" r:id="rId2"/>
    <p:sldId id="293" r:id="rId3"/>
    <p:sldId id="294" r:id="rId4"/>
  </p:sldIdLst>
  <p:sldSz cx="12192000" cy="6858000"/>
  <p:notesSz cx="7104063" cy="102346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 showGuides="1">
      <p:cViewPr varScale="1">
        <p:scale>
          <a:sx n="162" d="100"/>
          <a:sy n="162" d="100"/>
        </p:scale>
        <p:origin x="264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2025-12-21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CAECAEBA-911B-AB80-AB34-CE8C184D87C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alphaModFix amt="8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340678" y="914976"/>
            <a:ext cx="4851322" cy="545773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1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611417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트러블 슈팅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(Issue &amp; Solution)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갈매기형 수장 4">
            <a:extLst>
              <a:ext uri="{FF2B5EF4-FFF2-40B4-BE49-F238E27FC236}">
                <a16:creationId xmlns:a16="http://schemas.microsoft.com/office/drawing/2014/main" id="{48374411-798D-747E-FDB7-B5F6EBFFA061}"/>
              </a:ext>
            </a:extLst>
          </p:cNvPr>
          <p:cNvSpPr/>
          <p:nvPr/>
        </p:nvSpPr>
        <p:spPr>
          <a:xfrm>
            <a:off x="4041023" y="2264971"/>
            <a:ext cx="4399033" cy="2217667"/>
          </a:xfrm>
          <a:prstGeom prst="chevron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400" b="1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조사 및 해결 과정</a:t>
            </a:r>
            <a:r>
              <a:rPr lang="en-US" altLang="ko-KR" sz="1400" b="1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marL="285750" indent="-285750" algn="ctr">
              <a:buFontTx/>
              <a:buChar char="-"/>
            </a:pP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원본 데이터에서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미매칭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데이터 선별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endParaRPr lang="en-US" altLang="ko-KR" sz="3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AI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허브를 통한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어노테이션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재작업 진행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marL="285750" indent="-285750" algn="ctr">
              <a:buFontTx/>
              <a:buChar char="-"/>
            </a:pPr>
            <a:endParaRPr lang="en-US" altLang="ko-KR" sz="3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- </a:t>
            </a:r>
            <a:r>
              <a:rPr lang="ko-KR" altLang="en-US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미매칭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외 </a:t>
            </a:r>
            <a:r>
              <a:rPr lang="en-US" altLang="ko-KR" sz="1400" dirty="0" err="1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bbox</a:t>
            </a: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겹침 등 추가 이슈 발견 →</a:t>
            </a:r>
            <a:r>
              <a:rPr lang="en-US" altLang="ko-KR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  <a:r>
              <a:rPr lang="ko-KR" altLang="en-US" sz="1400" dirty="0">
                <a:solidFill>
                  <a:srgbClr val="7C7C7A"/>
                </a:solidFill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데이터 전수 수정</a:t>
            </a:r>
            <a:endParaRPr lang="en-US" altLang="ko-KR" sz="1400" dirty="0">
              <a:solidFill>
                <a:srgbClr val="7C7C7A"/>
              </a:solidFill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</p:txBody>
      </p:sp>
      <p:sp>
        <p:nvSpPr>
          <p:cNvPr id="15" name="오각형 3">
            <a:extLst>
              <a:ext uri="{FF2B5EF4-FFF2-40B4-BE49-F238E27FC236}">
                <a16:creationId xmlns:a16="http://schemas.microsoft.com/office/drawing/2014/main" id="{FF26997A-3503-CBD6-1407-CE400CF309C2}"/>
              </a:ext>
            </a:extLst>
          </p:cNvPr>
          <p:cNvSpPr/>
          <p:nvPr/>
        </p:nvSpPr>
        <p:spPr>
          <a:xfrm>
            <a:off x="514350" y="2264971"/>
            <a:ext cx="3933825" cy="2217667"/>
          </a:xfrm>
          <a:prstGeom prst="homePlat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문제 정의 </a:t>
            </a:r>
            <a:r>
              <a:rPr lang="en-US" altLang="ko-KR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  <a:r>
              <a:rPr lang="en-US" altLang="ko-KR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</a:t>
            </a:r>
          </a:p>
          <a:p>
            <a:pPr algn="ctr"/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이미지 데이터와 </a:t>
            </a:r>
            <a:r>
              <a:rPr lang="ko-KR" altLang="en-US" sz="1600" dirty="0" err="1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어노테이션</a:t>
            </a:r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정보 간 미 매칭</a:t>
            </a:r>
            <a:endParaRPr lang="en-US" altLang="ko-KR" sz="16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endParaRPr lang="en-US" altLang="ko-KR" sz="1600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원인 추론</a:t>
            </a:r>
            <a:endParaRPr lang="en-US" altLang="ko-KR" sz="1600" b="1" dirty="0">
              <a:latin typeface="Noto Sans KR Medium" panose="020B0200000000000000" pitchFamily="50" charset="-127"/>
              <a:ea typeface="Noto Sans KR Medium" panose="020B0200000000000000" pitchFamily="50" charset="-127"/>
            </a:endParaRPr>
          </a:p>
          <a:p>
            <a:pPr algn="ctr"/>
            <a:r>
              <a:rPr lang="en-US" altLang="ko-KR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 </a:t>
            </a:r>
            <a:r>
              <a:rPr lang="ko-KR" altLang="en-US" sz="1600" dirty="0" err="1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케글</a:t>
            </a:r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 제공 데이터 자체가 미 매칭</a:t>
            </a:r>
          </a:p>
        </p:txBody>
      </p:sp>
      <p:sp>
        <p:nvSpPr>
          <p:cNvPr id="18" name="갈매기형 수장 4">
            <a:extLst>
              <a:ext uri="{FF2B5EF4-FFF2-40B4-BE49-F238E27FC236}">
                <a16:creationId xmlns:a16="http://schemas.microsoft.com/office/drawing/2014/main" id="{4E670CF7-1556-9B74-F2BD-FAA75B194C05}"/>
              </a:ext>
            </a:extLst>
          </p:cNvPr>
          <p:cNvSpPr/>
          <p:nvPr/>
        </p:nvSpPr>
        <p:spPr>
          <a:xfrm>
            <a:off x="8032905" y="2264971"/>
            <a:ext cx="3933825" cy="2217667"/>
          </a:xfrm>
          <a:prstGeom prst="chevron">
            <a:avLst/>
          </a:prstGeom>
          <a:solidFill>
            <a:srgbClr val="5F5F5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결과</a:t>
            </a:r>
            <a:r>
              <a:rPr lang="en-US" altLang="ko-KR" sz="1600" b="1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:</a:t>
            </a:r>
          </a:p>
          <a:p>
            <a:pPr algn="ctr"/>
            <a:r>
              <a:rPr lang="ko-KR" altLang="en-US" sz="1600" dirty="0">
                <a:latin typeface="Noto Sans KR Medium" panose="020B0200000000000000" pitchFamily="50" charset="-127"/>
                <a:ea typeface="Noto Sans KR Medium" panose="020B0200000000000000" pitchFamily="50" charset="-127"/>
              </a:rPr>
              <a:t>데이터 품질 및 신뢰도 확보 완료</a:t>
            </a:r>
          </a:p>
        </p:txBody>
      </p:sp>
    </p:spTree>
    <p:extLst>
      <p:ext uri="{BB962C8B-B14F-4D97-AF65-F5344CB8AC3E}">
        <p14:creationId xmlns:p14="http://schemas.microsoft.com/office/powerpoint/2010/main" val="3684467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226536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데이터 통계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A7D931AB-0D26-4518-AB14-A397DE85C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441" y="914974"/>
            <a:ext cx="10909190" cy="5624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4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2D885-AC57-54B7-F957-17157F19EB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D610135-07CC-25D1-0955-AA6BB144AD1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>
                <a:solidFill>
                  <a:schemeClr val="accent4"/>
                </a:solidFill>
              </a:rPr>
              <a:t>Part 3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C65658E4-880A-0663-9C96-CA4AE98CA53E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8CCC8019-ECD2-FD3D-E2E1-103D00EBE32B}"/>
              </a:ext>
            </a:extLst>
          </p:cNvPr>
          <p:cNvSpPr txBox="1"/>
          <p:nvPr/>
        </p:nvSpPr>
        <p:spPr>
          <a:xfrm>
            <a:off x="1676400" y="330200"/>
            <a:ext cx="578075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Image-Annotation </a:t>
            </a:r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매핑  분석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657FD829-DFE7-77A4-9DF3-4B90EBCC8DA0}"/>
              </a:ext>
            </a:extLst>
          </p:cNvPr>
          <p:cNvCxnSpPr>
            <a:cxnSpLocks/>
          </p:cNvCxnSpPr>
          <p:nvPr/>
        </p:nvCxnSpPr>
        <p:spPr>
          <a:xfrm>
            <a:off x="4443190" y="185057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Google Shape;60;p14">
            <a:extLst>
              <a:ext uri="{FF2B5EF4-FFF2-40B4-BE49-F238E27FC236}">
                <a16:creationId xmlns:a16="http://schemas.microsoft.com/office/drawing/2014/main" id="{8D45E020-ACB4-4103-9D00-6EB0D43A19A2}"/>
              </a:ext>
            </a:extLst>
          </p:cNvPr>
          <p:cNvSpPr txBox="1"/>
          <p:nvPr/>
        </p:nvSpPr>
        <p:spPr>
          <a:xfrm>
            <a:off x="806019" y="1116319"/>
            <a:ext cx="2685300" cy="55511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chemeClr val="dk1"/>
                </a:solidFill>
              </a:rPr>
              <a:t>▣ 이미지당 JSON 개수 통계</a:t>
            </a:r>
            <a:endParaRPr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최소:</a:t>
            </a:r>
            <a:r>
              <a:rPr lang="ko" sz="1000" dirty="0">
                <a:solidFill>
                  <a:schemeClr val="dk1"/>
                </a:solidFill>
              </a:rPr>
              <a:t> 0개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최대:</a:t>
            </a:r>
            <a:r>
              <a:rPr lang="ko" sz="1000" dirty="0">
                <a:solidFill>
                  <a:schemeClr val="dk1"/>
                </a:solidFill>
              </a:rPr>
              <a:t> 4개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평균:</a:t>
            </a:r>
            <a:r>
              <a:rPr lang="ko" sz="1000" dirty="0">
                <a:solidFill>
                  <a:schemeClr val="dk1"/>
                </a:solidFill>
              </a:rPr>
              <a:t> 1.17개</a:t>
            </a:r>
            <a:endParaRPr sz="10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200" b="1" dirty="0">
                <a:solidFill>
                  <a:schemeClr val="dk1"/>
                </a:solidFill>
              </a:rPr>
              <a:t>▣  분포</a:t>
            </a:r>
            <a:endParaRPr lang="ko-KR" altLang="en-US" sz="1200" b="1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0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419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(64.4%)</a:t>
            </a:r>
            <a:endParaRPr lang="ko-KR" altLang="en-US"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2개:</a:t>
            </a:r>
            <a:r>
              <a:rPr lang="ko" sz="1000" dirty="0">
                <a:solidFill>
                  <a:schemeClr val="dk1"/>
                </a:solidFill>
              </a:rPr>
              <a:t> 7개 (1.1%)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3개:</a:t>
            </a:r>
            <a:r>
              <a:rPr lang="ko" sz="1000" dirty="0">
                <a:solidFill>
                  <a:schemeClr val="dk1"/>
                </a:solidFill>
              </a:rPr>
              <a:t> 151개 (23.2%)</a:t>
            </a:r>
            <a:endParaRPr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r>
              <a:rPr lang="ko" sz="1000" b="1" dirty="0">
                <a:solidFill>
                  <a:schemeClr val="dk1"/>
                </a:solidFill>
              </a:rPr>
              <a:t>4개:</a:t>
            </a:r>
            <a:r>
              <a:rPr lang="ko" sz="1000" dirty="0">
                <a:solidFill>
                  <a:schemeClr val="dk1"/>
                </a:solidFill>
              </a:rPr>
              <a:t> 74개 (11.4%)</a:t>
            </a:r>
            <a:endParaRPr lang="en-US" altLang="ko" sz="1000" dirty="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●"/>
            </a:pPr>
            <a:endParaRPr sz="1000" dirty="0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ko-KR" altLang="en-US" sz="1200" b="1" dirty="0">
                <a:solidFill>
                  <a:schemeClr val="dk1"/>
                </a:solidFill>
              </a:rPr>
              <a:t>▣ </a:t>
            </a:r>
            <a:r>
              <a:rPr lang="en-US" altLang="ko-KR" sz="1200" b="1" dirty="0">
                <a:solidFill>
                  <a:schemeClr val="dk1"/>
                </a:solidFill>
              </a:rPr>
              <a:t>JSON</a:t>
            </a:r>
            <a:r>
              <a:rPr lang="ko-KR" altLang="en-US" sz="1200" b="1" dirty="0">
                <a:solidFill>
                  <a:schemeClr val="dk1"/>
                </a:solidFill>
              </a:rPr>
              <a:t>당 이미지 개수 통계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최소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0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최대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1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ko-KR" altLang="en-US" sz="1000" b="1" dirty="0">
                <a:solidFill>
                  <a:schemeClr val="dk1"/>
                </a:solidFill>
              </a:rPr>
              <a:t>평균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0.76</a:t>
            </a:r>
            <a:r>
              <a:rPr lang="ko-KR" altLang="en-US" sz="1000" dirty="0">
                <a:solidFill>
                  <a:schemeClr val="dk1"/>
                </a:solidFill>
              </a:rPr>
              <a:t>개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ko-KR" altLang="en-US" sz="1200" b="1" dirty="0">
                <a:solidFill>
                  <a:schemeClr val="dk1"/>
                </a:solidFill>
              </a:rPr>
              <a:t>▣ 분포 </a:t>
            </a:r>
          </a:p>
          <a:p>
            <a:pPr marL="457200" lvl="0" indent="-3048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0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238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(23.8%)</a:t>
            </a:r>
            <a:endParaRPr lang="ko-KR" altLang="en-US" sz="1000" dirty="0">
              <a:solidFill>
                <a:schemeClr val="dk1"/>
              </a:solidFill>
            </a:endParaRPr>
          </a:p>
          <a:p>
            <a:pPr marL="457200" lvl="0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●"/>
            </a:pPr>
            <a:r>
              <a:rPr lang="en-US" altLang="ko-KR" sz="1000" b="1" dirty="0">
                <a:solidFill>
                  <a:schemeClr val="dk1"/>
                </a:solidFill>
              </a:rPr>
              <a:t>1</a:t>
            </a:r>
            <a:r>
              <a:rPr lang="ko-KR" altLang="en-US" sz="1000" b="1" dirty="0">
                <a:solidFill>
                  <a:schemeClr val="dk1"/>
                </a:solidFill>
              </a:rPr>
              <a:t>개</a:t>
            </a:r>
            <a:r>
              <a:rPr lang="en-US" altLang="ko-KR" sz="1000" b="1" dirty="0">
                <a:solidFill>
                  <a:schemeClr val="dk1"/>
                </a:solidFill>
              </a:rPr>
              <a:t>:</a:t>
            </a:r>
            <a:r>
              <a:rPr lang="ko-KR" altLang="en-US" sz="1000" dirty="0">
                <a:solidFill>
                  <a:schemeClr val="dk1"/>
                </a:solidFill>
              </a:rPr>
              <a:t> </a:t>
            </a:r>
            <a:r>
              <a:rPr lang="en-US" altLang="ko-KR" sz="1000" dirty="0">
                <a:solidFill>
                  <a:schemeClr val="dk1"/>
                </a:solidFill>
              </a:rPr>
              <a:t>763</a:t>
            </a:r>
            <a:r>
              <a:rPr lang="ko-KR" altLang="en-US" sz="1000" dirty="0">
                <a:solidFill>
                  <a:schemeClr val="dk1"/>
                </a:solidFill>
              </a:rPr>
              <a:t>개 </a:t>
            </a:r>
            <a:r>
              <a:rPr lang="en-US" altLang="ko-KR" sz="1000" dirty="0">
                <a:solidFill>
                  <a:schemeClr val="dk1"/>
                </a:solidFill>
              </a:rPr>
              <a:t>(76.2%)</a:t>
            </a:r>
            <a:endParaRPr sz="10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  <p:sp>
        <p:nvSpPr>
          <p:cNvPr id="8" name="Google Shape;66;p15">
            <a:extLst>
              <a:ext uri="{FF2B5EF4-FFF2-40B4-BE49-F238E27FC236}">
                <a16:creationId xmlns:a16="http://schemas.microsoft.com/office/drawing/2014/main" id="{069C6AB7-C181-471B-990E-53BA60EB3D9A}"/>
              </a:ext>
            </a:extLst>
          </p:cNvPr>
          <p:cNvSpPr txBox="1"/>
          <p:nvPr/>
        </p:nvSpPr>
        <p:spPr>
          <a:xfrm>
            <a:off x="3304677" y="1251237"/>
            <a:ext cx="6995594" cy="50564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300" b="1" dirty="0">
                <a:solidFill>
                  <a:schemeClr val="dk1"/>
                </a:solidFill>
              </a:rPr>
              <a:t>▣ </a:t>
            </a:r>
            <a:r>
              <a:rPr lang="ko" sz="1200" b="1" dirty="0">
                <a:solidFill>
                  <a:schemeClr val="dk2"/>
                </a:solidFill>
              </a:rPr>
              <a:t>각 상태별 이미지/어노테이션 숫자</a:t>
            </a:r>
            <a:endParaRPr sz="12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이미지(O)/어노테이션(O)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dirty="0">
                <a:solidFill>
                  <a:schemeClr val="dk2"/>
                </a:solidFill>
              </a:rPr>
              <a:t>image : 232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763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이미지(X)/어노테이션(O)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image : 137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365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이미지(O)/어노테이션(X)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image : 419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dirty="0">
                <a:solidFill>
                  <a:schemeClr val="dk2"/>
                </a:solidFill>
              </a:rPr>
              <a:t>anno : 1676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ko" sz="1100" b="1" dirty="0">
                <a:solidFill>
                  <a:schemeClr val="dk1"/>
                </a:solidFill>
              </a:rPr>
              <a:t>▣ </a:t>
            </a:r>
            <a:r>
              <a:rPr lang="ko" sz="1100" b="1" dirty="0">
                <a:solidFill>
                  <a:schemeClr val="dk2"/>
                </a:solidFill>
              </a:rPr>
              <a:t>예외 분석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category_id가 1인 (dl_idx 와 category_id가 다른 경우)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1950</a:t>
            </a:r>
            <a:r>
              <a:rPr lang="ko" sz="1100" dirty="0">
                <a:solidFill>
                  <a:schemeClr val="dk2"/>
                </a:solidFill>
              </a:rPr>
              <a:t> 개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같은 image에서 bbox의 좌표가 같은 경우.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137</a:t>
            </a:r>
            <a:r>
              <a:rPr lang="ko" sz="1100" dirty="0">
                <a:solidFill>
                  <a:schemeClr val="dk2"/>
                </a:solidFill>
              </a:rPr>
              <a:t>개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" sz="1100" b="1" dirty="0">
                <a:solidFill>
                  <a:schemeClr val="dk2"/>
                </a:solidFill>
              </a:rPr>
              <a:t>▪ box 좌표가 잘못된 경우</a:t>
            </a:r>
            <a:endParaRPr sz="1100" b="1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" sz="1100" dirty="0">
                <a:solidFill>
                  <a:schemeClr val="dk2"/>
                </a:solidFill>
              </a:rPr>
              <a:t>6</a:t>
            </a:r>
            <a:r>
              <a:rPr lang="ko" sz="1100" dirty="0">
                <a:solidFill>
                  <a:schemeClr val="dk2"/>
                </a:solidFill>
              </a:rPr>
              <a:t> 개 </a:t>
            </a:r>
            <a:endParaRPr lang="en-US" altLang="ko"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K-003351-003832-020238_0_2_0_2_70_000_200.json,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K-003351-013900-020238_0_2_0_2_70_000_200.json,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K-003351-016688-018357_0_2_0_2_90_000_200.json,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[70, 438, 584]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K-003351-031863-036637_0_2_0_2_90_000_200.json,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K-003351-031863-038162_0_2_0_2_90_000_200.json,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[428, 199, 295]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dirty="0">
                <a:solidFill>
                  <a:schemeClr val="dk2"/>
                </a:solidFill>
              </a:rPr>
              <a:t>K-003544-006563-016548-033878_0_2_0_2_75_000_200.json, </a:t>
            </a:r>
            <a:r>
              <a:rPr lang="en-US" sz="1100" dirty="0" err="1">
                <a:solidFill>
                  <a:schemeClr val="dk2"/>
                </a:solidFill>
              </a:rPr>
              <a:t>BBox</a:t>
            </a:r>
            <a:r>
              <a:rPr lang="en-US" sz="1100" dirty="0">
                <a:solidFill>
                  <a:schemeClr val="dk2"/>
                </a:solidFill>
              </a:rPr>
              <a:t>: [133.183, 202, 200]</a:t>
            </a:r>
            <a:endParaRPr sz="11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dirty="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8685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500</TotalTime>
  <Words>316</Words>
  <Application>Microsoft Office PowerPoint</Application>
  <PresentationFormat>와이드스크린</PresentationFormat>
  <Paragraphs>73</Paragraphs>
  <Slides>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</vt:i4>
      </vt:variant>
    </vt:vector>
  </HeadingPairs>
  <TitlesOfParts>
    <vt:vector size="9" baseType="lpstr">
      <vt:lpstr>Noto Sans KR Black</vt:lpstr>
      <vt:lpstr>Noto Sans KR Medium</vt:lpstr>
      <vt:lpstr>Arial</vt:lpstr>
      <vt:lpstr>Montserrat Black</vt:lpstr>
      <vt:lpstr>Montserrat SemiBold</vt:lpstr>
      <vt:lpstr>Office 테마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김영욱</cp:lastModifiedBy>
  <cp:revision>35</cp:revision>
  <cp:lastPrinted>2025-12-21T12:57:16Z</cp:lastPrinted>
  <dcterms:created xsi:type="dcterms:W3CDTF">2021-10-22T06:13:27Z</dcterms:created>
  <dcterms:modified xsi:type="dcterms:W3CDTF">2025-12-21T13:03:03Z</dcterms:modified>
</cp:coreProperties>
</file>