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7" r:id="rId3"/>
    <p:sldId id="284" r:id="rId4"/>
    <p:sldId id="256" r:id="rId5"/>
    <p:sldId id="26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5F5F5D"/>
    <a:srgbClr val="DFD8C7"/>
    <a:srgbClr val="7C7C7A"/>
    <a:srgbClr val="E6E5E3"/>
    <a:srgbClr val="E5E2E0"/>
    <a:srgbClr val="BEB7B1"/>
    <a:srgbClr val="3D3A35"/>
    <a:srgbClr val="C3C1C4"/>
    <a:srgbClr val="52525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887F03-70C2-4F8A-AED9-C318817C4DB1}" v="2" dt="2025-12-18T10:12:05.516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6000" autoAdjust="0"/>
  </p:normalViewPr>
  <p:slideViewPr>
    <p:cSldViewPr snapToGrid="0" showGuides="1">
      <p:cViewPr varScale="1">
        <p:scale>
          <a:sx n="84" d="100"/>
          <a:sy n="84" d="100"/>
        </p:scale>
        <p:origin x="16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효중 김" userId="289f5abbc843dc30" providerId="LiveId" clId="{E8023986-AA09-4FC8-A3FA-0FA6D2EC87A7}"/>
    <pc:docChg chg="undo custSel modSld">
      <pc:chgData name="효중 김" userId="289f5abbc843dc30" providerId="LiveId" clId="{E8023986-AA09-4FC8-A3FA-0FA6D2EC87A7}" dt="2025-12-18T11:36:22.040" v="2600" actId="14100"/>
      <pc:docMkLst>
        <pc:docMk/>
      </pc:docMkLst>
      <pc:sldChg chg="modSp mod modNotesTx">
        <pc:chgData name="효중 김" userId="289f5abbc843dc30" providerId="LiveId" clId="{E8023986-AA09-4FC8-A3FA-0FA6D2EC87A7}" dt="2025-12-18T10:14:57.480" v="1365" actId="20577"/>
        <pc:sldMkLst>
          <pc:docMk/>
          <pc:sldMk cId="2321356075" sldId="256"/>
        </pc:sldMkLst>
        <pc:graphicFrameChg chg="modGraphic">
          <ac:chgData name="효중 김" userId="289f5abbc843dc30" providerId="LiveId" clId="{E8023986-AA09-4FC8-A3FA-0FA6D2EC87A7}" dt="2025-12-18T10:09:27.946" v="245" actId="20577"/>
          <ac:graphicFrameMkLst>
            <pc:docMk/>
            <pc:sldMk cId="2321356075" sldId="256"/>
            <ac:graphicFrameMk id="48" creationId="{F8F00DB8-AB00-8798-C42B-1B8070E5DD05}"/>
          </ac:graphicFrameMkLst>
        </pc:graphicFrameChg>
      </pc:sldChg>
      <pc:sldChg chg="modSp mod modNotesTx">
        <pc:chgData name="효중 김" userId="289f5abbc843dc30" providerId="LiveId" clId="{E8023986-AA09-4FC8-A3FA-0FA6D2EC87A7}" dt="2025-12-18T11:35:30.920" v="2577" actId="20577"/>
        <pc:sldMkLst>
          <pc:docMk/>
          <pc:sldMk cId="3816055464" sldId="269"/>
        </pc:sldMkLst>
        <pc:spChg chg="mod">
          <ac:chgData name="효중 김" userId="289f5abbc843dc30" providerId="LiveId" clId="{E8023986-AA09-4FC8-A3FA-0FA6D2EC87A7}" dt="2025-12-18T10:22:28.296" v="1917" actId="1036"/>
          <ac:spMkLst>
            <pc:docMk/>
            <pc:sldMk cId="3816055464" sldId="269"/>
            <ac:spMk id="10" creationId="{F0B5EB50-8B36-3F40-B638-F70A5B61ABE0}"/>
          </ac:spMkLst>
        </pc:spChg>
        <pc:spChg chg="mod">
          <ac:chgData name="효중 김" userId="289f5abbc843dc30" providerId="LiveId" clId="{E8023986-AA09-4FC8-A3FA-0FA6D2EC87A7}" dt="2025-12-18T10:19:18.731" v="1619" actId="1076"/>
          <ac:spMkLst>
            <pc:docMk/>
            <pc:sldMk cId="3816055464" sldId="269"/>
            <ac:spMk id="23" creationId="{09F5AAC3-9360-4876-A207-D33BD9520125}"/>
          </ac:spMkLst>
        </pc:spChg>
        <pc:spChg chg="mod">
          <ac:chgData name="효중 김" userId="289f5abbc843dc30" providerId="LiveId" clId="{E8023986-AA09-4FC8-A3FA-0FA6D2EC87A7}" dt="2025-12-18T10:20:03.477" v="1622" actId="6549"/>
          <ac:spMkLst>
            <pc:docMk/>
            <pc:sldMk cId="3816055464" sldId="269"/>
            <ac:spMk id="45" creationId="{EDC9AA10-4D93-E06E-4431-CF59CBE3A97B}"/>
          </ac:spMkLst>
        </pc:spChg>
        <pc:spChg chg="mod">
          <ac:chgData name="효중 김" userId="289f5abbc843dc30" providerId="LiveId" clId="{E8023986-AA09-4FC8-A3FA-0FA6D2EC87A7}" dt="2025-12-18T10:20:33.227" v="1623" actId="6549"/>
          <ac:spMkLst>
            <pc:docMk/>
            <pc:sldMk cId="3816055464" sldId="269"/>
            <ac:spMk id="46" creationId="{F2380329-F304-FBD5-40B2-7C73692793D2}"/>
          </ac:spMkLst>
        </pc:spChg>
        <pc:grpChg chg="mod">
          <ac:chgData name="효중 김" userId="289f5abbc843dc30" providerId="LiveId" clId="{E8023986-AA09-4FC8-A3FA-0FA6D2EC87A7}" dt="2025-12-18T10:19:22.547" v="1620" actId="1076"/>
          <ac:grpSpMkLst>
            <pc:docMk/>
            <pc:sldMk cId="3816055464" sldId="269"/>
            <ac:grpSpMk id="50" creationId="{0D6D0B64-F683-BEF4-0450-44DF6D818B97}"/>
          </ac:grpSpMkLst>
        </pc:grpChg>
        <pc:grpChg chg="mod">
          <ac:chgData name="효중 김" userId="289f5abbc843dc30" providerId="LiveId" clId="{E8023986-AA09-4FC8-A3FA-0FA6D2EC87A7}" dt="2025-12-18T10:19:30.036" v="1621" actId="1076"/>
          <ac:grpSpMkLst>
            <pc:docMk/>
            <pc:sldMk cId="3816055464" sldId="269"/>
            <ac:grpSpMk id="53" creationId="{4300549C-E4D0-42F1-8456-2D5973D6A282}"/>
          </ac:grpSpMkLst>
        </pc:grpChg>
        <pc:cxnChg chg="mod">
          <ac:chgData name="효중 김" userId="289f5abbc843dc30" providerId="LiveId" clId="{E8023986-AA09-4FC8-A3FA-0FA6D2EC87A7}" dt="2025-12-18T10:22:34.826" v="1918" actId="14100"/>
          <ac:cxnSpMkLst>
            <pc:docMk/>
            <pc:sldMk cId="3816055464" sldId="269"/>
            <ac:cxnSpMk id="40" creationId="{C415FBA7-D211-66BB-51C3-8C9AD289DC14}"/>
          </ac:cxnSpMkLst>
        </pc:cxnChg>
        <pc:cxnChg chg="mod">
          <ac:chgData name="효중 김" userId="289f5abbc843dc30" providerId="LiveId" clId="{E8023986-AA09-4FC8-A3FA-0FA6D2EC87A7}" dt="2025-12-18T10:19:03.977" v="1616" actId="1076"/>
          <ac:cxnSpMkLst>
            <pc:docMk/>
            <pc:sldMk cId="3816055464" sldId="269"/>
            <ac:cxnSpMk id="42" creationId="{49017637-A38F-21D0-CE12-8F5AA113B485}"/>
          </ac:cxnSpMkLst>
        </pc:cxnChg>
      </pc:sldChg>
      <pc:sldChg chg="modSp mod modNotesTx">
        <pc:chgData name="효중 김" userId="289f5abbc843dc30" providerId="LiveId" clId="{E8023986-AA09-4FC8-A3FA-0FA6D2EC87A7}" dt="2025-12-18T11:36:22.040" v="2600" actId="14100"/>
        <pc:sldMkLst>
          <pc:docMk/>
          <pc:sldMk cId="4246025666" sldId="284"/>
        </pc:sldMkLst>
        <pc:spChg chg="mod">
          <ac:chgData name="효중 김" userId="289f5abbc843dc30" providerId="LiveId" clId="{E8023986-AA09-4FC8-A3FA-0FA6D2EC87A7}" dt="2025-12-18T11:36:22.040" v="2600" actId="14100"/>
          <ac:spMkLst>
            <pc:docMk/>
            <pc:sldMk cId="4246025666" sldId="284"/>
            <ac:spMk id="29" creationId="{655049A5-612F-EB65-3C83-BACB47BCFC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8D0E4-191E-4D0B-9507-F1CD21D826BC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AA1FFD-0ED2-45FB-984B-92ABD63F20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0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이미 커리큘럼상에서 명시 하듯이</a:t>
            </a:r>
            <a:r>
              <a:rPr lang="en-US" altLang="ko-KR" dirty="0"/>
              <a:t>, </a:t>
            </a:r>
            <a:r>
              <a:rPr lang="ko-KR" altLang="en-US" dirty="0"/>
              <a:t>딥러닝 기반의 이미지 및 객체 인식 기술 습득이</a:t>
            </a:r>
            <a:r>
              <a:rPr lang="en-US" altLang="ko-KR" dirty="0"/>
              <a:t>, </a:t>
            </a:r>
            <a:r>
              <a:rPr lang="ko-KR" altLang="en-US" dirty="0"/>
              <a:t>본 프로젝트의 배경입니다</a:t>
            </a:r>
            <a:r>
              <a:rPr lang="en-US" altLang="ko-KR" dirty="0"/>
              <a:t>. </a:t>
            </a:r>
          </a:p>
          <a:p>
            <a:pPr marL="228600" indent="-228600">
              <a:buAutoNum type="arabicPeriod"/>
            </a:pPr>
            <a:r>
              <a:rPr lang="ko-KR" altLang="en-US" dirty="0"/>
              <a:t>프로젝트의 목표는 최적의 객체 탐지 모델 선정 </a:t>
            </a:r>
            <a:r>
              <a:rPr lang="en-US" altLang="ko-KR" dirty="0"/>
              <a:t>(YOLO vs Faster R-CNN) </a:t>
            </a:r>
            <a:r>
              <a:rPr lang="ko-KR" altLang="en-US" dirty="0"/>
              <a:t>과 데이터 </a:t>
            </a:r>
            <a:r>
              <a:rPr lang="ko-KR" altLang="en-US" dirty="0" err="1"/>
              <a:t>전처리</a:t>
            </a:r>
            <a:r>
              <a:rPr lang="ko-KR" altLang="en-US" dirty="0"/>
              <a:t> 및  튜닝을 통한 모델 강건성</a:t>
            </a:r>
            <a:r>
              <a:rPr lang="en-US" altLang="ko-KR" dirty="0"/>
              <a:t>(Robustness) </a:t>
            </a:r>
            <a:r>
              <a:rPr lang="ko-KR" altLang="en-US" dirty="0"/>
              <a:t>향상이라는 </a:t>
            </a:r>
            <a:r>
              <a:rPr lang="en-US" altLang="ko-KR" dirty="0"/>
              <a:t>2</a:t>
            </a:r>
            <a:r>
              <a:rPr lang="ko-KR" altLang="en-US" dirty="0"/>
              <a:t>가지를 삼았습니다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이를 위해서 </a:t>
            </a:r>
            <a:r>
              <a:rPr lang="en-US" altLang="ko-KR" dirty="0"/>
              <a:t>baseline </a:t>
            </a:r>
            <a:r>
              <a:rPr lang="ko-KR" altLang="en-US" dirty="0"/>
              <a:t>지표 확인과</a:t>
            </a:r>
            <a:r>
              <a:rPr lang="en-US" altLang="ko-KR" dirty="0"/>
              <a:t>, </a:t>
            </a:r>
            <a:r>
              <a:rPr lang="ko-KR" altLang="en-US" dirty="0"/>
              <a:t>데이터셋 정의</a:t>
            </a:r>
            <a:r>
              <a:rPr lang="en-US" altLang="ko-KR" dirty="0"/>
              <a:t>,  </a:t>
            </a:r>
            <a:r>
              <a:rPr lang="ko-KR" altLang="en-US" dirty="0"/>
              <a:t>데이터 분석과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그리고 모델 튜닝과 배포 연습 </a:t>
            </a:r>
            <a:r>
              <a:rPr lang="en-US" altLang="ko-KR" dirty="0"/>
              <a:t>(</a:t>
            </a:r>
            <a:r>
              <a:rPr lang="ko-KR" altLang="en-US" dirty="0"/>
              <a:t>시연</a:t>
            </a:r>
            <a:r>
              <a:rPr lang="en-US" altLang="ko-KR" dirty="0"/>
              <a:t>) </a:t>
            </a:r>
            <a:r>
              <a:rPr lang="ko-KR" altLang="en-US" dirty="0"/>
              <a:t>까지를 팀내 과제로 선정 했습니다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 startAt="3"/>
            </a:pPr>
            <a:r>
              <a:rPr lang="ko-KR" altLang="en-US" dirty="0"/>
              <a:t>본 프로젝트를 통해서 실무적 지식을 배우고</a:t>
            </a:r>
            <a:r>
              <a:rPr lang="en-US" altLang="ko-KR" dirty="0"/>
              <a:t>,  </a:t>
            </a:r>
            <a:r>
              <a:rPr lang="ko-KR" altLang="en-US" dirty="0"/>
              <a:t> 교과서적인 </a:t>
            </a:r>
            <a:r>
              <a:rPr lang="en-US" altLang="ko-KR" dirty="0"/>
              <a:t>procedure </a:t>
            </a:r>
            <a:r>
              <a:rPr lang="ko-KR" altLang="en-US" dirty="0"/>
              <a:t>보다는 프로젝트를 통한 다양한 기술 습득을 기대 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dirty="0"/>
              <a:t>팀내 </a:t>
            </a:r>
            <a:r>
              <a:rPr lang="en-US" altLang="ko-KR" dirty="0"/>
              <a:t>collaboration</a:t>
            </a:r>
            <a:r>
              <a:rPr lang="ko-KR" altLang="en-US" dirty="0"/>
              <a:t> 관련 </a:t>
            </a:r>
            <a:r>
              <a:rPr lang="en-US" altLang="ko-KR" dirty="0"/>
              <a:t>tool</a:t>
            </a:r>
            <a:r>
              <a:rPr lang="ko-KR" altLang="en-US" dirty="0"/>
              <a:t>과 소프트 스킬을 익힐 수 있고</a:t>
            </a:r>
            <a:r>
              <a:rPr lang="en-US" altLang="ko-KR" dirty="0"/>
              <a:t>, </a:t>
            </a:r>
            <a:r>
              <a:rPr lang="ko-KR" altLang="en-US" dirty="0"/>
              <a:t>또한 여타 관련 기술을 배울 것으로 기대  </a:t>
            </a:r>
            <a:r>
              <a:rPr lang="en-US" altLang="ko-KR" dirty="0"/>
              <a:t>(</a:t>
            </a:r>
            <a:r>
              <a:rPr lang="ko-KR" altLang="en-US" dirty="0"/>
              <a:t>실제로 </a:t>
            </a:r>
            <a:r>
              <a:rPr lang="en-US" altLang="ko-KR" dirty="0" err="1"/>
              <a:t>github</a:t>
            </a:r>
            <a:r>
              <a:rPr lang="ko-KR" altLang="en-US" dirty="0"/>
              <a:t>와 </a:t>
            </a:r>
            <a:r>
              <a:rPr lang="en-US" altLang="ko-KR" dirty="0" err="1"/>
              <a:t>streamlit</a:t>
            </a:r>
            <a:r>
              <a:rPr lang="ko-KR" altLang="en-US" dirty="0"/>
              <a:t>의 연동</a:t>
            </a:r>
            <a:r>
              <a:rPr lang="en-US" altLang="ko-KR" dirty="0"/>
              <a:t>, </a:t>
            </a:r>
            <a:r>
              <a:rPr lang="ko-KR" altLang="en-US" dirty="0" err="1"/>
              <a:t>코랩에서</a:t>
            </a:r>
            <a:r>
              <a:rPr lang="ko-KR" altLang="en-US" dirty="0"/>
              <a:t> </a:t>
            </a:r>
            <a:r>
              <a:rPr lang="en-US" altLang="ko-KR" dirty="0" err="1"/>
              <a:t>streamlit</a:t>
            </a:r>
            <a:r>
              <a:rPr lang="ko-KR" altLang="en-US" dirty="0"/>
              <a:t>을 구동 할 수 </a:t>
            </a:r>
            <a:r>
              <a:rPr lang="ko-KR" altLang="en-US" dirty="0" err="1"/>
              <a:t>있게금</a:t>
            </a:r>
            <a:r>
              <a:rPr lang="ko-KR" altLang="en-US" dirty="0"/>
              <a:t> 해주는 </a:t>
            </a:r>
            <a:r>
              <a:rPr lang="en-US" altLang="ko-KR" dirty="0" err="1"/>
              <a:t>ngrok</a:t>
            </a:r>
            <a:r>
              <a:rPr lang="ko-KR" altLang="en-US" dirty="0"/>
              <a:t>등 부수적으로  기술까지 습득 </a:t>
            </a:r>
            <a:r>
              <a:rPr lang="ko-KR" altLang="en-US" dirty="0" err="1"/>
              <a:t>했슴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A1FFD-0ED2-45FB-984B-92ABD63F20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017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데이터셋은 초기 분석을 통한 </a:t>
            </a:r>
            <a:r>
              <a:rPr lang="en-US" altLang="ko-KR" dirty="0"/>
              <a:t>3</a:t>
            </a:r>
            <a:r>
              <a:rPr lang="ko-KR" altLang="en-US" dirty="0"/>
              <a:t>개의 분류</a:t>
            </a:r>
            <a:r>
              <a:rPr lang="en-US" altLang="ko-KR" dirty="0"/>
              <a:t>, </a:t>
            </a:r>
            <a:r>
              <a:rPr lang="ko-KR" altLang="en-US" dirty="0"/>
              <a:t>데이터셋으로 나누어서 정의</a:t>
            </a:r>
            <a:r>
              <a:rPr lang="en-US" altLang="ko-KR" dirty="0"/>
              <a:t>. (</a:t>
            </a:r>
            <a:r>
              <a:rPr lang="ko-KR" altLang="en-US" dirty="0"/>
              <a:t>팀원 모두가 같은 데이터셋</a:t>
            </a:r>
            <a:r>
              <a:rPr lang="en-US" altLang="ko-KR" dirty="0"/>
              <a:t>, </a:t>
            </a:r>
            <a:r>
              <a:rPr lang="ko-KR" altLang="en-US" dirty="0"/>
              <a:t>같은 디렉토리 구조 공유</a:t>
            </a:r>
            <a:r>
              <a:rPr lang="en-US" altLang="ko-KR" dirty="0"/>
              <a:t>)</a:t>
            </a:r>
          </a:p>
          <a:p>
            <a:pPr marL="228600" indent="-228600">
              <a:buAutoNum type="arabicPeriod"/>
            </a:pPr>
            <a:r>
              <a:rPr lang="ko-KR" altLang="en-US" dirty="0"/>
              <a:t>인프라</a:t>
            </a:r>
            <a:r>
              <a:rPr lang="en-US" altLang="ko-KR" dirty="0"/>
              <a:t>, </a:t>
            </a:r>
            <a:r>
              <a:rPr lang="ko-KR" altLang="en-US" dirty="0"/>
              <a:t>개발 환경은 </a:t>
            </a:r>
            <a:r>
              <a:rPr lang="en-US" altLang="ko-KR" dirty="0"/>
              <a:t>GPU </a:t>
            </a:r>
            <a:r>
              <a:rPr lang="ko-KR" altLang="en-US" dirty="0"/>
              <a:t>자원 이유로 </a:t>
            </a:r>
            <a:r>
              <a:rPr lang="ko-KR" altLang="en-US" dirty="0" err="1"/>
              <a:t>코랩으로</a:t>
            </a:r>
            <a:r>
              <a:rPr lang="ko-KR" altLang="en-US" dirty="0"/>
              <a:t> 통일</a:t>
            </a:r>
            <a:r>
              <a:rPr lang="en-US" altLang="ko-KR" dirty="0"/>
              <a:t>,  </a:t>
            </a:r>
            <a:r>
              <a:rPr lang="ko-KR" altLang="en-US" dirty="0"/>
              <a:t>코딩은 별도로 하더라도 실행은 </a:t>
            </a:r>
            <a:r>
              <a:rPr lang="ko-KR" altLang="en-US" dirty="0" err="1"/>
              <a:t>코랩</a:t>
            </a:r>
            <a:r>
              <a:rPr lang="ko-KR" altLang="en-US" dirty="0"/>
              <a:t> 환경으로 통일</a:t>
            </a:r>
            <a:r>
              <a:rPr lang="en-US" altLang="ko-KR" dirty="0"/>
              <a:t>.</a:t>
            </a:r>
          </a:p>
          <a:p>
            <a:pPr marL="228600" indent="-228600">
              <a:buAutoNum type="arabicPeriod"/>
            </a:pPr>
            <a:r>
              <a:rPr lang="ko-KR" altLang="en-US" dirty="0"/>
              <a:t>핵심 파이프라인은  데이터 </a:t>
            </a:r>
            <a:r>
              <a:rPr lang="ko-KR" altLang="en-US" dirty="0" err="1"/>
              <a:t>전처리</a:t>
            </a:r>
            <a:r>
              <a:rPr lang="ko-KR" altLang="en-US" dirty="0"/>
              <a:t> 부터 모델 학습 및 </a:t>
            </a:r>
            <a:r>
              <a:rPr lang="en-US" altLang="ko-KR" dirty="0"/>
              <a:t>COCO </a:t>
            </a:r>
            <a:r>
              <a:rPr lang="ko-KR" altLang="en-US" dirty="0"/>
              <a:t>평가 함수를 통한 평가지표 산출까지 한 개의 코드로 수행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EDA</a:t>
            </a:r>
            <a:r>
              <a:rPr lang="ko-KR" altLang="en-US" dirty="0"/>
              <a:t>는 별도 코드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Streamlit</a:t>
            </a:r>
            <a:r>
              <a:rPr lang="ko-KR" altLang="en-US" dirty="0"/>
              <a:t> 서비스는 별도 코드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이외는 핵심 파이프라인 한 개 코드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평가 시스템이란</a:t>
            </a:r>
            <a:r>
              <a:rPr lang="en-US" altLang="ko-KR" dirty="0"/>
              <a:t>,  </a:t>
            </a:r>
            <a:r>
              <a:rPr lang="ko-KR" altLang="en-US" dirty="0"/>
              <a:t>학습된 모델을 </a:t>
            </a:r>
            <a:r>
              <a:rPr lang="ko-KR" altLang="en-US" dirty="0" err="1"/>
              <a:t>로드하여</a:t>
            </a:r>
            <a:r>
              <a:rPr lang="en-US" altLang="ko-KR" dirty="0"/>
              <a:t>, </a:t>
            </a:r>
            <a:r>
              <a:rPr lang="ko-KR" altLang="en-US" dirty="0" err="1"/>
              <a:t>코드잇제공</a:t>
            </a:r>
            <a:r>
              <a:rPr lang="ko-KR" altLang="en-US" dirty="0"/>
              <a:t> </a:t>
            </a:r>
            <a:r>
              <a:rPr lang="ko-KR" altLang="en-US" dirty="0" err="1"/>
              <a:t>테스트이미지로</a:t>
            </a:r>
            <a:r>
              <a:rPr lang="ko-KR" altLang="en-US" dirty="0"/>
              <a:t> 검증을 하며</a:t>
            </a:r>
            <a:r>
              <a:rPr lang="en-US" altLang="ko-KR" dirty="0"/>
              <a:t>, </a:t>
            </a:r>
            <a:r>
              <a:rPr lang="ko-KR" altLang="en-US" dirty="0"/>
              <a:t>또한 그 결과를 </a:t>
            </a:r>
            <a:r>
              <a:rPr lang="ko-KR" altLang="en-US" dirty="0" err="1"/>
              <a:t>캐글에</a:t>
            </a:r>
            <a:r>
              <a:rPr lang="ko-KR" altLang="en-US" dirty="0"/>
              <a:t> 제출 하기 위한 파일 생성 까지를 수행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5. Web UI</a:t>
            </a:r>
            <a:r>
              <a:rPr lang="ko-KR" altLang="en-US" dirty="0"/>
              <a:t>는 </a:t>
            </a:r>
            <a:r>
              <a:rPr lang="en-US" altLang="ko-KR" dirty="0" err="1"/>
              <a:t>Github</a:t>
            </a:r>
            <a:r>
              <a:rPr lang="ko-KR" altLang="en-US" dirty="0"/>
              <a:t>에서 </a:t>
            </a:r>
            <a:r>
              <a:rPr lang="en-US" altLang="ko-KR" dirty="0" err="1"/>
              <a:t>streamli</a:t>
            </a:r>
            <a:r>
              <a:rPr lang="ko-KR" altLang="en-US" dirty="0"/>
              <a:t>을 연동하여</a:t>
            </a:r>
            <a:r>
              <a:rPr lang="en-US" altLang="ko-KR" dirty="0"/>
              <a:t>, (</a:t>
            </a:r>
            <a:r>
              <a:rPr lang="ko-KR" altLang="en-US" dirty="0"/>
              <a:t>지금 보고 계시는 이 화면</a:t>
            </a:r>
            <a:r>
              <a:rPr lang="en-US" altLang="ko-KR" dirty="0"/>
              <a:t>) </a:t>
            </a:r>
            <a:r>
              <a:rPr lang="ko-KR" altLang="en-US" dirty="0"/>
              <a:t>발표 및 시연을 위한 코드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A1FFD-0ED2-45FB-984B-92ABD63F20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31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프로젝트의 기능적 측면을 말씀드리자면</a:t>
            </a:r>
            <a:r>
              <a:rPr lang="en-US" altLang="ko-KR" b="1" dirty="0"/>
              <a:t>, </a:t>
            </a:r>
            <a:r>
              <a:rPr lang="ko-KR" altLang="en-US" b="1" dirty="0"/>
              <a:t>우선 </a:t>
            </a:r>
            <a:r>
              <a:rPr lang="en-US" altLang="ko-KR" b="1" dirty="0"/>
              <a:t>EDA</a:t>
            </a:r>
            <a:r>
              <a:rPr lang="ko-KR" altLang="en-US" b="1" dirty="0"/>
              <a:t>를 수행하여 데이터 자체의 품질을 향상 시킴</a:t>
            </a:r>
            <a:r>
              <a:rPr lang="en-US" altLang="ko-KR" b="1" dirty="0"/>
              <a:t>. (</a:t>
            </a:r>
            <a:r>
              <a:rPr lang="ko-KR" altLang="en-US" b="1" dirty="0" err="1"/>
              <a:t>결측치</a:t>
            </a:r>
            <a:r>
              <a:rPr lang="en-US" altLang="ko-KR" b="1" dirty="0"/>
              <a:t>, </a:t>
            </a:r>
            <a:r>
              <a:rPr lang="ko-KR" altLang="en-US" b="1" dirty="0"/>
              <a:t>오류 데이터 등</a:t>
            </a:r>
            <a:r>
              <a:rPr lang="en-US" altLang="ko-KR" b="1" dirty="0"/>
              <a:t>) – EDA </a:t>
            </a:r>
            <a:r>
              <a:rPr lang="ko-KR" altLang="en-US" b="1" dirty="0"/>
              <a:t>시연을 통하여</a:t>
            </a:r>
            <a:r>
              <a:rPr lang="en-US" altLang="ko-KR" b="1" dirty="0"/>
              <a:t>, </a:t>
            </a:r>
            <a:r>
              <a:rPr lang="ko-KR" altLang="en-US" b="1" dirty="0"/>
              <a:t>어떻게 데이터 품질을 향상 시켰는지 보여 </a:t>
            </a:r>
            <a:r>
              <a:rPr lang="ko-KR" altLang="en-US" b="1" dirty="0" err="1"/>
              <a:t>드리겠슴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객체인식</a:t>
            </a:r>
            <a:r>
              <a:rPr lang="en-US" altLang="ko-KR" b="1" dirty="0"/>
              <a:t>, </a:t>
            </a:r>
            <a:r>
              <a:rPr lang="ko-KR" altLang="en-US" b="1" dirty="0" err="1"/>
              <a:t>경구용알약의</a:t>
            </a:r>
            <a:r>
              <a:rPr lang="ko-KR" altLang="en-US" b="1" dirty="0"/>
              <a:t> 탐지 및 인식 </a:t>
            </a:r>
            <a:r>
              <a:rPr lang="en-US" altLang="ko-KR" b="1" dirty="0"/>
              <a:t>(</a:t>
            </a:r>
            <a:r>
              <a:rPr lang="ko-KR" altLang="en-US" b="1" dirty="0"/>
              <a:t>데이터 </a:t>
            </a:r>
            <a:r>
              <a:rPr lang="ko-KR" altLang="en-US" b="1" dirty="0" err="1"/>
              <a:t>전처리</a:t>
            </a:r>
            <a:r>
              <a:rPr lang="ko-KR" altLang="en-US" b="1" dirty="0"/>
              <a:t> 및 모델 학습을 통하여</a:t>
            </a:r>
            <a:r>
              <a:rPr lang="en-US" altLang="ko-KR" b="1" dirty="0"/>
              <a:t>). </a:t>
            </a:r>
            <a:r>
              <a:rPr lang="ko-KR" altLang="en-US" b="1" dirty="0"/>
              <a:t>그 다음은 자동화된 평가 </a:t>
            </a:r>
            <a:r>
              <a:rPr lang="en-US" altLang="ko-KR" b="1" dirty="0"/>
              <a:t>(COCO</a:t>
            </a:r>
            <a:r>
              <a:rPr lang="ko-KR" altLang="en-US" b="1" dirty="0"/>
              <a:t>평가지표 생성 및 </a:t>
            </a:r>
            <a:r>
              <a:rPr lang="ko-KR" altLang="en-US" b="1" dirty="0" err="1"/>
              <a:t>캐글</a:t>
            </a:r>
            <a:r>
              <a:rPr lang="ko-KR" altLang="en-US" b="1" dirty="0"/>
              <a:t> 제출용 파일 생성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r>
              <a:rPr lang="ko-KR" altLang="en-US" b="1" dirty="0"/>
              <a:t>또한 부수적 이지만  </a:t>
            </a:r>
            <a:r>
              <a:rPr lang="en-US" altLang="ko-KR" b="1" dirty="0" err="1"/>
              <a:t>chatgpt</a:t>
            </a:r>
            <a:r>
              <a:rPr lang="en-US" altLang="ko-KR" b="1" dirty="0"/>
              <a:t> API</a:t>
            </a:r>
            <a:r>
              <a:rPr lang="ko-KR" altLang="en-US" b="1" dirty="0"/>
              <a:t>를 이용한 프롬프트 엔지니어링이 있습니다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ko-KR" altLang="en-US" b="1" dirty="0"/>
              <a:t>마지막으로 지금 보고 계시는 이화면을 위한 시연을 위한 </a:t>
            </a:r>
            <a:r>
              <a:rPr lang="en-US" altLang="ko-KR" b="1" dirty="0" err="1"/>
              <a:t>Streamlit</a:t>
            </a:r>
            <a:r>
              <a:rPr lang="en-US" altLang="ko-KR" b="1" dirty="0"/>
              <a:t> </a:t>
            </a:r>
            <a:r>
              <a:rPr lang="ko-KR" altLang="en-US" b="1" dirty="0"/>
              <a:t>서비스 기능 까지 입니다</a:t>
            </a:r>
            <a:r>
              <a:rPr lang="en-US" altLang="ko-KR" b="1" dirty="0"/>
              <a:t>.  </a:t>
            </a:r>
            <a:r>
              <a:rPr lang="ko-KR" altLang="en-US" b="1" dirty="0"/>
              <a:t>이렇게 </a:t>
            </a:r>
            <a:r>
              <a:rPr lang="en-US" altLang="ko-KR" b="1" dirty="0"/>
              <a:t>5</a:t>
            </a:r>
            <a:r>
              <a:rPr lang="ko-KR" altLang="en-US" b="1" dirty="0"/>
              <a:t>가지 기능을 구현 목표로 프로젝트를 진행 </a:t>
            </a:r>
            <a:r>
              <a:rPr lang="ko-KR" altLang="en-US" b="1" dirty="0" err="1"/>
              <a:t>하였슴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 err="1"/>
              <a:t>mAP</a:t>
            </a:r>
            <a:r>
              <a:rPr lang="en-US" altLang="ko-KR" b="1" dirty="0"/>
              <a:t>@[0.74:0.95]:</a:t>
            </a:r>
            <a:r>
              <a:rPr lang="ko-KR" altLang="en-US" dirty="0"/>
              <a:t> 겹치는 면적이 최소 </a:t>
            </a:r>
            <a:r>
              <a:rPr lang="en-US" altLang="ko-KR" dirty="0"/>
              <a:t>75%</a:t>
            </a:r>
            <a:r>
              <a:rPr lang="ko-KR" altLang="en-US" dirty="0"/>
              <a:t>에서 최대 </a:t>
            </a:r>
            <a:r>
              <a:rPr lang="en-US" altLang="ko-KR" dirty="0"/>
              <a:t>95%, </a:t>
            </a:r>
            <a:r>
              <a:rPr lang="ko-KR" altLang="en-US" dirty="0"/>
              <a:t>**</a:t>
            </a:r>
            <a:r>
              <a:rPr lang="en-US" altLang="ko-KR" dirty="0"/>
              <a:t>"</a:t>
            </a:r>
            <a:r>
              <a:rPr lang="ko-KR" altLang="en-US" dirty="0"/>
              <a:t>모델이 예측한 박스</a:t>
            </a:r>
            <a:r>
              <a:rPr lang="en-US" altLang="ko-KR" dirty="0"/>
              <a:t>"**</a:t>
            </a:r>
            <a:r>
              <a:rPr lang="ko-KR" altLang="en-US" dirty="0"/>
              <a:t>와 **</a:t>
            </a:r>
            <a:r>
              <a:rPr lang="en-US" altLang="ko-KR" dirty="0"/>
              <a:t>"</a:t>
            </a:r>
            <a:r>
              <a:rPr lang="ko-KR" altLang="en-US" dirty="0"/>
              <a:t>실제 정답</a:t>
            </a:r>
            <a:r>
              <a:rPr lang="en-US" altLang="ko-KR" dirty="0"/>
              <a:t>(Ground Truth) </a:t>
            </a:r>
            <a:r>
              <a:rPr lang="ko-KR" altLang="en-US" dirty="0"/>
              <a:t>박스</a:t>
            </a:r>
            <a:r>
              <a:rPr lang="en-US" altLang="ko-KR" dirty="0"/>
              <a:t>"**</a:t>
            </a:r>
            <a:r>
              <a:rPr lang="ko-KR" altLang="en-US" dirty="0"/>
              <a:t>가 얼마나 겹치는지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AA1FFD-0ED2-45FB-984B-92ABD63F20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32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428E6-48F8-48FF-A4B7-7E67A9EE0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A2431C-BDF3-4534-AED0-115F103A4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0173CB-01B9-4295-A804-D7D5973D6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5FE16-77A0-484E-AEFD-FF537292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F3DF25-2E65-49D3-8F6F-64AA110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835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DBF82B-6C4A-4F6E-A362-B2BF3BDC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E6E910-43A6-49D6-A1B5-99E3B0C2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0DB3AC-66C4-4244-9CE9-54D71AA5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2C886-882E-440B-806C-B06DE508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9323D2-1426-48F9-A93B-729E72E2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20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3C500-C8D9-4EBC-AC73-9F7D65F03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6CD17-259A-42E8-B64F-04C51B7C1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976CE5-8C59-42A2-A597-465DEAC8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312C6-1DCE-41BC-B5FA-FCFF5BE3B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39A5-69DC-4256-84CA-F160D48E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82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37A4D-E01E-45A7-B166-73EE7826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0D6757-7DA6-452C-9903-7536978F1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DCC3C8-286B-4184-8752-32BC3B116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CA751A-C45B-42C8-893F-826B22E76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77210C-0EDE-42F3-A19F-12B3884B4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5D590-E2D2-480C-AF73-67D855C5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00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E3AF97-024B-4EF1-B5B6-2E362F07C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41334B-2AA0-4E32-9445-B691EAB2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B62D6F-224F-4433-9752-11A255D32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04EE0E-6C7E-4160-86AA-136E97F9F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390FB9-7573-4784-A2A4-EDF1B3C5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4B30B-9C6A-4C96-8DB5-BCE9A09F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A11AC4-2315-46FE-81A4-FE4B84349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C2D39CB-CB92-40B8-9B0C-3FBBBDF9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89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32E25-F5B3-41EE-BD3B-6965721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CFE1863-7C02-424B-AF80-CDB396716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99FB34-90A4-44A0-9CF8-F0BC0FE4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375702-4955-406C-919C-D35A1B84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063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76E1BA2-3103-4DB2-AAEB-ED1BAE452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5D5A54-85CA-45E5-9801-A3F15EEFC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12AF2F-D0EC-4C7E-8979-4C17E3F4B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1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03A167-5C7C-4CD2-A3E4-B6F945832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1CEB6-C525-4AEB-BB3E-B13156901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96C9A-4472-4D30-BFAE-60CB397B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F16-D603-4838-BA1C-0C9EEDE4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8873C6-9D3A-4C62-9D46-88E6BAAB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A9C646-865F-49F4-8BDD-FB9A4DEC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1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258A6-5AAD-4F1F-976F-EDB5FF72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2F4441E-0165-42AA-88F8-E53C4BAAC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CA1E8-0D3C-4590-82E2-D018D6E61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74557-7FD9-416C-A8B5-FA6C4B555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A215C-B55F-4988-B45B-7667E8C7C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F3B86-5A48-411F-8090-830140A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9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520652-E714-4A15-826F-1B53C7092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14771D-DE0A-400C-8C59-8670E31F7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EACB7-48C9-4FB8-8D34-7F4C6393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1818-B6CD-47B0-9353-395CC5398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008922-CAE3-4884-AE59-2BC74144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5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371B8A-69A6-43D4-8783-6456E3350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9DA1AA-3028-44E4-B5B0-C19BF61DC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2BCD8D-3E10-4F33-BC43-EACB05C0B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E365BE-78DE-4079-B7F3-706874E9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D9E52-1AFA-4482-A474-91FF4C5C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8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DF84FF-C412-430B-963A-695AABF70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E7982-A999-4B0A-85F1-A0D5C5503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48EB6A-F091-464F-A783-1AE546A56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E467A-4026-4A8D-97BF-715EF7FA6491}" type="datetimeFigureOut">
              <a:rPr lang="ko-KR" altLang="en-US" smtClean="0"/>
              <a:t>2025-12-18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1D2C7-63D5-4319-952D-A6F8404F4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39517A-02D4-4037-9427-974339FE7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61970-B5AD-4C48-B4F7-CE9623EA5B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04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B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4AC5BE-AE8A-47DA-849C-86BF19ABB20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049933-013A-4DA4-B40F-DB900F3E4904}"/>
              </a:ext>
            </a:extLst>
          </p:cNvPr>
          <p:cNvSpPr txBox="1"/>
          <p:nvPr/>
        </p:nvSpPr>
        <p:spPr>
          <a:xfrm>
            <a:off x="2151650" y="1191568"/>
            <a:ext cx="78886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b="1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Best Team One</a:t>
            </a:r>
          </a:p>
          <a:p>
            <a:pPr algn="ctr"/>
            <a:r>
              <a:rPr lang="ko-KR" altLang="en-US" sz="7200" b="1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초급 프로젝트 발표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9A773-7309-CBA8-548F-91CC769FFBC1}"/>
              </a:ext>
            </a:extLst>
          </p:cNvPr>
          <p:cNvSpPr txBox="1"/>
          <p:nvPr/>
        </p:nvSpPr>
        <p:spPr>
          <a:xfrm>
            <a:off x="8482910" y="4512270"/>
            <a:ext cx="35349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6</a:t>
            </a:r>
            <a:r>
              <a:rPr lang="ko-KR" altLang="en-US" sz="54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 </a:t>
            </a:r>
            <a:r>
              <a:rPr lang="en-US" altLang="ko-KR" sz="54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1</a:t>
            </a:r>
            <a:r>
              <a:rPr lang="ko-KR" altLang="en-US" sz="54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FBC43-559A-15F8-C616-21CE25B3FB83}"/>
              </a:ext>
            </a:extLst>
          </p:cNvPr>
          <p:cNvSpPr txBox="1"/>
          <p:nvPr/>
        </p:nvSpPr>
        <p:spPr>
          <a:xfrm>
            <a:off x="5942092" y="5773225"/>
            <a:ext cx="6218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김영욱</a:t>
            </a:r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sz="28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김효중</a:t>
            </a:r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장우정</a:t>
            </a:r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sz="28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최무영</a:t>
            </a:r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,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최지영</a:t>
            </a:r>
          </a:p>
        </p:txBody>
      </p:sp>
    </p:spTree>
    <p:extLst>
      <p:ext uri="{BB962C8B-B14F-4D97-AF65-F5344CB8AC3E}">
        <p14:creationId xmlns:p14="http://schemas.microsoft.com/office/powerpoint/2010/main" val="65254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D9B40E9-C95A-4A8F-9206-6351FE1BE75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9050"/>
            <a:ext cx="12192000" cy="6858000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84909E9-7D4A-4AEB-B907-8E112C97A1AE}"/>
              </a:ext>
            </a:extLst>
          </p:cNvPr>
          <p:cNvCxnSpPr/>
          <p:nvPr/>
        </p:nvCxnSpPr>
        <p:spPr>
          <a:xfrm>
            <a:off x="3460750" y="914400"/>
            <a:ext cx="5270500" cy="0"/>
          </a:xfrm>
          <a:prstGeom prst="line">
            <a:avLst/>
          </a:prstGeom>
          <a:ln w="190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86C685-8BB9-46FB-AB55-17CEF03D9EAF}"/>
              </a:ext>
            </a:extLst>
          </p:cNvPr>
          <p:cNvSpPr txBox="1"/>
          <p:nvPr/>
        </p:nvSpPr>
        <p:spPr>
          <a:xfrm>
            <a:off x="5259873" y="-101263"/>
            <a:ext cx="16722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1"/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AABD8-0A10-3656-B4EE-99A895496FEF}"/>
              </a:ext>
            </a:extLst>
          </p:cNvPr>
          <p:cNvSpPr txBox="1"/>
          <p:nvPr/>
        </p:nvSpPr>
        <p:spPr>
          <a:xfrm>
            <a:off x="400050" y="1238250"/>
            <a:ext cx="411042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1.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프로젝트 소개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2.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핵심 기능 및 아키텍처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3.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모델 학습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4.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일정표 및 트러블 슈팅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5.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결과 및 시연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r>
              <a:rPr lang="en-US" altLang="ko-KR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6. </a:t>
            </a:r>
            <a:r>
              <a:rPr lang="ko-KR" altLang="en-US" sz="28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회고 및 향후 계획</a:t>
            </a:r>
            <a:endParaRPr lang="en-US" altLang="ko-KR" sz="2800" dirty="0"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990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B305-4F4D-A38C-72F7-0CCABE56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AA08DE9-0FD9-699D-5800-928F3DCD781B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74F811-BB31-27C3-D4F4-F4ECD2F728AB}"/>
              </a:ext>
            </a:extLst>
          </p:cNvPr>
          <p:cNvSpPr txBox="1"/>
          <p:nvPr/>
        </p:nvSpPr>
        <p:spPr>
          <a:xfrm>
            <a:off x="1676400" y="330200"/>
            <a:ext cx="35461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 소개</a:t>
            </a:r>
            <a:endParaRPr lang="ko-KR" altLang="en-US" sz="4400" spc="-300" dirty="0">
              <a:solidFill>
                <a:schemeClr val="accent4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F409A-1B0B-4F03-C112-F010078E6C71}"/>
              </a:ext>
            </a:extLst>
          </p:cNvPr>
          <p:cNvSpPr txBox="1"/>
          <p:nvPr/>
        </p:nvSpPr>
        <p:spPr>
          <a:xfrm>
            <a:off x="583709" y="345588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1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198B4EC-98AA-0046-6160-1A78665E93F1}"/>
              </a:ext>
            </a:extLst>
          </p:cNvPr>
          <p:cNvCxnSpPr/>
          <p:nvPr/>
        </p:nvCxnSpPr>
        <p:spPr>
          <a:xfrm>
            <a:off x="1587500" y="190500"/>
            <a:ext cx="10604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D286ED0-7BEE-9CCB-11E4-E3F2D80C398F}"/>
              </a:ext>
            </a:extLst>
          </p:cNvPr>
          <p:cNvSpPr/>
          <p:nvPr/>
        </p:nvSpPr>
        <p:spPr>
          <a:xfrm>
            <a:off x="1049828" y="2047946"/>
            <a:ext cx="1168400" cy="10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3D0FC65-7EF8-0063-820F-F8F8FC7BFEAE}"/>
              </a:ext>
            </a:extLst>
          </p:cNvPr>
          <p:cNvSpPr/>
          <p:nvPr/>
        </p:nvSpPr>
        <p:spPr>
          <a:xfrm>
            <a:off x="2459527" y="2047946"/>
            <a:ext cx="8886379" cy="104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5A14A2-5A23-C1D2-AB7F-AD769E6BD32C}"/>
              </a:ext>
            </a:extLst>
          </p:cNvPr>
          <p:cNvSpPr txBox="1"/>
          <p:nvPr/>
        </p:nvSpPr>
        <p:spPr>
          <a:xfrm>
            <a:off x="1383832" y="2234823"/>
            <a:ext cx="428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36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8A1AD0-38C9-519B-5A46-44E27B5663DC}"/>
              </a:ext>
            </a:extLst>
          </p:cNvPr>
          <p:cNvSpPr txBox="1"/>
          <p:nvPr/>
        </p:nvSpPr>
        <p:spPr>
          <a:xfrm>
            <a:off x="2716622" y="2107333"/>
            <a:ext cx="8629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300" dirty="0">
                <a:solidFill>
                  <a:schemeClr val="bg1"/>
                </a:solidFill>
                <a:latin typeface="+mn-ea"/>
              </a:rPr>
              <a:t>프로젝트 배경</a:t>
            </a:r>
            <a:endParaRPr lang="en-US" altLang="ko-KR" sz="2400" b="1" spc="-300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2400" spc="-300" dirty="0">
                <a:solidFill>
                  <a:schemeClr val="bg1"/>
                </a:solidFill>
                <a:latin typeface="+mn-ea"/>
              </a:rPr>
              <a:t>컴퓨터 비전 학습 과정에서 딥러닝 기반 이미지 분류 및 객체 인식 기술 습득</a:t>
            </a:r>
            <a:endParaRPr lang="en-US" altLang="ko-KR" sz="2400" spc="-3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DDFAA2F-60F0-705D-6705-A400A88722DD}"/>
              </a:ext>
            </a:extLst>
          </p:cNvPr>
          <p:cNvSpPr/>
          <p:nvPr/>
        </p:nvSpPr>
        <p:spPr>
          <a:xfrm>
            <a:off x="1049828" y="3367447"/>
            <a:ext cx="1168400" cy="10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666F16E-99F0-EB57-CB28-2A6CE8D42F6A}"/>
              </a:ext>
            </a:extLst>
          </p:cNvPr>
          <p:cNvSpPr/>
          <p:nvPr/>
        </p:nvSpPr>
        <p:spPr>
          <a:xfrm>
            <a:off x="2459528" y="3367447"/>
            <a:ext cx="8886378" cy="10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A3A516-661C-E279-4738-1DDAA4207A78}"/>
              </a:ext>
            </a:extLst>
          </p:cNvPr>
          <p:cNvSpPr txBox="1"/>
          <p:nvPr/>
        </p:nvSpPr>
        <p:spPr>
          <a:xfrm>
            <a:off x="1394467" y="3564662"/>
            <a:ext cx="428322" cy="64633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3600" spc="-3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4DA5F3-8577-6C97-B0B3-D0B9BAE67C70}"/>
              </a:ext>
            </a:extLst>
          </p:cNvPr>
          <p:cNvSpPr txBox="1"/>
          <p:nvPr/>
        </p:nvSpPr>
        <p:spPr>
          <a:xfrm>
            <a:off x="2716622" y="3469910"/>
            <a:ext cx="770435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2400" b="1" spc="-300" dirty="0">
                <a:solidFill>
                  <a:schemeClr val="bg1"/>
                </a:solidFill>
                <a:latin typeface="+mn-ea"/>
              </a:rPr>
              <a:t>프로젝트 목표</a:t>
            </a:r>
            <a:endParaRPr lang="en-US" altLang="ko-KR" sz="2400" b="1" spc="-300" dirty="0">
              <a:solidFill>
                <a:schemeClr val="bg1"/>
              </a:solidFill>
              <a:latin typeface="+mn-ea"/>
            </a:endParaRPr>
          </a:p>
          <a:p>
            <a:r>
              <a:rPr lang="ko-KR" altLang="en-US" sz="2400" spc="-300" dirty="0">
                <a:solidFill>
                  <a:schemeClr val="bg1"/>
                </a:solidFill>
                <a:latin typeface="+mn-ea"/>
              </a:rPr>
              <a:t>미션에 부합 하는  최적의 모델 선정 및   파이프라인  개발  경험  축적  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DAA3C7F-DE26-8728-8CE3-A5E093C2F515}"/>
              </a:ext>
            </a:extLst>
          </p:cNvPr>
          <p:cNvSpPr/>
          <p:nvPr/>
        </p:nvSpPr>
        <p:spPr>
          <a:xfrm>
            <a:off x="1049828" y="4686948"/>
            <a:ext cx="1168400" cy="104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B7A5B5-8B5A-FED3-0BB3-C9B980169A17}"/>
              </a:ext>
            </a:extLst>
          </p:cNvPr>
          <p:cNvSpPr/>
          <p:nvPr/>
        </p:nvSpPr>
        <p:spPr>
          <a:xfrm>
            <a:off x="2459528" y="4686948"/>
            <a:ext cx="8886378" cy="1044000"/>
          </a:xfrm>
          <a:prstGeom prst="rect">
            <a:avLst/>
          </a:prstGeom>
          <a:solidFill>
            <a:srgbClr val="DFD8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8CCE6E-D89C-C026-FBC8-AA5C72FCF0B1}"/>
              </a:ext>
            </a:extLst>
          </p:cNvPr>
          <p:cNvSpPr txBox="1"/>
          <p:nvPr/>
        </p:nvSpPr>
        <p:spPr>
          <a:xfrm>
            <a:off x="1394467" y="4884163"/>
            <a:ext cx="4283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3</a:t>
            </a:r>
            <a:endParaRPr lang="ko-KR" altLang="en-US" sz="3600" spc="-3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5049A5-612F-EB65-3C83-BACB47BCFC47}"/>
              </a:ext>
            </a:extLst>
          </p:cNvPr>
          <p:cNvSpPr txBox="1"/>
          <p:nvPr/>
        </p:nvSpPr>
        <p:spPr>
          <a:xfrm>
            <a:off x="2716622" y="4791829"/>
            <a:ext cx="8425550" cy="769441"/>
          </a:xfrm>
          <a:prstGeom prst="rect">
            <a:avLst/>
          </a:prstGeom>
          <a:solidFill>
            <a:srgbClr val="DFD8C7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프로젝트  후 기대  효과</a:t>
            </a:r>
            <a:endParaRPr lang="en-US" altLang="ko-KR" sz="2400" b="1" spc="-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r>
              <a:rPr lang="ko-KR" altLang="en-US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실무 경험   축적  및  수업  이외   지식  습득</a:t>
            </a:r>
            <a:r>
              <a:rPr lang="en-US" altLang="ko-KR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분석 기술 </a:t>
            </a:r>
            <a:r>
              <a:rPr lang="en-US" altLang="ko-KR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ko-KR" altLang="en-US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협업 기술  향상</a:t>
            </a:r>
            <a:r>
              <a:rPr lang="en-US" altLang="ko-KR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2000" spc="-3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및   기타 소요 기술  습득</a:t>
            </a:r>
            <a:endParaRPr lang="en-US" altLang="ko-KR" sz="2000" spc="-3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6025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C1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1C37AB-8C78-4D6C-BA47-74533619AC5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5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65557" y="1776905"/>
            <a:ext cx="3640984" cy="3387516"/>
          </a:xfrm>
          <a:prstGeom prst="rect">
            <a:avLst/>
          </a:prstGeom>
        </p:spPr>
      </p:pic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9B143F9-EC64-ABC5-C8D5-795E8046693C}"/>
              </a:ext>
            </a:extLst>
          </p:cNvPr>
          <p:cNvSpPr/>
          <p:nvPr/>
        </p:nvSpPr>
        <p:spPr>
          <a:xfrm>
            <a:off x="6735706" y="882571"/>
            <a:ext cx="4940300" cy="1195708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noFill/>
          <a:ln w="57150">
            <a:solidFill>
              <a:srgbClr val="5F5F5D">
                <a:alpha val="48000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marL="0" lvl="0" indent="0" algn="ctr" defTabSz="18224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altLang="ko-K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C8E52-9362-CCF8-761C-3EAF07D4CB2F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0E1A8CC-881A-A5D0-8ACD-8909787DFE2A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42FBB5D-99A4-F72C-D93C-F17682E9DEC7}"/>
              </a:ext>
            </a:extLst>
          </p:cNvPr>
          <p:cNvCxnSpPr>
            <a:cxnSpLocks/>
          </p:cNvCxnSpPr>
          <p:nvPr/>
        </p:nvCxnSpPr>
        <p:spPr>
          <a:xfrm>
            <a:off x="15875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91442E-2474-1CE3-3F05-23E13B76CC73}"/>
              </a:ext>
            </a:extLst>
          </p:cNvPr>
          <p:cNvSpPr txBox="1"/>
          <p:nvPr/>
        </p:nvSpPr>
        <p:spPr>
          <a:xfrm>
            <a:off x="1676400" y="330200"/>
            <a:ext cx="3809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프로젝트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Workflow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320708B0-2D74-ABB6-391E-F58EDB75AC3F}"/>
              </a:ext>
            </a:extLst>
          </p:cNvPr>
          <p:cNvSpPr/>
          <p:nvPr/>
        </p:nvSpPr>
        <p:spPr>
          <a:xfrm>
            <a:off x="6735706" y="907971"/>
            <a:ext cx="4940300" cy="439149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lvl="0" algn="ctr" defTabSz="1822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kern="1200" dirty="0" err="1"/>
              <a:t>Streamlit</a:t>
            </a:r>
            <a:r>
              <a:rPr lang="en-US" altLang="ko-KR" kern="1200" dirty="0"/>
              <a:t> </a:t>
            </a:r>
            <a:r>
              <a:rPr lang="en-US" altLang="ko-KR" dirty="0"/>
              <a:t>Web UI (streamitService.py)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7282CB60-D8A4-9B59-860C-F9A45CD85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129714"/>
              </p:ext>
            </p:extLst>
          </p:nvPr>
        </p:nvGraphicFramePr>
        <p:xfrm>
          <a:off x="6735706" y="1496049"/>
          <a:ext cx="49403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060">
                  <a:extLst>
                    <a:ext uri="{9D8B030D-6E8A-4147-A177-3AD203B41FA5}">
                      <a16:colId xmlns:a16="http://schemas.microsoft.com/office/drawing/2014/main" val="1772892839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774778465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551925720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2914413052"/>
                    </a:ext>
                  </a:extLst>
                </a:gridCol>
                <a:gridCol w="988060">
                  <a:extLst>
                    <a:ext uri="{9D8B030D-6E8A-4147-A177-3AD203B41FA5}">
                      <a16:colId xmlns:a16="http://schemas.microsoft.com/office/drawing/2014/main" val="319945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프로젝트 개요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모델 연구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데이터분석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EDA </a:t>
                      </a:r>
                      <a:r>
                        <a:rPr lang="ko-KR" altLang="en-US" sz="1400" dirty="0"/>
                        <a:t>시연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모델 시연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553"/>
                  </a:ext>
                </a:extLst>
              </a:tr>
            </a:tbl>
          </a:graphicData>
        </a:graphic>
      </p:graphicFrame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B07F70F-A5CB-A892-E4DA-96851090550E}"/>
              </a:ext>
            </a:extLst>
          </p:cNvPr>
          <p:cNvCxnSpPr>
            <a:cxnSpLocks/>
          </p:cNvCxnSpPr>
          <p:nvPr/>
        </p:nvCxnSpPr>
        <p:spPr>
          <a:xfrm>
            <a:off x="5840730" y="5599775"/>
            <a:ext cx="709141" cy="0"/>
          </a:xfrm>
          <a:prstGeom prst="straightConnector1">
            <a:avLst/>
          </a:prstGeom>
          <a:ln w="57150" cap="flat" cmpd="sng" algn="ctr">
            <a:solidFill>
              <a:srgbClr val="9F9E9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자유형: 도형 45">
            <a:extLst>
              <a:ext uri="{FF2B5EF4-FFF2-40B4-BE49-F238E27FC236}">
                <a16:creationId xmlns:a16="http://schemas.microsoft.com/office/drawing/2014/main" id="{EFCD12DE-2190-953D-8323-2E3620BB2260}"/>
              </a:ext>
            </a:extLst>
          </p:cNvPr>
          <p:cNvSpPr/>
          <p:nvPr/>
        </p:nvSpPr>
        <p:spPr>
          <a:xfrm>
            <a:off x="6735706" y="5015655"/>
            <a:ext cx="4940300" cy="1620161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noFill/>
          <a:ln w="57150">
            <a:solidFill>
              <a:srgbClr val="5F5F5D">
                <a:alpha val="48000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marL="0" lvl="0" indent="0" algn="ctr" defTabSz="18224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altLang="ko-KR" sz="2000" dirty="0"/>
          </a:p>
        </p:txBody>
      </p:sp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86D974C1-3564-C77A-1C65-1BAB183C384A}"/>
              </a:ext>
            </a:extLst>
          </p:cNvPr>
          <p:cNvSpPr/>
          <p:nvPr/>
        </p:nvSpPr>
        <p:spPr>
          <a:xfrm>
            <a:off x="6735706" y="5041056"/>
            <a:ext cx="4940300" cy="439149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lvl="0" algn="ctr" defTabSz="1822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dirty="0"/>
              <a:t>핵심 파이프라인</a:t>
            </a:r>
            <a:r>
              <a:rPr lang="en-US" altLang="ko-KR" dirty="0"/>
              <a:t>(A04.py)</a:t>
            </a:r>
          </a:p>
        </p:txBody>
      </p: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F8F00DB8-AB00-8798-C42B-1B8070E5D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75068"/>
              </p:ext>
            </p:extLst>
          </p:nvPr>
        </p:nvGraphicFramePr>
        <p:xfrm>
          <a:off x="6735706" y="5613510"/>
          <a:ext cx="494030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300">
                  <a:extLst>
                    <a:ext uri="{9D8B030D-6E8A-4147-A177-3AD203B41FA5}">
                      <a16:colId xmlns:a16="http://schemas.microsoft.com/office/drawing/2014/main" val="1772892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400" dirty="0" err="1"/>
                        <a:t>Execute_Train</a:t>
                      </a:r>
                      <a:r>
                        <a:rPr lang="en-US" altLang="ko-KR" sz="1400" dirty="0"/>
                        <a:t>() : </a:t>
                      </a:r>
                      <a:r>
                        <a:rPr lang="ko-KR" altLang="en-US" sz="1400" dirty="0"/>
                        <a:t>통합 학습 실행 함수 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/>
                        <a:t>데이터 </a:t>
                      </a:r>
                      <a:r>
                        <a:rPr lang="ko-KR" altLang="en-US" sz="1400" dirty="0" err="1"/>
                        <a:t>전처리</a:t>
                      </a:r>
                      <a:r>
                        <a:rPr lang="ko-KR" altLang="en-US" sz="1400" dirty="0"/>
                        <a:t> 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/>
                        <a:t>모델 학습 </a:t>
                      </a:r>
                      <a:r>
                        <a:rPr lang="en-US" altLang="ko-KR" sz="1400" dirty="0"/>
                        <a:t>/ </a:t>
                      </a:r>
                      <a:r>
                        <a:rPr lang="ko-KR" altLang="en-US" sz="1400" dirty="0"/>
                        <a:t>평가 통합 시스템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en-US" altLang="ko-KR" sz="1400" dirty="0"/>
                        <a:t>YOLOv8 &amp; Faster R-CNN </a:t>
                      </a:r>
                      <a:r>
                        <a:rPr lang="ko-KR" altLang="en-US" sz="1400" dirty="0"/>
                        <a:t>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553"/>
                  </a:ext>
                </a:extLst>
              </a:tr>
            </a:tbl>
          </a:graphicData>
        </a:graphic>
      </p:graphicFrame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0146030D-A83C-5EFC-E450-8A532F43E54B}"/>
              </a:ext>
            </a:extLst>
          </p:cNvPr>
          <p:cNvSpPr/>
          <p:nvPr/>
        </p:nvSpPr>
        <p:spPr>
          <a:xfrm>
            <a:off x="701831" y="1246369"/>
            <a:ext cx="4940300" cy="1195708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noFill/>
          <a:ln w="57150">
            <a:solidFill>
              <a:srgbClr val="5F5F5D">
                <a:alpha val="48000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marL="0" lvl="0" indent="0" algn="ctr" defTabSz="18224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altLang="ko-KR" sz="2000" dirty="0"/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06278733-FC65-D767-F047-C73312B45438}"/>
              </a:ext>
            </a:extLst>
          </p:cNvPr>
          <p:cNvSpPr/>
          <p:nvPr/>
        </p:nvSpPr>
        <p:spPr>
          <a:xfrm>
            <a:off x="701831" y="1271769"/>
            <a:ext cx="4940300" cy="439149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lvl="0" algn="ctr" defTabSz="1822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kern="1200" dirty="0"/>
              <a:t>데이터 셋 정의</a:t>
            </a:r>
            <a:endParaRPr lang="en-US" altLang="ko-KR" dirty="0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9058534-0CED-C96D-AA94-FEBB967BB8A4}"/>
              </a:ext>
            </a:extLst>
          </p:cNvPr>
          <p:cNvSpPr/>
          <p:nvPr/>
        </p:nvSpPr>
        <p:spPr>
          <a:xfrm>
            <a:off x="6735706" y="2556569"/>
            <a:ext cx="4940300" cy="2033753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noFill/>
          <a:ln w="57150">
            <a:solidFill>
              <a:srgbClr val="5F5F5D">
                <a:alpha val="48000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marL="0" lvl="0" indent="0" algn="ctr" defTabSz="18224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altLang="ko-KR" sz="2000" dirty="0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5299A707-4337-6D65-D8A9-310FFE6E9F2A}"/>
              </a:ext>
            </a:extLst>
          </p:cNvPr>
          <p:cNvSpPr/>
          <p:nvPr/>
        </p:nvSpPr>
        <p:spPr>
          <a:xfrm>
            <a:off x="6735706" y="2581970"/>
            <a:ext cx="4940300" cy="439149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lvl="0" algn="ctr" defTabSz="1822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dirty="0"/>
              <a:t>평가 시스템 </a:t>
            </a:r>
            <a:r>
              <a:rPr lang="en-US" altLang="ko-KR" dirty="0"/>
              <a:t>(run_evaluation.py)</a:t>
            </a: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74877481-E1E1-0C5D-B1C3-C5281A893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023685"/>
              </p:ext>
            </p:extLst>
          </p:nvPr>
        </p:nvGraphicFramePr>
        <p:xfrm>
          <a:off x="6735706" y="3154424"/>
          <a:ext cx="49403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300">
                  <a:extLst>
                    <a:ext uri="{9D8B030D-6E8A-4147-A177-3AD203B41FA5}">
                      <a16:colId xmlns:a16="http://schemas.microsoft.com/office/drawing/2014/main" val="1772892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400" dirty="0" err="1"/>
                        <a:t>evaluate_and_create_submission</a:t>
                      </a:r>
                      <a:r>
                        <a:rPr lang="en-US" altLang="ko-KR" sz="1400" dirty="0"/>
                        <a:t>() </a:t>
                      </a:r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/>
                        <a:t>모델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로드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en-US" altLang="ko-KR" sz="1400" dirty="0"/>
                        <a:t>Validation </a:t>
                      </a:r>
                      <a:r>
                        <a:rPr lang="ko-KR" altLang="en-US" sz="1400" dirty="0"/>
                        <a:t>평가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/>
                        <a:t>테스트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데이터 예측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en-US" altLang="ko-KR" sz="1400" dirty="0"/>
                        <a:t>Submission CSV </a:t>
                      </a:r>
                      <a:r>
                        <a:rPr lang="ko-KR" altLang="en-US" sz="1400" dirty="0"/>
                        <a:t>생성</a:t>
                      </a:r>
                      <a:endParaRPr lang="en-US" altLang="ko-KR" sz="1400" dirty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/>
                        <a:t>결과 시각화</a:t>
                      </a: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553"/>
                  </a:ext>
                </a:extLst>
              </a:tr>
            </a:tbl>
          </a:graphicData>
        </a:graphic>
      </p:graphicFrame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AFE4C456-C1B4-9D6F-4409-FE01FA6A71E6}"/>
              </a:ext>
            </a:extLst>
          </p:cNvPr>
          <p:cNvCxnSpPr>
            <a:cxnSpLocks/>
          </p:cNvCxnSpPr>
          <p:nvPr/>
        </p:nvCxnSpPr>
        <p:spPr>
          <a:xfrm flipV="1">
            <a:off x="9095366" y="4622114"/>
            <a:ext cx="0" cy="458163"/>
          </a:xfrm>
          <a:prstGeom prst="straightConnector1">
            <a:avLst/>
          </a:prstGeom>
          <a:ln w="57150" cap="flat" cmpd="sng" algn="ctr">
            <a:solidFill>
              <a:srgbClr val="9F9E9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270ABEAF-1443-0336-2CCF-73CBB069C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289318"/>
              </p:ext>
            </p:extLst>
          </p:nvPr>
        </p:nvGraphicFramePr>
        <p:xfrm>
          <a:off x="701831" y="1785329"/>
          <a:ext cx="4940300" cy="2813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300">
                  <a:extLst>
                    <a:ext uri="{9D8B030D-6E8A-4147-A177-3AD203B41FA5}">
                      <a16:colId xmlns:a16="http://schemas.microsoft.com/office/drawing/2014/main" val="1772892839"/>
                    </a:ext>
                  </a:extLst>
                </a:gridCol>
              </a:tblGrid>
              <a:tr h="2813113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1400" dirty="0"/>
                        <a:t>D:\01.project\EntryPrj\data\ (</a:t>
                      </a:r>
                      <a:r>
                        <a:rPr lang="ko-KR" altLang="en-US" sz="1400" dirty="0"/>
                        <a:t>로컬 </a:t>
                      </a:r>
                      <a:r>
                        <a:rPr lang="en-US" altLang="ko-KR" sz="1400" dirty="0"/>
                        <a:t>&amp; </a:t>
                      </a:r>
                      <a:r>
                        <a:rPr lang="ko-KR" altLang="en-US" sz="1400" dirty="0"/>
                        <a:t>구글 드라이브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1400" dirty="0"/>
                        <a:t>├─ </a:t>
                      </a:r>
                      <a:r>
                        <a:rPr lang="en-US" altLang="ko-KR" sz="1400" dirty="0"/>
                        <a:t>1.drug_Image_annotation_allOK/ (91% </a:t>
                      </a:r>
                      <a:r>
                        <a:rPr lang="ko-KR" altLang="en-US" sz="1400" dirty="0"/>
                        <a:t>데이터</a:t>
                      </a:r>
                      <a:r>
                        <a:rPr lang="en-US" altLang="ko-KR" sz="1400" dirty="0"/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  └──────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이미지 </a:t>
                      </a:r>
                      <a:r>
                        <a:rPr lang="en-US" altLang="ko-KR" sz="1400" dirty="0"/>
                        <a:t>vs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annotation</a:t>
                      </a:r>
                      <a:r>
                        <a:rPr lang="ko-KR" altLang="en-US" sz="1400" dirty="0"/>
                        <a:t> 매핑이 된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   </a:t>
                      </a:r>
                      <a:r>
                        <a:rPr lang="ko-KR" altLang="en-US" sz="1400" dirty="0"/>
                        <a:t>├─ </a:t>
                      </a:r>
                      <a:r>
                        <a:rPr lang="en-US" altLang="ko-KR" sz="1400" dirty="0"/>
                        <a:t>2.drug_no_image_ok_Anno/ (4% </a:t>
                      </a:r>
                      <a:r>
                        <a:rPr lang="ko-KR" altLang="en-US" sz="1400" dirty="0"/>
                        <a:t>데이터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  └──────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 err="1"/>
                        <a:t>어노테이션만</a:t>
                      </a:r>
                      <a:r>
                        <a:rPr lang="ko-KR" altLang="en-US" sz="1400" dirty="0"/>
                        <a:t> 존재 </a:t>
                      </a:r>
                      <a:r>
                        <a:rPr lang="en-US" altLang="ko-KR" sz="1400" dirty="0"/>
                        <a:t>+ AI </a:t>
                      </a:r>
                      <a:r>
                        <a:rPr lang="ko-KR" altLang="en-US" sz="1400" dirty="0"/>
                        <a:t>허브 취합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  ├─ </a:t>
                      </a:r>
                      <a:r>
                        <a:rPr lang="en-US" altLang="ko-KR" sz="1400" dirty="0"/>
                        <a:t>3.drug_ok_Image_no_Anno/ (5% </a:t>
                      </a:r>
                      <a:r>
                        <a:rPr lang="ko-KR" altLang="en-US" sz="1400" dirty="0"/>
                        <a:t>데이터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  └──────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이미지만 존재 </a:t>
                      </a:r>
                      <a:r>
                        <a:rPr lang="en-US" altLang="ko-KR" sz="1400" dirty="0"/>
                        <a:t>+ AI </a:t>
                      </a:r>
                      <a:r>
                        <a:rPr lang="ko-KR" altLang="en-US" sz="1400" dirty="0"/>
                        <a:t>허브 취합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   </a:t>
                      </a:r>
                      <a:r>
                        <a:rPr lang="ko-KR" altLang="en-US" sz="1400" dirty="0"/>
                        <a:t>├─  </a:t>
                      </a:r>
                      <a:r>
                        <a:rPr lang="en-US" altLang="ko-KR" sz="1400" dirty="0" err="1"/>
                        <a:t>test_images</a:t>
                      </a:r>
                      <a:r>
                        <a:rPr lang="en-US" altLang="ko-KR" sz="1400" dirty="0"/>
                        <a:t>/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                 └────테스트 이미지 </a:t>
                      </a:r>
                      <a:r>
                        <a:rPr lang="en-US" altLang="ko-KR" sz="1400" dirty="0"/>
                        <a:t>(Kaggle </a:t>
                      </a:r>
                      <a:r>
                        <a:rPr lang="ko-KR" altLang="en-US" sz="1400" dirty="0"/>
                        <a:t>제출용</a:t>
                      </a:r>
                      <a:r>
                        <a:rPr lang="en-US" altLang="ko-KR" sz="1400" dirty="0"/>
                        <a:t>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553"/>
                  </a:ext>
                </a:extLst>
              </a:tr>
            </a:tbl>
          </a:graphicData>
        </a:graphic>
      </p:graphicFrame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E202EB4-D5FB-56DD-44FD-DABC18101A51}"/>
              </a:ext>
            </a:extLst>
          </p:cNvPr>
          <p:cNvCxnSpPr>
            <a:cxnSpLocks/>
          </p:cNvCxnSpPr>
          <p:nvPr/>
        </p:nvCxnSpPr>
        <p:spPr>
          <a:xfrm>
            <a:off x="3171981" y="4688714"/>
            <a:ext cx="0" cy="402774"/>
          </a:xfrm>
          <a:prstGeom prst="straightConnector1">
            <a:avLst/>
          </a:prstGeom>
          <a:ln w="57150" cap="flat" cmpd="sng" algn="ctr">
            <a:solidFill>
              <a:srgbClr val="9F9E9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6" name="자유형: 도형 65">
            <a:extLst>
              <a:ext uri="{FF2B5EF4-FFF2-40B4-BE49-F238E27FC236}">
                <a16:creationId xmlns:a16="http://schemas.microsoft.com/office/drawing/2014/main" id="{930698C9-0A0A-E8C6-D221-27F3CCD6DFDA}"/>
              </a:ext>
            </a:extLst>
          </p:cNvPr>
          <p:cNvSpPr/>
          <p:nvPr/>
        </p:nvSpPr>
        <p:spPr>
          <a:xfrm>
            <a:off x="701831" y="5146317"/>
            <a:ext cx="4940300" cy="1195708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noFill/>
          <a:ln w="57150">
            <a:solidFill>
              <a:srgbClr val="5F5F5D">
                <a:alpha val="48000"/>
              </a:srgb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marL="0" lvl="0" indent="0" algn="ctr" defTabSz="18224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altLang="ko-KR" sz="2000" dirty="0"/>
          </a:p>
        </p:txBody>
      </p:sp>
      <p:sp>
        <p:nvSpPr>
          <p:cNvPr id="67" name="자유형: 도형 66">
            <a:extLst>
              <a:ext uri="{FF2B5EF4-FFF2-40B4-BE49-F238E27FC236}">
                <a16:creationId xmlns:a16="http://schemas.microsoft.com/office/drawing/2014/main" id="{D6C25578-7EB0-02E0-F599-31A7827AF6D6}"/>
              </a:ext>
            </a:extLst>
          </p:cNvPr>
          <p:cNvSpPr/>
          <p:nvPr/>
        </p:nvSpPr>
        <p:spPr>
          <a:xfrm>
            <a:off x="701831" y="5171717"/>
            <a:ext cx="4940300" cy="439149"/>
          </a:xfrm>
          <a:custGeom>
            <a:avLst/>
            <a:gdLst>
              <a:gd name="connsiteX0" fmla="*/ 0 w 2289329"/>
              <a:gd name="connsiteY0" fmla="*/ 114466 h 1144664"/>
              <a:gd name="connsiteX1" fmla="*/ 114466 w 2289329"/>
              <a:gd name="connsiteY1" fmla="*/ 0 h 1144664"/>
              <a:gd name="connsiteX2" fmla="*/ 2174863 w 2289329"/>
              <a:gd name="connsiteY2" fmla="*/ 0 h 1144664"/>
              <a:gd name="connsiteX3" fmla="*/ 2289329 w 2289329"/>
              <a:gd name="connsiteY3" fmla="*/ 114466 h 1144664"/>
              <a:gd name="connsiteX4" fmla="*/ 2289329 w 2289329"/>
              <a:gd name="connsiteY4" fmla="*/ 1030198 h 1144664"/>
              <a:gd name="connsiteX5" fmla="*/ 2174863 w 2289329"/>
              <a:gd name="connsiteY5" fmla="*/ 1144664 h 1144664"/>
              <a:gd name="connsiteX6" fmla="*/ 114466 w 2289329"/>
              <a:gd name="connsiteY6" fmla="*/ 1144664 h 1144664"/>
              <a:gd name="connsiteX7" fmla="*/ 0 w 2289329"/>
              <a:gd name="connsiteY7" fmla="*/ 1030198 h 1144664"/>
              <a:gd name="connsiteX8" fmla="*/ 0 w 2289329"/>
              <a:gd name="connsiteY8" fmla="*/ 114466 h 1144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89329" h="1144664">
                <a:moveTo>
                  <a:pt x="0" y="114466"/>
                </a:moveTo>
                <a:cubicBezTo>
                  <a:pt x="0" y="51248"/>
                  <a:pt x="51248" y="0"/>
                  <a:pt x="114466" y="0"/>
                </a:cubicBezTo>
                <a:lnTo>
                  <a:pt x="2174863" y="0"/>
                </a:lnTo>
                <a:cubicBezTo>
                  <a:pt x="2238081" y="0"/>
                  <a:pt x="2289329" y="51248"/>
                  <a:pt x="2289329" y="114466"/>
                </a:cubicBezTo>
                <a:lnTo>
                  <a:pt x="2289329" y="1030198"/>
                </a:lnTo>
                <a:cubicBezTo>
                  <a:pt x="2289329" y="1093416"/>
                  <a:pt x="2238081" y="1144664"/>
                  <a:pt x="2174863" y="1144664"/>
                </a:cubicBezTo>
                <a:lnTo>
                  <a:pt x="114466" y="1144664"/>
                </a:lnTo>
                <a:cubicBezTo>
                  <a:pt x="51248" y="1144664"/>
                  <a:pt x="0" y="1093416"/>
                  <a:pt x="0" y="1030198"/>
                </a:cubicBezTo>
                <a:lnTo>
                  <a:pt x="0" y="11446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736" tIns="189736" rIns="189736" bIns="189736" numCol="1" spcCol="1270" anchor="ctr" anchorCtr="0">
            <a:noAutofit/>
          </a:bodyPr>
          <a:lstStyle/>
          <a:p>
            <a:pPr lvl="0" algn="ctr" defTabSz="1822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dirty="0"/>
              <a:t>인프라 계층 </a:t>
            </a:r>
            <a:r>
              <a:rPr lang="en-US" altLang="ko-KR" dirty="0"/>
              <a:t>(</a:t>
            </a:r>
            <a:r>
              <a:rPr lang="en-US" altLang="ko-KR" dirty="0" err="1"/>
              <a:t>Colab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1FFF5BFC-8EF1-6ABB-1CA4-5EECFE269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004357"/>
              </p:ext>
            </p:extLst>
          </p:nvPr>
        </p:nvGraphicFramePr>
        <p:xfrm>
          <a:off x="701831" y="5759795"/>
          <a:ext cx="49403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6767">
                  <a:extLst>
                    <a:ext uri="{9D8B030D-6E8A-4147-A177-3AD203B41FA5}">
                      <a16:colId xmlns:a16="http://schemas.microsoft.com/office/drawing/2014/main" val="1772892839"/>
                    </a:ext>
                  </a:extLst>
                </a:gridCol>
                <a:gridCol w="1646766">
                  <a:extLst>
                    <a:ext uri="{9D8B030D-6E8A-4147-A177-3AD203B41FA5}">
                      <a16:colId xmlns:a16="http://schemas.microsoft.com/office/drawing/2014/main" val="299487615"/>
                    </a:ext>
                  </a:extLst>
                </a:gridCol>
                <a:gridCol w="1646767">
                  <a:extLst>
                    <a:ext uri="{9D8B030D-6E8A-4147-A177-3AD203B41FA5}">
                      <a16:colId xmlns:a16="http://schemas.microsoft.com/office/drawing/2014/main" val="2748048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Pytorch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2.9.0 + cu126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CUDA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12.6+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err="1"/>
                        <a:t>RunTime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T4 GPU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6553"/>
                  </a:ext>
                </a:extLst>
              </a:tr>
            </a:tbl>
          </a:graphicData>
        </a:graphic>
      </p:graphicFrame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810B05E-1C32-D837-A126-F83613AD8460}"/>
              </a:ext>
            </a:extLst>
          </p:cNvPr>
          <p:cNvCxnSpPr>
            <a:cxnSpLocks/>
          </p:cNvCxnSpPr>
          <p:nvPr/>
        </p:nvCxnSpPr>
        <p:spPr>
          <a:xfrm flipV="1">
            <a:off x="8984876" y="2066657"/>
            <a:ext cx="0" cy="458163"/>
          </a:xfrm>
          <a:prstGeom prst="straightConnector1">
            <a:avLst/>
          </a:prstGeom>
          <a:ln w="57150" cap="flat" cmpd="sng" algn="ctr">
            <a:solidFill>
              <a:srgbClr val="9F9E9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3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49017637-A38F-21D0-CE12-8F5AA113B485}"/>
              </a:ext>
            </a:extLst>
          </p:cNvPr>
          <p:cNvCxnSpPr>
            <a:cxnSpLocks/>
          </p:cNvCxnSpPr>
          <p:nvPr/>
        </p:nvCxnSpPr>
        <p:spPr>
          <a:xfrm flipH="1">
            <a:off x="6027715" y="3290730"/>
            <a:ext cx="2874193" cy="69518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415FBA7-D211-66BB-51C3-8C9AD289DC14}"/>
              </a:ext>
            </a:extLst>
          </p:cNvPr>
          <p:cNvCxnSpPr>
            <a:cxnSpLocks/>
          </p:cNvCxnSpPr>
          <p:nvPr/>
        </p:nvCxnSpPr>
        <p:spPr>
          <a:xfrm flipH="1" flipV="1">
            <a:off x="6080413" y="4007922"/>
            <a:ext cx="1354207" cy="1300723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BE153EE-CB90-54FF-2BED-CED7384882F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4092200" y="3997861"/>
            <a:ext cx="1988213" cy="2172481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0BF8F17-9E56-462D-B8ED-980C1047873B}"/>
              </a:ext>
            </a:extLst>
          </p:cNvPr>
          <p:cNvSpPr txBox="1"/>
          <p:nvPr/>
        </p:nvSpPr>
        <p:spPr>
          <a:xfrm>
            <a:off x="1676400" y="330200"/>
            <a:ext cx="10102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핵심 기능 및 아키텍처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(Key Features &amp; Architecture)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639B0FA-CD0A-4165-A00B-863C15E63D9A}"/>
              </a:ext>
            </a:extLst>
          </p:cNvPr>
          <p:cNvCxnSpPr>
            <a:cxnSpLocks/>
          </p:cNvCxnSpPr>
          <p:nvPr/>
        </p:nvCxnSpPr>
        <p:spPr>
          <a:xfrm>
            <a:off x="6080413" y="2759483"/>
            <a:ext cx="0" cy="1228317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BFEFF22A-BF61-4A4B-A2D1-5335C6116504}"/>
              </a:ext>
            </a:extLst>
          </p:cNvPr>
          <p:cNvSpPr/>
          <p:nvPr/>
        </p:nvSpPr>
        <p:spPr>
          <a:xfrm>
            <a:off x="3834635" y="4669141"/>
            <a:ext cx="1758766" cy="1758766"/>
          </a:xfrm>
          <a:prstGeom prst="ellipse">
            <a:avLst/>
          </a:prstGeom>
          <a:solidFill>
            <a:srgbClr val="BD814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Streamlit</a:t>
            </a:r>
            <a:endParaRPr lang="en-US" altLang="ko-KR" sz="1600" dirty="0">
              <a:solidFill>
                <a:schemeClr val="accent3">
                  <a:lumMod val="40000"/>
                  <a:lumOff val="60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웹 애플리케이션</a:t>
            </a:r>
            <a:endParaRPr lang="ko-KR" altLang="en-US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98E62F9-FAF0-4F53-9004-1565CC2EAD15}"/>
              </a:ext>
            </a:extLst>
          </p:cNvPr>
          <p:cNvSpPr/>
          <p:nvPr/>
        </p:nvSpPr>
        <p:spPr>
          <a:xfrm>
            <a:off x="5201030" y="1000717"/>
            <a:ext cx="1758766" cy="1758766"/>
          </a:xfrm>
          <a:prstGeom prst="ellipse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약물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탐지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기능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9F5AAC3-9360-4876-A207-D33BD9520125}"/>
              </a:ext>
            </a:extLst>
          </p:cNvPr>
          <p:cNvSpPr/>
          <p:nvPr/>
        </p:nvSpPr>
        <p:spPr>
          <a:xfrm>
            <a:off x="7434620" y="2232427"/>
            <a:ext cx="1758766" cy="1758766"/>
          </a:xfrm>
          <a:prstGeom prst="ellipse">
            <a:avLst/>
          </a:prstGeom>
          <a:solidFill>
            <a:srgbClr val="D0A5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데이터</a:t>
            </a:r>
            <a:endParaRPr lang="en-US" altLang="ko-KR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분석</a:t>
            </a:r>
            <a:endParaRPr lang="en-US" altLang="ko-KR" dirty="0">
              <a:solidFill>
                <a:schemeClr val="accent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en-US" altLang="ko-KR" dirty="0">
                <a:solidFill>
                  <a:schemeClr val="accent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(EDA)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7FDAE60-25D7-49E4-ABB4-96D73C6F33CF}"/>
              </a:ext>
            </a:extLst>
          </p:cNvPr>
          <p:cNvGrpSpPr/>
          <p:nvPr/>
        </p:nvGrpSpPr>
        <p:grpSpPr>
          <a:xfrm>
            <a:off x="251060" y="1109873"/>
            <a:ext cx="2795744" cy="1689535"/>
            <a:chOff x="237769" y="4249825"/>
            <a:chExt cx="2858426" cy="1614944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1D078D-E0B3-454F-AA4F-9C1EA0E80010}"/>
                </a:ext>
              </a:extLst>
            </p:cNvPr>
            <p:cNvSpPr txBox="1"/>
            <p:nvPr/>
          </p:nvSpPr>
          <p:spPr>
            <a:xfrm>
              <a:off x="237769" y="4952785"/>
              <a:ext cx="2858426" cy="911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1400" dirty="0"/>
                <a:t>- YOLOv8n </a:t>
              </a:r>
              <a:r>
                <a:rPr lang="ko-KR" altLang="en-US" sz="1400" dirty="0"/>
                <a:t>을 활용한 약물 객체 탐지</a:t>
              </a:r>
              <a:endParaRPr lang="en-US" altLang="ko-KR" sz="1400" dirty="0"/>
            </a:p>
            <a:p>
              <a:pPr algn="just"/>
              <a:r>
                <a:rPr lang="en-US" altLang="ko-KR" sz="1400" dirty="0"/>
                <a:t>- </a:t>
              </a:r>
              <a:r>
                <a:rPr lang="ko-KR" altLang="en-US" sz="1400" dirty="0"/>
                <a:t>신뢰도 기반 </a:t>
              </a:r>
              <a:r>
                <a:rPr lang="ko-KR" altLang="en-US" sz="1400" dirty="0" err="1"/>
                <a:t>바운딩</a:t>
              </a:r>
              <a:r>
                <a:rPr lang="ko-KR" altLang="en-US" sz="1400" dirty="0"/>
                <a:t> 박스 및 생성 클래스 분류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3C959F-7B29-4F1E-94FE-C32622F1B681}"/>
                </a:ext>
              </a:extLst>
            </p:cNvPr>
            <p:cNvSpPr txBox="1"/>
            <p:nvPr/>
          </p:nvSpPr>
          <p:spPr>
            <a:xfrm>
              <a:off x="473761" y="4249825"/>
              <a:ext cx="2340739" cy="676634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약물 탐지 기능</a:t>
              </a:r>
              <a:endPara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</a:endParaRPr>
            </a:p>
            <a:p>
              <a:pPr algn="ctr"/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(Object Detection)</a:t>
              </a:r>
            </a:p>
          </p:txBody>
        </p:sp>
      </p:grp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7007EA15-B6BE-7C6E-6460-6C171FDCC746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3096623" y="3277766"/>
            <a:ext cx="2983790" cy="720095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A1606E89-2E31-8892-822B-8C68780C2360}"/>
              </a:ext>
            </a:extLst>
          </p:cNvPr>
          <p:cNvSpPr/>
          <p:nvPr/>
        </p:nvSpPr>
        <p:spPr>
          <a:xfrm>
            <a:off x="3096623" y="2398383"/>
            <a:ext cx="1758766" cy="1758766"/>
          </a:xfrm>
          <a:prstGeom prst="ellipse">
            <a:avLst/>
          </a:prstGeom>
          <a:solidFill>
            <a:srgbClr val="704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>
                    <a:lumMod val="8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GPT</a:t>
            </a:r>
          </a:p>
          <a:p>
            <a:pPr algn="ctr"/>
            <a:r>
              <a:rPr lang="ko-KR" altLang="en-US" dirty="0">
                <a:solidFill>
                  <a:schemeClr val="bg1">
                    <a:lumMod val="8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프롬프트</a:t>
            </a:r>
            <a:endParaRPr lang="en-US" altLang="ko-KR" dirty="0">
              <a:solidFill>
                <a:schemeClr val="bg1">
                  <a:lumMod val="8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엔지니어링</a:t>
            </a:r>
            <a:endParaRPr lang="en-US" altLang="ko-KR" sz="1600" dirty="0">
              <a:solidFill>
                <a:schemeClr val="bg1">
                  <a:lumMod val="8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0B5EB50-8B36-3F40-B638-F70A5B61ABE0}"/>
              </a:ext>
            </a:extLst>
          </p:cNvPr>
          <p:cNvSpPr/>
          <p:nvPr/>
        </p:nvSpPr>
        <p:spPr>
          <a:xfrm>
            <a:off x="6788838" y="4412977"/>
            <a:ext cx="1758766" cy="1758766"/>
          </a:xfrm>
          <a:prstGeom prst="ellipse">
            <a:avLst/>
          </a:prstGeom>
          <a:solidFill>
            <a:srgbClr val="DFD8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자동화</a:t>
            </a:r>
            <a:endParaRPr lang="en-US" altLang="ko-KR" dirty="0">
              <a:solidFill>
                <a:schemeClr val="tx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평가</a:t>
            </a:r>
            <a:endParaRPr lang="en-US" altLang="ko-KR" dirty="0">
              <a:solidFill>
                <a:schemeClr val="tx2">
                  <a:lumMod val="75000"/>
                </a:schemeClr>
              </a:solidFill>
              <a:latin typeface="Noto Serif KR Black" panose="02020200000000000000" pitchFamily="18" charset="-127"/>
              <a:ea typeface="Noto Serif KR Black" panose="02020200000000000000" pitchFamily="18" charset="-127"/>
            </a:endParaRPr>
          </a:p>
          <a:p>
            <a:pPr algn="ctr"/>
            <a:r>
              <a:rPr lang="ko-KR" altLang="en-US" dirty="0">
                <a:solidFill>
                  <a:schemeClr val="tx2">
                    <a:lumMod val="75000"/>
                  </a:schemeClr>
                </a:solidFill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시스템</a:t>
            </a:r>
            <a:endParaRPr lang="ko-KR" alt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F05768E-68BC-79A5-47A2-985EAA76E431}"/>
              </a:ext>
            </a:extLst>
          </p:cNvPr>
          <p:cNvGrpSpPr/>
          <p:nvPr/>
        </p:nvGrpSpPr>
        <p:grpSpPr>
          <a:xfrm>
            <a:off x="275128" y="3057165"/>
            <a:ext cx="2983791" cy="1222552"/>
            <a:chOff x="258857" y="4249825"/>
            <a:chExt cx="3050688" cy="1168576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DC9AA10-4D93-E06E-4431-CF59CBE3A97B}"/>
                </a:ext>
              </a:extLst>
            </p:cNvPr>
            <p:cNvSpPr txBox="1"/>
            <p:nvPr/>
          </p:nvSpPr>
          <p:spPr>
            <a:xfrm>
              <a:off x="258857" y="4712349"/>
              <a:ext cx="3050688" cy="706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ko-KR" altLang="en-US" sz="1400" dirty="0"/>
                <a:t>약물 정보 설명</a:t>
              </a:r>
              <a:endParaRPr lang="en-US" altLang="ko-KR" sz="1400" dirty="0"/>
            </a:p>
            <a:p>
              <a:pPr marL="285750" indent="-285750" algn="just">
                <a:buFontTx/>
                <a:buChar char="-"/>
              </a:pPr>
              <a:r>
                <a:rPr lang="ko-KR" altLang="en-US" sz="1400" dirty="0"/>
                <a:t>사용자 상황에 맞는 </a:t>
              </a:r>
              <a:r>
                <a:rPr lang="en-US" altLang="ko-KR" sz="1400" dirty="0"/>
                <a:t>1</a:t>
              </a:r>
              <a:r>
                <a:rPr lang="ko-KR" altLang="en-US" sz="1400" dirty="0"/>
                <a:t>차적 진단 가능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2380329-F304-FBD5-40B2-7C73692793D2}"/>
                </a:ext>
              </a:extLst>
            </p:cNvPr>
            <p:cNvSpPr txBox="1"/>
            <p:nvPr/>
          </p:nvSpPr>
          <p:spPr>
            <a:xfrm>
              <a:off x="431971" y="4249825"/>
              <a:ext cx="2424324" cy="382445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프롬프트 엔지니어링</a:t>
              </a:r>
              <a:endPara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B821CB1-0E6A-BC68-A08F-EC54EDB9F130}"/>
              </a:ext>
            </a:extLst>
          </p:cNvPr>
          <p:cNvGrpSpPr/>
          <p:nvPr/>
        </p:nvGrpSpPr>
        <p:grpSpPr>
          <a:xfrm>
            <a:off x="251060" y="4968363"/>
            <a:ext cx="2795745" cy="1439914"/>
            <a:chOff x="258857" y="4249825"/>
            <a:chExt cx="2858426" cy="137634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1811E0-E159-BBAF-6A3E-448D678259A0}"/>
                </a:ext>
              </a:extLst>
            </p:cNvPr>
            <p:cNvSpPr txBox="1"/>
            <p:nvPr/>
          </p:nvSpPr>
          <p:spPr>
            <a:xfrm>
              <a:off x="258857" y="4714184"/>
              <a:ext cx="2858426" cy="911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en-US" altLang="ko-KR" sz="1400" dirty="0"/>
                <a:t>Python </a:t>
              </a:r>
              <a:r>
                <a:rPr lang="ko-KR" altLang="en-US" sz="1400" dirty="0"/>
                <a:t>기반 데이터 중심 웹 애플리케이션</a:t>
              </a:r>
              <a:endParaRPr lang="en-US" altLang="ko-KR" sz="1400" dirty="0"/>
            </a:p>
            <a:p>
              <a:pPr marL="285750" indent="-285750" algn="just">
                <a:buFontTx/>
                <a:buChar char="-"/>
              </a:pPr>
              <a:r>
                <a:rPr lang="ko-KR" altLang="en-US" sz="1400" dirty="0"/>
                <a:t>실시간 이미지 업로드 및 실 검증</a:t>
              </a:r>
              <a:endParaRPr lang="en-US" altLang="ko-KR" sz="1400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DD7A3CE-C99B-F380-A25D-16EF81CA0683}"/>
                </a:ext>
              </a:extLst>
            </p:cNvPr>
            <p:cNvSpPr txBox="1"/>
            <p:nvPr/>
          </p:nvSpPr>
          <p:spPr>
            <a:xfrm>
              <a:off x="1014617" y="4249825"/>
              <a:ext cx="1259036" cy="382445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2000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Streamlit</a:t>
              </a:r>
              <a:endPara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ea typeface="+mj-ea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D6D0B64-F683-BEF4-0450-44DF6D818B97}"/>
              </a:ext>
            </a:extLst>
          </p:cNvPr>
          <p:cNvGrpSpPr/>
          <p:nvPr/>
        </p:nvGrpSpPr>
        <p:grpSpPr>
          <a:xfrm>
            <a:off x="8467594" y="1156201"/>
            <a:ext cx="3079728" cy="1225064"/>
            <a:chOff x="258857" y="4249825"/>
            <a:chExt cx="2858426" cy="117097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E6BCF8B-1590-6ED9-D71A-F117FCA97B59}"/>
                </a:ext>
              </a:extLst>
            </p:cNvPr>
            <p:cNvSpPr txBox="1"/>
            <p:nvPr/>
          </p:nvSpPr>
          <p:spPr>
            <a:xfrm>
              <a:off x="258857" y="4714750"/>
              <a:ext cx="2858426" cy="706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ko-KR" altLang="en-US" sz="1400" dirty="0"/>
                <a:t>이미지</a:t>
              </a:r>
              <a:r>
                <a:rPr lang="en-US" altLang="ko-KR" sz="1400" dirty="0"/>
                <a:t> : </a:t>
              </a:r>
              <a:r>
                <a:rPr lang="ko-KR" altLang="en-US" sz="1400" dirty="0" err="1"/>
                <a:t>어노테이션</a:t>
              </a:r>
              <a:r>
                <a:rPr lang="ko-KR" altLang="en-US" sz="1400" dirty="0"/>
                <a:t> 매핑 분석</a:t>
              </a:r>
              <a:endParaRPr lang="en-US" altLang="ko-KR" sz="1400" dirty="0"/>
            </a:p>
            <a:p>
              <a:pPr marL="285750" indent="-285750" algn="just">
                <a:buFontTx/>
                <a:buChar char="-"/>
              </a:pPr>
              <a:r>
                <a:rPr lang="ko-KR" altLang="en-US" sz="1400" dirty="0"/>
                <a:t>전수 식별을 통해 </a:t>
              </a:r>
              <a:r>
                <a:rPr lang="en-US" altLang="ko-KR" sz="1400" dirty="0" err="1"/>
                <a:t>bbox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박스 및 약 이름 확인</a:t>
              </a:r>
              <a:r>
                <a:rPr lang="en-US" altLang="ko-KR" sz="1400" dirty="0"/>
                <a:t>(</a:t>
              </a:r>
              <a:r>
                <a:rPr lang="ko-KR" altLang="en-US" sz="1400" dirty="0"/>
                <a:t>약학 정보원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C85847D-7A37-CC5F-81E0-D1B7D2B2C61D}"/>
                </a:ext>
              </a:extLst>
            </p:cNvPr>
            <p:cNvSpPr txBox="1"/>
            <p:nvPr/>
          </p:nvSpPr>
          <p:spPr>
            <a:xfrm>
              <a:off x="654345" y="4249825"/>
              <a:ext cx="1979580" cy="382445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데이터 분석 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+mj-ea"/>
                </a:rPr>
                <a:t>(EDA)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300549C-E4D0-42F1-8456-2D5973D6A282}"/>
              </a:ext>
            </a:extLst>
          </p:cNvPr>
          <p:cNvGrpSpPr/>
          <p:nvPr/>
        </p:nvGrpSpPr>
        <p:grpSpPr>
          <a:xfrm>
            <a:off x="8595031" y="4580402"/>
            <a:ext cx="3079728" cy="1176031"/>
            <a:chOff x="212454" y="4249825"/>
            <a:chExt cx="2858426" cy="1124109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8ED8CCD-D87E-320F-F633-566B456C9AAF}"/>
                </a:ext>
              </a:extLst>
            </p:cNvPr>
            <p:cNvSpPr txBox="1"/>
            <p:nvPr/>
          </p:nvSpPr>
          <p:spPr>
            <a:xfrm>
              <a:off x="212454" y="4667882"/>
              <a:ext cx="2858426" cy="706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FontTx/>
                <a:buChar char="-"/>
              </a:pPr>
              <a:r>
                <a:rPr lang="en-US" altLang="ko-KR" sz="1400" dirty="0"/>
                <a:t>Kaggle Submission </a:t>
              </a:r>
              <a:r>
                <a:rPr lang="ko-KR" altLang="en-US" sz="1400" dirty="0"/>
                <a:t>파일 생성</a:t>
              </a:r>
              <a:endParaRPr lang="en-US" altLang="ko-KR" sz="1400" dirty="0"/>
            </a:p>
            <a:p>
              <a:pPr marL="285750" indent="-285750" algn="just">
                <a:buFontTx/>
                <a:buChar char="-"/>
              </a:pPr>
              <a:r>
                <a:rPr lang="en-US" altLang="ko-KR" sz="1400" dirty="0" err="1"/>
                <a:t>mAP</a:t>
              </a:r>
              <a:r>
                <a:rPr lang="en-US" altLang="ko-KR" sz="1400" dirty="0"/>
                <a:t>@[0.75:0.95] </a:t>
              </a:r>
              <a:r>
                <a:rPr lang="ko-KR" altLang="en-US" sz="1400" dirty="0"/>
                <a:t>평가 지표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계산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D7A32B-E290-1EA7-60BC-E630A4E0F423}"/>
                </a:ext>
              </a:extLst>
            </p:cNvPr>
            <p:cNvSpPr txBox="1"/>
            <p:nvPr/>
          </p:nvSpPr>
          <p:spPr>
            <a:xfrm>
              <a:off x="641946" y="4249825"/>
              <a:ext cx="2004385" cy="382445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자동화</a:t>
              </a:r>
              <a:r>
                <a:rPr lang="en-US" altLang="ko-KR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</a:t>
              </a:r>
              <a:r>
                <a:rPr lang="ko-KR" altLang="en-US" sz="20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평가 시스템</a:t>
              </a:r>
              <a:endParaRPr lang="en-US" altLang="ko-KR" sz="2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D6673E1-2552-D0C8-8777-1246E92991DE}"/>
              </a:ext>
            </a:extLst>
          </p:cNvPr>
          <p:cNvSpPr txBox="1"/>
          <p:nvPr/>
        </p:nvSpPr>
        <p:spPr>
          <a:xfrm>
            <a:off x="583709" y="345588"/>
            <a:ext cx="885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4"/>
                </a:solidFill>
              </a:rPr>
              <a:t>Part 2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E6EC796-227C-559F-2A8F-07B193B08CA8}"/>
              </a:ext>
            </a:extLst>
          </p:cNvPr>
          <p:cNvCxnSpPr>
            <a:cxnSpLocks/>
          </p:cNvCxnSpPr>
          <p:nvPr/>
        </p:nvCxnSpPr>
        <p:spPr>
          <a:xfrm>
            <a:off x="1587500" y="190500"/>
            <a:ext cx="14351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214FCE8-DC9B-EDD3-81EE-96432A1326BD}"/>
              </a:ext>
            </a:extLst>
          </p:cNvPr>
          <p:cNvCxnSpPr>
            <a:cxnSpLocks/>
          </p:cNvCxnSpPr>
          <p:nvPr/>
        </p:nvCxnSpPr>
        <p:spPr>
          <a:xfrm>
            <a:off x="152400" y="190500"/>
            <a:ext cx="1203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0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111 고르곤졸라">
      <a:dk1>
        <a:srgbClr val="3A3838"/>
      </a:dk1>
      <a:lt1>
        <a:srgbClr val="FFFFFF"/>
      </a:lt1>
      <a:dk2>
        <a:srgbClr val="5D5B5B"/>
      </a:dk2>
      <a:lt2>
        <a:srgbClr val="F2F2F2"/>
      </a:lt2>
      <a:accent1>
        <a:srgbClr val="5F5F5D"/>
      </a:accent1>
      <a:accent2>
        <a:srgbClr val="7C7C7A"/>
      </a:accent2>
      <a:accent3>
        <a:srgbClr val="BEB7B1"/>
      </a:accent3>
      <a:accent4>
        <a:srgbClr val="3D3A35"/>
      </a:accent4>
      <a:accent5>
        <a:srgbClr val="D1C6AE"/>
      </a:accent5>
      <a:accent6>
        <a:srgbClr val="DFD8C7"/>
      </a:accent6>
      <a:hlink>
        <a:srgbClr val="757070"/>
      </a:hlink>
      <a:folHlink>
        <a:srgbClr val="757070"/>
      </a:folHlink>
    </a:clrScheme>
    <a:fontScheme name="Pretendard ExtraBold">
      <a:majorFont>
        <a:latin typeface="Montserrat Black"/>
        <a:ea typeface="Pretendard ExtraBold"/>
        <a:cs typeface=""/>
      </a:majorFont>
      <a:minorFont>
        <a:latin typeface="Montserrat SemiBol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831</Words>
  <Application>Microsoft Office PowerPoint</Application>
  <PresentationFormat>와이드스크린</PresentationFormat>
  <Paragraphs>123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KR Black</vt:lpstr>
      <vt:lpstr>Noto Serif KR Black</vt:lpstr>
      <vt:lpstr>맑은 고딕</vt:lpstr>
      <vt:lpstr>Arial</vt:lpstr>
      <vt:lpstr>Montserrat Black</vt:lpstr>
      <vt:lpstr>Montserrat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효중 김</cp:lastModifiedBy>
  <cp:revision>31</cp:revision>
  <dcterms:created xsi:type="dcterms:W3CDTF">2021-10-22T06:13:27Z</dcterms:created>
  <dcterms:modified xsi:type="dcterms:W3CDTF">2025-12-18T11:36:24Z</dcterms:modified>
</cp:coreProperties>
</file>