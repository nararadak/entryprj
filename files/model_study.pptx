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2" r:id="rId13"/>
  </p:sldMasterIdLst>
  <p:sldIdLst>
    <p:sldId id="291" r:id="rId15"/>
    <p:sldId id="292" r:id="rId16"/>
    <p:sldId id="293" r:id="rId17"/>
    <p:sldId id="294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96" y="1008"/>
      </p:cViewPr>
      <p:guideLst>
        <p:guide orient="horz" pos="2158"/>
        <p:guide pos="38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slide" Target="slides/slide1.xml"></Relationship><Relationship Id="rId16" Type="http://schemas.openxmlformats.org/officeDocument/2006/relationships/slide" Target="slides/slide2.xml"></Relationship><Relationship Id="rId17" Type="http://schemas.openxmlformats.org/officeDocument/2006/relationships/slide" Target="slides/slide3.xml"></Relationship><Relationship Id="rId18" Type="http://schemas.openxmlformats.org/officeDocument/2006/relationships/slide" Target="slides/slide4.xml"></Relationship><Relationship Id="rId19" Type="http://schemas.openxmlformats.org/officeDocument/2006/relationships/viewProps" Target="viewProps.xml"></Relationship><Relationship Id="rId20" Type="http://schemas.openxmlformats.org/officeDocument/2006/relationships/presProps" Target="presProps.xml"></Relationship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image" Target="../media/fImage126588123695.png"></Relationship><Relationship Id="rId3" Type="http://schemas.openxmlformats.org/officeDocument/2006/relationships/image" Target="../media/fImage2615361259955.png"></Relationship><Relationship Id="rId4" Type="http://schemas.openxmlformats.org/officeDocument/2006/relationships/slideLayout" Target="../slideLayouts/slideLayout7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image" Target="../media/fImage724601587588.png"></Relationship><Relationship Id="rId3" Type="http://schemas.openxmlformats.org/officeDocument/2006/relationships/slideLayout" Target="../slideLayouts/slideLayout7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image" Target="../media/fImage746101724850.png"></Relationship><Relationship Id="rId3" Type="http://schemas.openxmlformats.org/officeDocument/2006/relationships/slideLayout" Target="../slideLayouts/slideLayout7.xml"></Relationship></Relationships>
</file>

<file path=ppt/slides/_rels/slide4.xml.rels><?xml version="1.0" encoding="UTF-8"?>
<Relationships xmlns="http://schemas.openxmlformats.org/package/2006/relationships"><Relationship Id="rId2" Type="http://schemas.openxmlformats.org/officeDocument/2006/relationships/image" Target="../media/fImage464981867754.png"></Relationship><Relationship Id="rId3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 0"/>
          <p:cNvSpPr>
            <a:spLocks/>
          </p:cNvSpPr>
          <p:nvPr/>
        </p:nvSpPr>
        <p:spPr>
          <a:xfrm rot="0">
            <a:off x="609600" y="2091690"/>
            <a:ext cx="5021580" cy="425196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834390" y="565785"/>
            <a:ext cx="991870" cy="22167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3800">
                <a:solidFill>
                  <a:schemeClr val="accent1"/>
                </a:solidFill>
              </a:rPr>
              <a:t>”</a:t>
            </a:r>
            <a:endParaRPr lang="ko-KR" altLang="en-US" sz="13800">
              <a:solidFill>
                <a:schemeClr val="accent1"/>
              </a:solidFill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583565" y="345440"/>
            <a:ext cx="885825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>
              <a:solidFill>
                <a:schemeClr val="accent4"/>
              </a:solidFill>
            </a:endParaRPr>
          </a:p>
        </p:txBody>
      </p:sp>
      <p:cxnSp>
        <p:nvCxnSpPr>
          <p:cNvPr id="3" name="Rect 0"/>
          <p:cNvCxnSpPr>
            <a:cxnSpLocks/>
          </p:cNvCxnSpPr>
          <p:nvPr/>
        </p:nvCxnSpPr>
        <p:spPr>
          <a:xfrm rot="0">
            <a:off x="152400" y="190500"/>
            <a:ext cx="12040235" cy="635"/>
          </a:xfrm>
          <a:prstGeom prst="line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0"/>
          <p:cNvSpPr txBox="1">
            <a:spLocks/>
          </p:cNvSpPr>
          <p:nvPr/>
        </p:nvSpPr>
        <p:spPr>
          <a:xfrm rot="0">
            <a:off x="1676400" y="330200"/>
            <a:ext cx="2155825" cy="58420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3200">
                <a:latin typeface="Noto Sans KR Black" charset="0"/>
                <a:ea typeface="Noto Sans KR Black" charset="0"/>
              </a:rPr>
              <a:t>모델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 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연구</a:t>
            </a:r>
            <a:endParaRPr lang="ko-KR" altLang="en-US" sz="3200">
              <a:latin typeface="Noto Sans KR Black" charset="0"/>
              <a:ea typeface="Noto Sans KR Black" charset="0"/>
            </a:endParaRPr>
          </a:p>
        </p:txBody>
      </p:sp>
      <p:cxnSp>
        <p:nvCxnSpPr>
          <p:cNvPr id="6" name="Rect 0"/>
          <p:cNvCxnSpPr>
            <a:cxnSpLocks/>
          </p:cNvCxnSpPr>
          <p:nvPr/>
        </p:nvCxnSpPr>
        <p:spPr>
          <a:xfrm rot="0">
            <a:off x="3022600" y="190500"/>
            <a:ext cx="1435735" cy="635"/>
          </a:xfrm>
          <a:prstGeom prst="line"/>
          <a:ln w="76200" cap="flat" cmpd="sng">
            <a:solidFill>
              <a:schemeClr val="accent4"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림 1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21995" y="3463925"/>
            <a:ext cx="4791710" cy="2684780"/>
          </a:xfrm>
          <a:prstGeom prst="rect"/>
          <a:noFill/>
        </p:spPr>
      </p:pic>
      <p:sp>
        <p:nvSpPr>
          <p:cNvPr id="20" name="도형 16"/>
          <p:cNvSpPr>
            <a:spLocks/>
          </p:cNvSpPr>
          <p:nvPr/>
        </p:nvSpPr>
        <p:spPr>
          <a:xfrm rot="0">
            <a:off x="6402705" y="2091690"/>
            <a:ext cx="5044440" cy="425196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pic>
        <p:nvPicPr>
          <p:cNvPr id="21" name="그림 1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517640" y="3460750"/>
            <a:ext cx="4811395" cy="2697480"/>
          </a:xfrm>
          <a:prstGeom prst="rect"/>
          <a:noFill/>
        </p:spPr>
      </p:pic>
      <p:sp>
        <p:nvSpPr>
          <p:cNvPr id="22" name="텍스트 상자 18"/>
          <p:cNvSpPr txBox="1">
            <a:spLocks/>
          </p:cNvSpPr>
          <p:nvPr/>
        </p:nvSpPr>
        <p:spPr>
          <a:xfrm rot="0">
            <a:off x="1246505" y="2342515"/>
            <a:ext cx="3387090" cy="70739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4000" b="1"/>
              <a:t>YOLOv8</a:t>
            </a:r>
            <a:endParaRPr lang="ko-KR" altLang="en-US" sz="4000" b="1"/>
          </a:p>
        </p:txBody>
      </p:sp>
      <p:sp>
        <p:nvSpPr>
          <p:cNvPr id="23" name="텍스트 상자 19"/>
          <p:cNvSpPr txBox="1">
            <a:spLocks/>
          </p:cNvSpPr>
          <p:nvPr/>
        </p:nvSpPr>
        <p:spPr>
          <a:xfrm rot="0">
            <a:off x="6903085" y="2352675"/>
            <a:ext cx="4055109" cy="70739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4000" b="1"/>
              <a:t>Faster R-CNN</a:t>
            </a:r>
            <a:endParaRPr lang="ko-KR" altLang="en-US" sz="4000" b="1"/>
          </a:p>
        </p:txBody>
      </p:sp>
      <p:sp>
        <p:nvSpPr>
          <p:cNvPr id="24" name="텍스트 상자 20"/>
          <p:cNvSpPr txBox="1">
            <a:spLocks/>
          </p:cNvSpPr>
          <p:nvPr/>
        </p:nvSpPr>
        <p:spPr>
          <a:xfrm rot="0">
            <a:off x="1023620" y="1229360"/>
            <a:ext cx="3906520" cy="6457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3600" b="1">
                <a:latin typeface="나눔바른고딕" charset="0"/>
                <a:ea typeface="나눔바른고딕" charset="0"/>
              </a:rPr>
              <a:t>모델 선택 방향</a:t>
            </a:r>
            <a:endParaRPr lang="ko-KR" altLang="en-US" sz="3600" b="1">
              <a:latin typeface="나눔바른고딕" charset="0"/>
              <a:ea typeface="나눔바른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 0"/>
          <p:cNvSpPr>
            <a:spLocks/>
          </p:cNvSpPr>
          <p:nvPr/>
        </p:nvSpPr>
        <p:spPr>
          <a:xfrm rot="0">
            <a:off x="589915" y="2101215"/>
            <a:ext cx="5021580" cy="425196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834390" y="565785"/>
            <a:ext cx="991870" cy="22167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3800">
                <a:solidFill>
                  <a:schemeClr val="accent1"/>
                </a:solidFill>
              </a:rPr>
              <a:t>”</a:t>
            </a:r>
            <a:endParaRPr lang="ko-KR" altLang="en-US" sz="13800">
              <a:solidFill>
                <a:schemeClr val="accent1"/>
              </a:solidFill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583565" y="345440"/>
            <a:ext cx="885825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>
              <a:solidFill>
                <a:schemeClr val="accent4"/>
              </a:solidFill>
            </a:endParaRPr>
          </a:p>
        </p:txBody>
      </p:sp>
      <p:cxnSp>
        <p:nvCxnSpPr>
          <p:cNvPr id="3" name="Rect 0"/>
          <p:cNvCxnSpPr>
            <a:cxnSpLocks/>
          </p:cNvCxnSpPr>
          <p:nvPr/>
        </p:nvCxnSpPr>
        <p:spPr>
          <a:xfrm rot="0">
            <a:off x="152400" y="190500"/>
            <a:ext cx="12040235" cy="635"/>
          </a:xfrm>
          <a:prstGeom prst="line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0"/>
          <p:cNvSpPr txBox="1">
            <a:spLocks/>
          </p:cNvSpPr>
          <p:nvPr/>
        </p:nvSpPr>
        <p:spPr>
          <a:xfrm rot="0">
            <a:off x="1676400" y="330200"/>
            <a:ext cx="2155825" cy="58420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3200">
                <a:latin typeface="Noto Sans KR Black" charset="0"/>
                <a:ea typeface="Noto Sans KR Black" charset="0"/>
              </a:rPr>
              <a:t>모델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 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연구</a:t>
            </a:r>
            <a:endParaRPr lang="ko-KR" altLang="en-US" sz="3200">
              <a:latin typeface="Noto Sans KR Black" charset="0"/>
              <a:ea typeface="Noto Sans KR Black" charset="0"/>
            </a:endParaRPr>
          </a:p>
        </p:txBody>
      </p:sp>
      <p:cxnSp>
        <p:nvCxnSpPr>
          <p:cNvPr id="6" name="Rect 0"/>
          <p:cNvCxnSpPr>
            <a:cxnSpLocks/>
          </p:cNvCxnSpPr>
          <p:nvPr/>
        </p:nvCxnSpPr>
        <p:spPr>
          <a:xfrm rot="0">
            <a:off x="3022600" y="190500"/>
            <a:ext cx="1435735" cy="635"/>
          </a:xfrm>
          <a:prstGeom prst="line"/>
          <a:ln w="76200" cap="flat" cmpd="sng">
            <a:solidFill>
              <a:schemeClr val="accent4"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 0"/>
          <p:cNvSpPr>
            <a:spLocks/>
          </p:cNvSpPr>
          <p:nvPr/>
        </p:nvSpPr>
        <p:spPr>
          <a:xfrm rot="0">
            <a:off x="6247765" y="694055"/>
            <a:ext cx="5158740" cy="565912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4" name="Rect 0"/>
          <p:cNvSpPr txBox="1">
            <a:spLocks/>
          </p:cNvSpPr>
          <p:nvPr/>
        </p:nvSpPr>
        <p:spPr>
          <a:xfrm rot="0">
            <a:off x="1025524" y="1239520"/>
            <a:ext cx="3056890" cy="6457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3600" b="0"/>
              <a:t>YOLOv8</a:t>
            </a:r>
            <a:endParaRPr lang="ko-KR" altLang="en-US" sz="3600" b="0"/>
          </a:p>
        </p:txBody>
      </p:sp>
      <p:pic>
        <p:nvPicPr>
          <p:cNvPr id="26" name="그림 2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08660" y="2260600"/>
            <a:ext cx="4786630" cy="3825875"/>
          </a:xfrm>
          <a:prstGeom prst="rect"/>
          <a:noFill/>
        </p:spPr>
      </p:pic>
      <p:sp>
        <p:nvSpPr>
          <p:cNvPr id="28" name="도형 29"/>
          <p:cNvSpPr>
            <a:spLocks/>
          </p:cNvSpPr>
          <p:nvPr/>
        </p:nvSpPr>
        <p:spPr>
          <a:xfrm rot="0">
            <a:off x="6352540" y="816610"/>
            <a:ext cx="4939030" cy="5400675"/>
          </a:xfrm>
          <a:prstGeom prst="rect"/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7" name="텍스트 상자 28"/>
          <p:cNvSpPr txBox="1">
            <a:spLocks/>
          </p:cNvSpPr>
          <p:nvPr/>
        </p:nvSpPr>
        <p:spPr>
          <a:xfrm rot="0">
            <a:off x="6530975" y="811530"/>
            <a:ext cx="4646930" cy="549402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lnSpc>
                <a:spcPct val="150000"/>
              </a:lnSpc>
              <a:buFontTx/>
              <a:buNone/>
            </a:pPr>
            <a:r>
              <a:rPr sz="2000" b="1">
                <a:solidFill>
                  <a:srgbClr val="FFFFFF"/>
                </a:solidFill>
              </a:rPr>
              <a:t>장점</a:t>
            </a:r>
            <a:endParaRPr lang="ko-KR" altLang="en-US" sz="20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추론 속도 우수 (Real-time 가능) : </a:t>
            </a:r>
            <a:r>
              <a:rPr sz="1400" b="1">
                <a:solidFill>
                  <a:srgbClr val="FFFFFF"/>
                </a:solidFill>
              </a:rPr>
              <a:t>단일 단계 구조</a:t>
            </a:r>
            <a:r>
              <a:rPr sz="1400">
                <a:solidFill>
                  <a:srgbClr val="FFFFFF"/>
                </a:solidFill>
              </a:rPr>
              <a:t>로 지연 시간이 짧고 처리량이 높음.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배포 및 운영 용이 : 모델 구조와 추론 파이프라인이 비교적 </a:t>
            </a:r>
            <a:r>
              <a:rPr sz="1400" b="1">
                <a:solidFill>
                  <a:srgbClr val="FFFFFF"/>
                </a:solidFill>
              </a:rPr>
              <a:t>단순</a:t>
            </a:r>
            <a:r>
              <a:rPr sz="1400">
                <a:solidFill>
                  <a:srgbClr val="FFFFFF"/>
                </a:solidFill>
              </a:rPr>
              <a:t> ⇒ </a:t>
            </a:r>
            <a:r>
              <a:rPr sz="1400" b="1">
                <a:solidFill>
                  <a:srgbClr val="FFFFFF"/>
                </a:solidFill>
              </a:rPr>
              <a:t>서비스 적용(웹/모바일)에 유리</a:t>
            </a:r>
            <a:r>
              <a:rPr sz="1400">
                <a:solidFill>
                  <a:srgbClr val="FFFFFF"/>
                </a:solidFill>
              </a:rPr>
              <a:t>함.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튜닝 포인트가 명확하여 개선 사이클이 빠름 : 개선 방향을 실험적으로 빠르게 반복하기 용이함.</a:t>
            </a:r>
            <a:endParaRPr lang="ko-KR" altLang="en-US" sz="1400">
              <a:solidFill>
                <a:srgbClr val="FFFFFF"/>
              </a:solidFill>
            </a:endParaRPr>
          </a:p>
          <a:p>
            <a:pPr marL="0" indent="0">
              <a:lnSpc>
                <a:spcPct val="150000"/>
              </a:lnSpc>
              <a:buFontTx/>
              <a:buNone/>
            </a:pPr>
            <a:endParaRPr lang="ko-KR" altLang="en-US" sz="1400">
              <a:solidFill>
                <a:srgbClr val="FFFFFF"/>
              </a:solidFill>
            </a:endParaRPr>
          </a:p>
          <a:p>
            <a:pPr marL="0" indent="0">
              <a:lnSpc>
                <a:spcPct val="150000"/>
              </a:lnSpc>
              <a:buFontTx/>
              <a:buNone/>
            </a:pPr>
            <a:r>
              <a:rPr sz="2000" b="1">
                <a:solidFill>
                  <a:srgbClr val="FFFFFF"/>
                </a:solidFill>
              </a:rPr>
              <a:t>단점</a:t>
            </a:r>
            <a:endParaRPr lang="ko-KR" altLang="en-US" sz="20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정밀한 박스 품질에서의 한계 : 전반적으로 빠르지만, 객체 경계를 타이트하게 맞춰야 하는 상황에는 2-Stage 계열보다 박스 정밀도가 불리할 수 있음.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객체 밀집 장면에서의 성능 저하 기능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쵤영 환경 변화(조명/배경)에 민감 ⇒ </a:t>
            </a:r>
            <a:r>
              <a:rPr sz="1400" b="1">
                <a:solidFill>
                  <a:srgbClr val="FFFFFF"/>
                </a:solidFill>
              </a:rPr>
              <a:t>도메인 다양화와 증강 전략 필요.</a:t>
            </a:r>
            <a:endParaRPr lang="ko-KR" altLang="en-US" sz="14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ko-KR" altLang="en-US" sz="1200" b="1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 0"/>
          <p:cNvSpPr>
            <a:spLocks/>
          </p:cNvSpPr>
          <p:nvPr/>
        </p:nvSpPr>
        <p:spPr>
          <a:xfrm rot="0">
            <a:off x="589915" y="2101215"/>
            <a:ext cx="5021580" cy="425196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834390" y="565785"/>
            <a:ext cx="991870" cy="22167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3800">
                <a:solidFill>
                  <a:schemeClr val="accent1"/>
                </a:solidFill>
              </a:rPr>
              <a:t>”</a:t>
            </a:r>
            <a:endParaRPr lang="ko-KR" altLang="en-US" sz="13800">
              <a:solidFill>
                <a:schemeClr val="accent1"/>
              </a:solidFill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583565" y="345440"/>
            <a:ext cx="885825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>
              <a:solidFill>
                <a:schemeClr val="accent4"/>
              </a:solidFill>
            </a:endParaRPr>
          </a:p>
        </p:txBody>
      </p:sp>
      <p:cxnSp>
        <p:nvCxnSpPr>
          <p:cNvPr id="3" name="Rect 0"/>
          <p:cNvCxnSpPr>
            <a:cxnSpLocks/>
          </p:cNvCxnSpPr>
          <p:nvPr/>
        </p:nvCxnSpPr>
        <p:spPr>
          <a:xfrm rot="0">
            <a:off x="152400" y="190500"/>
            <a:ext cx="12040235" cy="635"/>
          </a:xfrm>
          <a:prstGeom prst="line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0"/>
          <p:cNvSpPr txBox="1">
            <a:spLocks/>
          </p:cNvSpPr>
          <p:nvPr/>
        </p:nvSpPr>
        <p:spPr>
          <a:xfrm rot="0">
            <a:off x="1676400" y="330200"/>
            <a:ext cx="2155825" cy="58420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3200">
                <a:latin typeface="Noto Sans KR Black" charset="0"/>
                <a:ea typeface="Noto Sans KR Black" charset="0"/>
              </a:rPr>
              <a:t>모델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 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연구</a:t>
            </a:r>
            <a:endParaRPr lang="ko-KR" altLang="en-US" sz="3200">
              <a:latin typeface="Noto Sans KR Black" charset="0"/>
              <a:ea typeface="Noto Sans KR Black" charset="0"/>
            </a:endParaRPr>
          </a:p>
        </p:txBody>
      </p:sp>
      <p:cxnSp>
        <p:nvCxnSpPr>
          <p:cNvPr id="6" name="Rect 0"/>
          <p:cNvCxnSpPr>
            <a:cxnSpLocks/>
          </p:cNvCxnSpPr>
          <p:nvPr/>
        </p:nvCxnSpPr>
        <p:spPr>
          <a:xfrm rot="0">
            <a:off x="3022600" y="190500"/>
            <a:ext cx="1435735" cy="635"/>
          </a:xfrm>
          <a:prstGeom prst="line"/>
          <a:ln w="76200" cap="flat" cmpd="sng">
            <a:solidFill>
              <a:schemeClr val="accent4"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 0"/>
          <p:cNvSpPr>
            <a:spLocks/>
          </p:cNvSpPr>
          <p:nvPr/>
        </p:nvSpPr>
        <p:spPr>
          <a:xfrm rot="0">
            <a:off x="6247765" y="694055"/>
            <a:ext cx="5158740" cy="565912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4" name="Rect 0"/>
          <p:cNvSpPr txBox="1">
            <a:spLocks/>
          </p:cNvSpPr>
          <p:nvPr/>
        </p:nvSpPr>
        <p:spPr>
          <a:xfrm rot="0">
            <a:off x="857885" y="1217930"/>
            <a:ext cx="4480560" cy="6457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3600" b="0"/>
              <a:t>Faster R-CNN</a:t>
            </a:r>
            <a:endParaRPr lang="ko-KR" altLang="en-US" sz="3600" b="0"/>
          </a:p>
        </p:txBody>
      </p:sp>
      <p:sp>
        <p:nvSpPr>
          <p:cNvPr id="28" name="Rect 0"/>
          <p:cNvSpPr>
            <a:spLocks/>
          </p:cNvSpPr>
          <p:nvPr/>
        </p:nvSpPr>
        <p:spPr>
          <a:xfrm rot="0">
            <a:off x="6352540" y="816610"/>
            <a:ext cx="4939030" cy="5400675"/>
          </a:xfrm>
          <a:prstGeom prst="rect"/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7" name="Rect 0"/>
          <p:cNvSpPr txBox="1">
            <a:spLocks/>
          </p:cNvSpPr>
          <p:nvPr/>
        </p:nvSpPr>
        <p:spPr>
          <a:xfrm rot="0">
            <a:off x="6530975" y="811530"/>
            <a:ext cx="4646930" cy="540131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lnSpc>
                <a:spcPct val="150000"/>
              </a:lnSpc>
              <a:buFontTx/>
              <a:buNone/>
            </a:pPr>
            <a:r>
              <a:rPr sz="2000" b="1">
                <a:solidFill>
                  <a:srgbClr val="FFFFFF"/>
                </a:solidFill>
              </a:rPr>
              <a:t>장점</a:t>
            </a:r>
            <a:endParaRPr lang="ko-KR" altLang="en-US" sz="20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높은 검출 정확도 : </a:t>
            </a:r>
            <a:r>
              <a:rPr sz="1400" b="1">
                <a:solidFill>
                  <a:srgbClr val="FFFFFF"/>
                </a:solidFill>
              </a:rPr>
              <a:t>2-Stage 구조</a:t>
            </a:r>
            <a:r>
              <a:rPr sz="1400">
                <a:solidFill>
                  <a:srgbClr val="FFFFFF"/>
                </a:solidFill>
              </a:rPr>
              <a:t>⇒</a:t>
            </a:r>
            <a:r>
              <a:rPr sz="1400">
                <a:solidFill>
                  <a:srgbClr val="FFFFFF"/>
                </a:solidFill>
              </a:rPr>
              <a:t> 전반적으로 </a:t>
            </a:r>
            <a:r>
              <a:rPr sz="1400" b="1">
                <a:solidFill>
                  <a:srgbClr val="FFFFFF"/>
                </a:solidFill>
              </a:rPr>
              <a:t>안정적인 정확도 확보 가능.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작은 물체 검출에 유리한 설계 가능</a:t>
            </a:r>
            <a:r>
              <a:rPr sz="1400">
                <a:solidFill>
                  <a:srgbClr val="FFFFFF"/>
                </a:solidFill>
              </a:rPr>
              <a:t>, 복잡한 배경/조명 변화에서 상대적으로 견고.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확장성 </a:t>
            </a:r>
            <a:r>
              <a:rPr sz="1400">
                <a:solidFill>
                  <a:srgbClr val="FFFFFF"/>
                </a:solidFill>
              </a:rPr>
              <a:t>: 동일한 프레임워크에서 Mask R-CNN(세그멘테이션), Cascade(정밀도 강화) 등으로 확장 가능하여, 요구 성능에 맞춰 </a:t>
            </a:r>
            <a:r>
              <a:rPr sz="1400" b="1">
                <a:solidFill>
                  <a:srgbClr val="FFFFFF"/>
                </a:solidFill>
              </a:rPr>
              <a:t>고도화</a:t>
            </a:r>
            <a:r>
              <a:rPr sz="1400">
                <a:solidFill>
                  <a:srgbClr val="FFFFFF"/>
                </a:solidFill>
              </a:rPr>
              <a:t>하기 좋음.</a:t>
            </a:r>
            <a:endParaRPr lang="ko-KR" altLang="en-US" sz="1400">
              <a:solidFill>
                <a:srgbClr val="FFFFFF"/>
              </a:solidFill>
            </a:endParaRPr>
          </a:p>
          <a:p>
            <a:pPr marL="0" indent="0">
              <a:lnSpc>
                <a:spcPct val="150000"/>
              </a:lnSpc>
              <a:buFontTx/>
              <a:buNone/>
            </a:pPr>
            <a:endParaRPr lang="ko-KR" altLang="en-US" sz="1000">
              <a:solidFill>
                <a:srgbClr val="FFFFFF"/>
              </a:solidFill>
            </a:endParaRPr>
          </a:p>
          <a:p>
            <a:pPr marL="0" indent="0">
              <a:lnSpc>
                <a:spcPct val="150000"/>
              </a:lnSpc>
              <a:buFontTx/>
              <a:buNone/>
            </a:pPr>
            <a:r>
              <a:rPr sz="2000" b="1">
                <a:solidFill>
                  <a:srgbClr val="FFFFFF"/>
                </a:solidFill>
              </a:rPr>
              <a:t>단점</a:t>
            </a:r>
            <a:endParaRPr lang="ko-KR" altLang="en-US" sz="20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추론 속도 및 연산 비용 부담 : YOLO 대비 추론 지연과 운영 비용이 큼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파이프라인 복잡도 및 튜닝 난이도</a:t>
            </a:r>
            <a:endParaRPr lang="ko-KR" altLang="en-US" sz="14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sz="1400">
                <a:solidFill>
                  <a:srgbClr val="FFFFFF"/>
                </a:solidFill>
              </a:rPr>
              <a:t>실시간 서비스 제약 : 실시간 처리 요구가 높은 서비스(모바일/웹 실시간)에서는 </a:t>
            </a:r>
            <a:r>
              <a:rPr sz="1400" b="1">
                <a:solidFill>
                  <a:srgbClr val="FFFFFF"/>
                </a:solidFill>
              </a:rPr>
              <a:t>단독 메인 검출기</a:t>
            </a:r>
            <a:r>
              <a:rPr sz="1400">
                <a:solidFill>
                  <a:srgbClr val="FFFFFF"/>
                </a:solidFill>
              </a:rPr>
              <a:t>로 쓰기 어려움.</a:t>
            </a:r>
            <a:endParaRPr lang="ko-KR" altLang="en-US" sz="14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ko-KR" altLang="en-US" sz="1200" b="1">
              <a:solidFill>
                <a:srgbClr val="FFFFFF"/>
              </a:solidFill>
            </a:endParaRPr>
          </a:p>
        </p:txBody>
      </p:sp>
      <p:pic>
        <p:nvPicPr>
          <p:cNvPr id="29" name="그림 3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53745" y="2259965"/>
            <a:ext cx="4688840" cy="393636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 0"/>
          <p:cNvSpPr>
            <a:spLocks/>
          </p:cNvSpPr>
          <p:nvPr/>
        </p:nvSpPr>
        <p:spPr>
          <a:xfrm rot="0">
            <a:off x="589915" y="2101215"/>
            <a:ext cx="5021580" cy="425196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834390" y="565785"/>
            <a:ext cx="991870" cy="221678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3800">
                <a:solidFill>
                  <a:schemeClr val="accent1"/>
                </a:solidFill>
              </a:rPr>
              <a:t>”</a:t>
            </a:r>
            <a:endParaRPr lang="ko-KR" altLang="en-US" sz="13800">
              <a:solidFill>
                <a:schemeClr val="accent1"/>
              </a:solidFill>
            </a:endParaRPr>
          </a:p>
        </p:txBody>
      </p:sp>
      <p:sp>
        <p:nvSpPr>
          <p:cNvPr id="2" name="Rect 0"/>
          <p:cNvSpPr txBox="1">
            <a:spLocks/>
          </p:cNvSpPr>
          <p:nvPr/>
        </p:nvSpPr>
        <p:spPr>
          <a:xfrm rot="0">
            <a:off x="583565" y="345440"/>
            <a:ext cx="885825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>
              <a:solidFill>
                <a:schemeClr val="accent4"/>
              </a:solidFill>
            </a:endParaRPr>
          </a:p>
        </p:txBody>
      </p:sp>
      <p:cxnSp>
        <p:nvCxnSpPr>
          <p:cNvPr id="3" name="Rect 0"/>
          <p:cNvCxnSpPr>
            <a:cxnSpLocks/>
          </p:cNvCxnSpPr>
          <p:nvPr/>
        </p:nvCxnSpPr>
        <p:spPr>
          <a:xfrm rot="0">
            <a:off x="152400" y="190500"/>
            <a:ext cx="12040235" cy="635"/>
          </a:xfrm>
          <a:prstGeom prst="line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0"/>
          <p:cNvSpPr txBox="1">
            <a:spLocks/>
          </p:cNvSpPr>
          <p:nvPr/>
        </p:nvSpPr>
        <p:spPr>
          <a:xfrm rot="0">
            <a:off x="1676400" y="330200"/>
            <a:ext cx="2155825" cy="58420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3200">
                <a:latin typeface="Noto Sans KR Black" charset="0"/>
                <a:ea typeface="Noto Sans KR Black" charset="0"/>
              </a:rPr>
              <a:t>모델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 </a:t>
            </a:r>
            <a:r>
              <a:rPr lang="ko-KR" altLang="en-US" sz="3200">
                <a:latin typeface="Noto Sans KR Black" charset="0"/>
                <a:ea typeface="Noto Sans KR Black" charset="0"/>
              </a:rPr>
              <a:t>연구</a:t>
            </a:r>
            <a:endParaRPr lang="ko-KR" altLang="en-US" sz="3200">
              <a:latin typeface="Noto Sans KR Black" charset="0"/>
              <a:ea typeface="Noto Sans KR Black" charset="0"/>
            </a:endParaRPr>
          </a:p>
        </p:txBody>
      </p:sp>
      <p:cxnSp>
        <p:nvCxnSpPr>
          <p:cNvPr id="6" name="Rect 0"/>
          <p:cNvCxnSpPr>
            <a:cxnSpLocks/>
          </p:cNvCxnSpPr>
          <p:nvPr/>
        </p:nvCxnSpPr>
        <p:spPr>
          <a:xfrm rot="0">
            <a:off x="3022600" y="190500"/>
            <a:ext cx="1435735" cy="635"/>
          </a:xfrm>
          <a:prstGeom prst="line"/>
          <a:ln w="76200" cap="flat" cmpd="sng">
            <a:solidFill>
              <a:schemeClr val="accent4">
                <a:alpha val="10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 0"/>
          <p:cNvSpPr>
            <a:spLocks/>
          </p:cNvSpPr>
          <p:nvPr/>
        </p:nvSpPr>
        <p:spPr>
          <a:xfrm rot="0">
            <a:off x="6247765" y="694055"/>
            <a:ext cx="5158740" cy="5659120"/>
          </a:xfrm>
          <a:prstGeom prst="rect"/>
          <a:solidFill>
            <a:schemeClr val="accent3">
              <a:alpha val="47885"/>
            </a:schemeClr>
          </a:solidFill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4" name="Rect 0"/>
          <p:cNvSpPr txBox="1">
            <a:spLocks/>
          </p:cNvSpPr>
          <p:nvPr/>
        </p:nvSpPr>
        <p:spPr>
          <a:xfrm rot="0">
            <a:off x="753110" y="1249680"/>
            <a:ext cx="4271010" cy="6457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3600" b="1"/>
              <a:t>모델 선택 전략</a:t>
            </a:r>
            <a:endParaRPr lang="ko-KR" altLang="en-US" sz="3600" b="1"/>
          </a:p>
        </p:txBody>
      </p:sp>
      <p:sp>
        <p:nvSpPr>
          <p:cNvPr id="29" name="도형 34"/>
          <p:cNvSpPr>
            <a:spLocks/>
          </p:cNvSpPr>
          <p:nvPr/>
        </p:nvSpPr>
        <p:spPr>
          <a:xfrm rot="0">
            <a:off x="6384290" y="805815"/>
            <a:ext cx="4888230" cy="5432425"/>
          </a:xfrm>
          <a:prstGeom prst="rect"/>
          <a:ln>
            <a:noFill/>
            <a:prstDash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27" name="Rect 0"/>
          <p:cNvSpPr txBox="1">
            <a:spLocks/>
          </p:cNvSpPr>
          <p:nvPr/>
        </p:nvSpPr>
        <p:spPr>
          <a:xfrm rot="0">
            <a:off x="6447155" y="905510"/>
            <a:ext cx="4667885" cy="5283200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228600" indent="-228600">
              <a:lnSpc>
                <a:spcPct val="150000"/>
              </a:lnSpc>
              <a:buFont typeface="나눔바른고딕"/>
              <a:buChar char="•"/>
            </a:pPr>
            <a:r>
              <a:rPr sz="1500">
                <a:solidFill>
                  <a:srgbClr val="FFFFFF"/>
                </a:solidFill>
              </a:rPr>
              <a:t>YOLO는 추론 속도와 경량성이 뛰어나 실시간 서비스 및 대량 이미지 처리에서 1차 알약 검출기로 적합하다.</a:t>
            </a:r>
            <a:endParaRPr lang="ko-KR" altLang="en-US" sz="15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나눔바른고딕"/>
              <a:buChar char="•"/>
            </a:pPr>
            <a:r>
              <a:rPr sz="1500">
                <a:solidFill>
                  <a:srgbClr val="FFFFFF"/>
                </a:solidFill>
              </a:rPr>
              <a:t>반면 Faster R-CNN은 2-Stage 구조로 후보 영역을 정밀하게 판별하여, 작은 알약이나 복잡한 배경에서 정확도 향상을 기대할 수 있다.</a:t>
            </a:r>
            <a:endParaRPr lang="ko-KR" altLang="en-US" sz="15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나눔바른고딕"/>
              <a:buChar char="•"/>
            </a:pPr>
            <a:r>
              <a:rPr sz="1500">
                <a:solidFill>
                  <a:srgbClr val="FFFFFF"/>
                </a:solidFill>
              </a:rPr>
              <a:t>따라서 운영 관점에서는 </a:t>
            </a:r>
            <a:r>
              <a:rPr sz="1500" b="1">
                <a:solidFill>
                  <a:srgbClr val="FFFFFF"/>
                </a:solidFill>
              </a:rPr>
              <a:t>YOLO를 기본 검출기로 사용</a:t>
            </a:r>
            <a:r>
              <a:rPr sz="1500">
                <a:solidFill>
                  <a:srgbClr val="FFFFFF"/>
                </a:solidFill>
              </a:rPr>
              <a:t>하고, </a:t>
            </a:r>
            <a:r>
              <a:rPr sz="1500" b="1">
                <a:solidFill>
                  <a:srgbClr val="FFFFFF"/>
                </a:solidFill>
              </a:rPr>
              <a:t>신뢰도가 낮거나 겹침·난이도가 높은 사례에 한해 Faster R-CNN으로 2차 검증</a:t>
            </a:r>
            <a:r>
              <a:rPr sz="1500">
                <a:solidFill>
                  <a:srgbClr val="FFFFFF"/>
                </a:solidFill>
              </a:rPr>
              <a:t> 하는 구성이 효율적이라고 판단된다. ⇒ 이 방식은 전체 처리 속도를 유지하면서도, 어려운 샘플에서의 오탐·미탐을 줄여 최종 성능을 끌어올릴 수 있다.</a:t>
            </a:r>
            <a:endParaRPr lang="ko-KR" altLang="en-US" sz="1500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나눔바른고딕"/>
              <a:buChar char="•"/>
            </a:pPr>
            <a:r>
              <a:rPr sz="1500">
                <a:solidFill>
                  <a:srgbClr val="FFFFFF"/>
                </a:solidFill>
              </a:rPr>
              <a:t>본 프로젝트에서는 제공된 데이터에 따라 </a:t>
            </a:r>
            <a:r>
              <a:rPr sz="1500" b="1">
                <a:solidFill>
                  <a:srgbClr val="FFFFFF"/>
                </a:solidFill>
              </a:rPr>
              <a:t>속도 기반 YOLO와 정확도 보강용 Faster R-CNN 두가지 모델을 비교하여 최적의 결과를 도출할 수 있는 모델을 선택하였다.</a:t>
            </a:r>
            <a:endParaRPr lang="ko-KR" altLang="en-US" sz="1500" b="1">
              <a:solidFill>
                <a:srgbClr val="FFFFFF"/>
              </a:solidFill>
            </a:endParaRPr>
          </a:p>
          <a:p>
            <a:pPr marL="228600" indent="-228600">
              <a:lnSpc>
                <a:spcPct val="150000"/>
              </a:lnSpc>
              <a:buFont typeface="나눔바른고딕"/>
              <a:buChar char="•"/>
            </a:pPr>
            <a:endParaRPr lang="ko-KR" altLang="en-US" sz="1500" b="0">
              <a:solidFill>
                <a:srgbClr val="FFFFFF"/>
              </a:solidFill>
            </a:endParaRPr>
          </a:p>
        </p:txBody>
      </p:sp>
      <p:pic>
        <p:nvPicPr>
          <p:cNvPr id="30" name="그림 35" descr="/temp/fImage464981867754.png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0">
            <a:off x="693420" y="2533015"/>
            <a:ext cx="4813300" cy="309816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WebOffice</Application>
  <AppVersion>12.000</AppVersion>
  <Characters>0</Characters>
  <CharactersWithSpaces>0</CharactersWithSpaces>
  <DocSecurity>0</DocSecurity>
  <HyperlinksChanged>false</HyperlinksChanged>
  <Lines>0</Lines>
  <LinksUpToDate>false</LinksUpToDate>
  <Pages>4</Pages>
  <Paragraphs>8</Paragraphs>
  <Words>15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Yu Saebyeol</dc:creator>
  <cp:lastModifiedBy>우정 장</cp:lastModifiedBy>
  <dc:title>PowerPoint 프레젠테이션</dc:title>
  <dcterms:modified xsi:type="dcterms:W3CDTF">2025-12-18T08:47:13Z</dcterms:modified>
</cp:coreProperties>
</file>