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2" r:id="rId2"/>
    <p:sldId id="293" r:id="rId3"/>
    <p:sldId id="294" r:id="rId4"/>
  </p:sldIdLst>
  <p:sldSz cx="12192000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9" d="100"/>
          <a:sy n="119" d="100"/>
        </p:scale>
        <p:origin x="26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AECAEBA-911B-AB80-AB34-CE8C184D87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8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678" y="914976"/>
            <a:ext cx="4851322" cy="54577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1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61141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트러블 슈팅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(Issue &amp; Solution)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갈매기형 수장 4">
            <a:extLst>
              <a:ext uri="{FF2B5EF4-FFF2-40B4-BE49-F238E27FC236}">
                <a16:creationId xmlns:a16="http://schemas.microsoft.com/office/drawing/2014/main" id="{48374411-798D-747E-FDB7-B5F6EBFFA061}"/>
              </a:ext>
            </a:extLst>
          </p:cNvPr>
          <p:cNvSpPr/>
          <p:nvPr/>
        </p:nvSpPr>
        <p:spPr>
          <a:xfrm>
            <a:off x="4041023" y="2264971"/>
            <a:ext cx="4399033" cy="2217667"/>
          </a:xfrm>
          <a:prstGeom prst="chevron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조사 및 해결 과정</a:t>
            </a:r>
            <a:r>
              <a:rPr lang="en-US" altLang="ko-KR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marL="285750" indent="-285750" algn="ctr">
              <a:buFontTx/>
              <a:buChar char="-"/>
            </a:pP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원본 데이터에서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데이터 선별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AI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허브를 통한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재작업 진행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-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외 </a:t>
            </a:r>
            <a:r>
              <a:rPr lang="en-US" altLang="ko-KR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bbox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겹침 등 추가 이슈 발견 →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전수 수정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오각형 3">
            <a:extLst>
              <a:ext uri="{FF2B5EF4-FFF2-40B4-BE49-F238E27FC236}">
                <a16:creationId xmlns:a16="http://schemas.microsoft.com/office/drawing/2014/main" id="{FF26997A-3503-CBD6-1407-CE400CF309C2}"/>
              </a:ext>
            </a:extLst>
          </p:cNvPr>
          <p:cNvSpPr/>
          <p:nvPr/>
        </p:nvSpPr>
        <p:spPr>
          <a:xfrm>
            <a:off x="514350" y="2264971"/>
            <a:ext cx="3933825" cy="2217667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문제 정의 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이미지 데이터와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정보 간 미 매칭</a:t>
            </a:r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원인 추론</a:t>
            </a:r>
            <a:endParaRPr lang="en-US" altLang="ko-KR" sz="16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케글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제공 데이터 자체가 미 매칭</a:t>
            </a:r>
          </a:p>
        </p:txBody>
      </p:sp>
      <p:sp>
        <p:nvSpPr>
          <p:cNvPr id="18" name="갈매기형 수장 4">
            <a:extLst>
              <a:ext uri="{FF2B5EF4-FFF2-40B4-BE49-F238E27FC236}">
                <a16:creationId xmlns:a16="http://schemas.microsoft.com/office/drawing/2014/main" id="{4E670CF7-1556-9B74-F2BD-FAA75B194C05}"/>
              </a:ext>
            </a:extLst>
          </p:cNvPr>
          <p:cNvSpPr/>
          <p:nvPr/>
        </p:nvSpPr>
        <p:spPr>
          <a:xfrm>
            <a:off x="8032905" y="2264971"/>
            <a:ext cx="3933825" cy="2217667"/>
          </a:xfrm>
          <a:prstGeom prst="chevron">
            <a:avLst/>
          </a:prstGeom>
          <a:solidFill>
            <a:srgbClr val="5F5F5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결과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품질 및 신뢰도 확보 완료</a:t>
            </a:r>
          </a:p>
        </p:txBody>
      </p:sp>
    </p:spTree>
    <p:extLst>
      <p:ext uri="{BB962C8B-B14F-4D97-AF65-F5344CB8AC3E}">
        <p14:creationId xmlns:p14="http://schemas.microsoft.com/office/powerpoint/2010/main" val="3684467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22653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통계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7D931AB-0D26-4518-AB14-A397DE85C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41" y="914974"/>
            <a:ext cx="10909190" cy="56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4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5780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Image-Annotation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매핑  분석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8D45E020-ACB4-4103-9D00-6EB0D43A19A2}"/>
              </a:ext>
            </a:extLst>
          </p:cNvPr>
          <p:cNvSpPr txBox="1"/>
          <p:nvPr/>
        </p:nvSpPr>
        <p:spPr>
          <a:xfrm>
            <a:off x="733830" y="1116320"/>
            <a:ext cx="2685300" cy="4578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이미지당 JSON 개수 통계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최소:</a:t>
            </a:r>
            <a:r>
              <a:rPr lang="ko" sz="1000" dirty="0">
                <a:solidFill>
                  <a:schemeClr val="dk1"/>
                </a:solidFill>
              </a:rPr>
              <a:t> 0개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최대:</a:t>
            </a:r>
            <a:r>
              <a:rPr lang="ko" sz="1000" dirty="0">
                <a:solidFill>
                  <a:schemeClr val="dk1"/>
                </a:solidFill>
              </a:rPr>
              <a:t> 4개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평균:</a:t>
            </a:r>
            <a:r>
              <a:rPr lang="ko" sz="1000" dirty="0">
                <a:solidFill>
                  <a:schemeClr val="dk1"/>
                </a:solidFill>
              </a:rPr>
              <a:t> 1.17개</a:t>
            </a: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 분포</a:t>
            </a:r>
            <a:endParaRPr lang="ko-KR" altLang="en-US"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419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(64.4%)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2개:</a:t>
            </a:r>
            <a:r>
              <a:rPr lang="ko" sz="1000" dirty="0">
                <a:solidFill>
                  <a:schemeClr val="dk1"/>
                </a:solidFill>
              </a:rPr>
              <a:t> 7개 (1.1%)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3개:</a:t>
            </a:r>
            <a:r>
              <a:rPr lang="ko" sz="1000" dirty="0">
                <a:solidFill>
                  <a:schemeClr val="dk1"/>
                </a:solidFill>
              </a:rPr>
              <a:t> 151개 (23.2%)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4개:</a:t>
            </a:r>
            <a:r>
              <a:rPr lang="ko" sz="1000" dirty="0">
                <a:solidFill>
                  <a:schemeClr val="dk1"/>
                </a:solidFill>
              </a:rPr>
              <a:t> 74개 (11.4%)</a:t>
            </a:r>
            <a:endParaRPr lang="en-US" altLang="ko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</a:t>
            </a:r>
            <a:r>
              <a:rPr lang="en-US" altLang="ko-KR" sz="1200" b="1" dirty="0">
                <a:solidFill>
                  <a:schemeClr val="dk1"/>
                </a:solidFill>
              </a:rPr>
              <a:t>JSON</a:t>
            </a:r>
            <a:r>
              <a:rPr lang="ko-KR" altLang="en-US" sz="1200" b="1" dirty="0">
                <a:solidFill>
                  <a:schemeClr val="dk1"/>
                </a:solidFill>
              </a:rPr>
              <a:t>당 이미지 개수 통계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최소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최대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1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평균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0.76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분포 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238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(23.8%)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1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763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(76.2%)</a:t>
            </a:r>
            <a:endParaRPr sz="10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8" name="Google Shape;66;p15">
            <a:extLst>
              <a:ext uri="{FF2B5EF4-FFF2-40B4-BE49-F238E27FC236}">
                <a16:creationId xmlns:a16="http://schemas.microsoft.com/office/drawing/2014/main" id="{069C6AB7-C181-471B-990E-53BA60EB3D9A}"/>
              </a:ext>
            </a:extLst>
          </p:cNvPr>
          <p:cNvSpPr txBox="1"/>
          <p:nvPr/>
        </p:nvSpPr>
        <p:spPr>
          <a:xfrm>
            <a:off x="3304677" y="1251237"/>
            <a:ext cx="8357934" cy="5416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300" b="1" dirty="0">
                <a:solidFill>
                  <a:schemeClr val="dk1"/>
                </a:solidFill>
              </a:rPr>
              <a:t>▣ </a:t>
            </a:r>
            <a:r>
              <a:rPr lang="ko" sz="1200" b="1" dirty="0">
                <a:solidFill>
                  <a:schemeClr val="dk2"/>
                </a:solidFill>
              </a:rPr>
              <a:t>각 상태별 이미지/어노테이션 숫자</a:t>
            </a:r>
            <a:endParaRPr sz="12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dirty="0">
                <a:solidFill>
                  <a:schemeClr val="dk2"/>
                </a:solidFill>
              </a:rPr>
              <a:t>image : 232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763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이미지(X)/어노테이션(O)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137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36</a:t>
            </a:r>
            <a:r>
              <a:rPr lang="en-US" altLang="ko" sz="1100" dirty="0">
                <a:solidFill>
                  <a:schemeClr val="dk2"/>
                </a:solidFill>
              </a:rPr>
              <a:t>5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en-US" altLang="ko" sz="1100" dirty="0">
                <a:solidFill>
                  <a:schemeClr val="dk2"/>
                </a:solidFill>
                <a:sym typeface="Wingdings" panose="05000000000000000000" pitchFamily="2" charset="2"/>
              </a:rPr>
              <a:t>AI HUB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데이터로 부터 같은 이름의 이미지를 복사 후 매칭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또한 이 이미지에 해당하는 추가 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annotation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을 복사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이미지(O)/어노테이션(X)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419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1676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à"/>
            </a:pPr>
            <a:r>
              <a:rPr 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MD5 checksum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으로 이미지를 확인 후 이에 해당하는 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annotation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 복사 후 매칭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1"/>
                </a:solidFill>
              </a:rPr>
              <a:t>▣ </a:t>
            </a:r>
            <a:r>
              <a:rPr lang="ko" sz="1100" b="1" dirty="0">
                <a:solidFill>
                  <a:schemeClr val="dk2"/>
                </a:solidFill>
              </a:rPr>
              <a:t>예외 분석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category_id가 1인 (dl_idx 와 category_id가 다른 경우)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1950</a:t>
            </a:r>
            <a:r>
              <a:rPr lang="ko" sz="1100" dirty="0">
                <a:solidFill>
                  <a:schemeClr val="dk2"/>
                </a:solidFill>
              </a:rPr>
              <a:t> 개</a:t>
            </a:r>
            <a:r>
              <a:rPr lang="en-US" altLang="ko" sz="1100" dirty="0">
                <a:solidFill>
                  <a:schemeClr val="dk2"/>
                </a:solidFill>
              </a:rPr>
              <a:t> </a:t>
            </a:r>
            <a:r>
              <a:rPr lang="en-US" altLang="ko" sz="1100" dirty="0">
                <a:solidFill>
                  <a:schemeClr val="dk2"/>
                </a:solidFill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모두 </a:t>
            </a:r>
            <a:r>
              <a:rPr lang="ko" altLang="ko-KR" sz="1100" b="1" dirty="0">
                <a:solidFill>
                  <a:schemeClr val="dk2"/>
                </a:solidFill>
              </a:rPr>
              <a:t>category_id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를 </a:t>
            </a:r>
            <a:r>
              <a:rPr lang="ko" altLang="ko-KR" sz="1100" b="1" dirty="0">
                <a:solidFill>
                  <a:schemeClr val="dk2"/>
                </a:solidFill>
              </a:rPr>
              <a:t>dl_idx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 </a:t>
            </a:r>
            <a:r>
              <a:rPr lang="ko-KR" altLang="en-US" sz="1100" dirty="0">
                <a:solidFill>
                  <a:schemeClr val="dk2"/>
                </a:solidFill>
                <a:sym typeface="Wingdings" panose="05000000000000000000" pitchFamily="2" charset="2"/>
              </a:rPr>
              <a:t>로 수정</a:t>
            </a:r>
            <a:r>
              <a:rPr lang="en-US" altLang="ko-KR" sz="1100" dirty="0">
                <a:solidFill>
                  <a:schemeClr val="dk2"/>
                </a:solidFill>
                <a:sym typeface="Wingdings" panose="05000000000000000000" pitchFamily="2" charset="2"/>
              </a:rPr>
              <a:t>.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같은 image에서 bbox의 좌표가 같은 경우.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137</a:t>
            </a:r>
            <a:r>
              <a:rPr lang="ko" sz="1100" dirty="0">
                <a:solidFill>
                  <a:schemeClr val="dk2"/>
                </a:solidFill>
              </a:rPr>
              <a:t>개</a:t>
            </a:r>
            <a:r>
              <a:rPr lang="en-US" altLang="ko" sz="1100" dirty="0">
                <a:solidFill>
                  <a:schemeClr val="dk2"/>
                </a:solidFill>
              </a:rPr>
              <a:t>.</a:t>
            </a:r>
            <a:r>
              <a:rPr lang="ko" altLang="ko-KR" sz="1100" b="1" dirty="0">
                <a:solidFill>
                  <a:schemeClr val="dk2"/>
                </a:solidFill>
              </a:rPr>
              <a:t> 이미지(X)/어노테이션(O)</a:t>
            </a:r>
            <a:r>
              <a:rPr lang="en-US" altLang="ko" sz="1100" b="1" dirty="0">
                <a:solidFill>
                  <a:schemeClr val="dk2"/>
                </a:solidFill>
              </a:rPr>
              <a:t> </a:t>
            </a:r>
            <a:r>
              <a:rPr lang="ko-KR" altLang="en-US" sz="1100" b="1" dirty="0">
                <a:solidFill>
                  <a:schemeClr val="dk2"/>
                </a:solidFill>
              </a:rPr>
              <a:t>에서 추가 </a:t>
            </a:r>
            <a:r>
              <a:rPr lang="en-US" altLang="ko-KR" sz="1100" b="1" dirty="0">
                <a:solidFill>
                  <a:schemeClr val="dk2"/>
                </a:solidFill>
              </a:rPr>
              <a:t>annotation </a:t>
            </a:r>
            <a:r>
              <a:rPr lang="ko-KR" altLang="en-US" sz="1100" b="1" dirty="0">
                <a:solidFill>
                  <a:schemeClr val="dk2"/>
                </a:solidFill>
              </a:rPr>
              <a:t>복사 중 생긴 것으로</a:t>
            </a:r>
            <a:r>
              <a:rPr lang="en-US" altLang="ko-KR" sz="1100" b="1" dirty="0">
                <a:solidFill>
                  <a:schemeClr val="dk2"/>
                </a:solidFill>
              </a:rPr>
              <a:t>, </a:t>
            </a:r>
            <a:r>
              <a:rPr lang="en-US" altLang="ko-KR" sz="1100" b="1" dirty="0" err="1">
                <a:solidFill>
                  <a:schemeClr val="dk2"/>
                </a:solidFill>
              </a:rPr>
              <a:t>category_id</a:t>
            </a:r>
            <a:r>
              <a:rPr lang="ko-KR" altLang="en-US" sz="1100" b="1" dirty="0">
                <a:solidFill>
                  <a:schemeClr val="dk2"/>
                </a:solidFill>
              </a:rPr>
              <a:t>와 </a:t>
            </a:r>
            <a:r>
              <a:rPr lang="en-US" altLang="ko-KR" sz="1100" b="1" dirty="0" err="1">
                <a:solidFill>
                  <a:schemeClr val="dk2"/>
                </a:solidFill>
              </a:rPr>
              <a:t>bbox</a:t>
            </a:r>
            <a:r>
              <a:rPr lang="ko-KR" altLang="en-US" sz="1100" b="1" dirty="0">
                <a:solidFill>
                  <a:schemeClr val="dk2"/>
                </a:solidFill>
              </a:rPr>
              <a:t>가 동일한 경우 하나는 삭제</a:t>
            </a:r>
            <a:r>
              <a:rPr lang="en-US" altLang="ko-KR" sz="1100" b="1" dirty="0">
                <a:solidFill>
                  <a:schemeClr val="dk2"/>
                </a:solidFill>
              </a:rPr>
              <a:t>.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box 좌표가 잘못된 경우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6</a:t>
            </a:r>
            <a:r>
              <a:rPr lang="ko" sz="1100" dirty="0">
                <a:solidFill>
                  <a:schemeClr val="dk2"/>
                </a:solidFill>
              </a:rPr>
              <a:t> 개 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K-003351-003832-020238_0_2_0_2_70_000_200.json,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K-003351-013900-020238_0_2_0_2_70_000_200.json,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K-003351-016688-018357_0_2_0_2_90_000_200.json,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[70, 438, 584]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K-003351-031863-036637_0_2_0_2_90_000_200.json,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K-003351-031863-038162_0_2_0_2_90_000_200.json,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[428, 199, 295]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K-003544-006563-016548-033878_0_2_0_2_75_000_200.json,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[133.183, 202, 200]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6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389</Words>
  <Application>Microsoft Office PowerPoint</Application>
  <PresentationFormat>와이드스크린</PresentationFormat>
  <Paragraphs>76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Noto Sans KR Black</vt:lpstr>
      <vt:lpstr>Noto Sans KR Medium</vt:lpstr>
      <vt:lpstr>Arial</vt:lpstr>
      <vt:lpstr>Montserrat Black</vt:lpstr>
      <vt:lpstr>Montserrat SemiBold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김영욱</cp:lastModifiedBy>
  <cp:revision>36</cp:revision>
  <cp:lastPrinted>2025-12-21T13:12:13Z</cp:lastPrinted>
  <dcterms:created xsi:type="dcterms:W3CDTF">2021-10-22T06:13:27Z</dcterms:created>
  <dcterms:modified xsi:type="dcterms:W3CDTF">2025-12-21T13:12:14Z</dcterms:modified>
</cp:coreProperties>
</file>