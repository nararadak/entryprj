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5" r:id="rId2"/>
    <p:sldId id="304" r:id="rId3"/>
    <p:sldId id="305" r:id="rId4"/>
    <p:sldId id="306" r:id="rId5"/>
    <p:sldId id="301" r:id="rId6"/>
    <p:sldId id="296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5F5F5D"/>
    <a:srgbClr val="DFD8C7"/>
    <a:srgbClr val="7C7C7A"/>
    <a:srgbClr val="E6E5E3"/>
    <a:srgbClr val="E5E2E0"/>
    <a:srgbClr val="BEB7B1"/>
    <a:srgbClr val="3D3A35"/>
    <a:srgbClr val="C3C1C4"/>
    <a:srgbClr val="525251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48" y="9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428E6-48F8-48FF-A4B7-7E67A9EE0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A2431C-BDF3-4534-AED0-115F103A4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0173CB-01B9-4295-A804-D7D5973D6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5FE16-77A0-484E-AEFD-FF537292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F3DF25-2E65-49D3-8F6F-64AA1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835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BF82B-6C4A-4F6E-A362-B2BF3BDC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E6E910-43A6-49D6-A1B5-99E3B0C2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DB3AC-66C4-4244-9CE9-54D71AA5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92C886-882E-440B-806C-B06DE508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9323D2-1426-48F9-A93B-729E72E2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420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3C500-C8D9-4EBC-AC73-9F7D65F03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56CD17-259A-42E8-B64F-04C51B7C1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976CE5-8C59-42A2-A597-465DEAC8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312C6-1DCE-41BC-B5FA-FCFF5BE3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4339A5-69DC-4256-84CA-F160D48E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820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37A4D-E01E-45A7-B166-73EE7826C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0D6757-7DA6-452C-9903-7536978F1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DCC3C8-286B-4184-8752-32BC3B116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CA751A-C45B-42C8-893F-826B22E76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77210C-0EDE-42F3-A19F-12B3884B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15D590-E2D2-480C-AF73-67D855C55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000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3AF97-024B-4EF1-B5B6-2E362F07C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41334B-2AA0-4E32-9445-B691EAB28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B62D6F-224F-4433-9752-11A255D32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04EE0E-6C7E-4160-86AA-136E97F9F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390FB9-7573-4784-A2A4-EDF1B3C59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64B30B-9C6A-4C96-8DB5-BCE9A09F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A11AC4-2315-46FE-81A4-FE4B8434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2D39CB-CB92-40B8-9B0C-3FBBBDF9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89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32E25-F5B3-41EE-BD3B-6965721B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FE1863-7C02-424B-AF80-CDB39671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99FB34-90A4-44A0-9CF8-F0BC0FE4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375702-4955-406C-919C-D35A1B84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063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6E1BA2-3103-4DB2-AAEB-ED1BAE45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5D5A54-85CA-45E5-9801-A3F15EEFC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12AF2F-D0EC-4C7E-8979-4C17E3F4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1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3A167-5C7C-4CD2-A3E4-B6F945832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1CEB6-C525-4AEB-BB3E-B13156901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296C9A-4472-4D30-BFAE-60CB397B5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4E3F16-D603-4838-BA1C-0C9EEDE4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8873C6-9D3A-4C62-9D46-88E6BAAB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A9C646-865F-49F4-8BDD-FB9A4DEC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91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258A6-5AAD-4F1F-976F-EDB5FF725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F4441E-0165-42AA-88F8-E53C4BAAC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FCA1E8-0D3C-4590-82E2-D018D6E61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674557-7FD9-416C-A8B5-FA6C4B55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A215C-B55F-4988-B45B-7667E8C7C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FF3B86-5A48-411F-8090-830140A6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98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20652-E714-4A15-826F-1B53C7092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14771D-DE0A-400C-8C59-8670E31F7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EACB7-48C9-4FB8-8D34-7F4C6393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1818-B6CD-47B0-9353-395CC539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008922-CAE3-4884-AE59-2BC74144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045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3371B8A-69A6-43D4-8783-6456E3350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9DA1AA-3028-44E4-B5B0-C19BF61DC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2BCD8D-3E10-4F33-BC43-EACB05C0B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E365BE-78DE-4079-B7F3-706874E9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0D9E52-1AFA-4482-A474-91FF4C5C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83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DF84FF-C412-430B-963A-695AABF70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EE7982-A999-4B0A-85F1-A0D5C5503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48EB6A-F091-464F-A783-1AE546A56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E467A-4026-4A8D-97BF-715EF7FA6491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31D2C7-63D5-4319-952D-A6F8404F4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39517A-02D4-4037-9427-974339FE7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044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jpe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3390A-D942-FDE9-DA50-B484A5C25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085B872-A33E-AAB4-6F1A-16A362429161}"/>
              </a:ext>
            </a:extLst>
          </p:cNvPr>
          <p:cNvSpPr/>
          <p:nvPr/>
        </p:nvSpPr>
        <p:spPr>
          <a:xfrm>
            <a:off x="1141274" y="893840"/>
            <a:ext cx="2880000" cy="3420000"/>
          </a:xfrm>
          <a:prstGeom prst="rect">
            <a:avLst/>
          </a:prstGeom>
          <a:solidFill>
            <a:schemeClr val="accent3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6CA347C-3177-2361-38E9-1E93036FFCD3}"/>
              </a:ext>
            </a:extLst>
          </p:cNvPr>
          <p:cNvSpPr/>
          <p:nvPr/>
        </p:nvSpPr>
        <p:spPr>
          <a:xfrm>
            <a:off x="7694569" y="912599"/>
            <a:ext cx="2880000" cy="3420000"/>
          </a:xfrm>
          <a:prstGeom prst="rect">
            <a:avLst/>
          </a:prstGeom>
          <a:solidFill>
            <a:schemeClr val="accent3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BCB7D5D-F312-CF69-8C99-7853B2944126}"/>
              </a:ext>
            </a:extLst>
          </p:cNvPr>
          <p:cNvPicPr preferRelativeResize="0">
            <a:picLocks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274" y="893840"/>
            <a:ext cx="2879303" cy="342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EE0800-0419-8DC4-4F50-BE5239278CA8}"/>
              </a:ext>
            </a:extLst>
          </p:cNvPr>
          <p:cNvSpPr txBox="1"/>
          <p:nvPr/>
        </p:nvSpPr>
        <p:spPr>
          <a:xfrm>
            <a:off x="583709" y="345588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6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B8599DC-287A-2197-5DAA-2CEE99C27772}"/>
              </a:ext>
            </a:extLst>
          </p:cNvPr>
          <p:cNvCxnSpPr>
            <a:cxnSpLocks/>
          </p:cNvCxnSpPr>
          <p:nvPr/>
        </p:nvCxnSpPr>
        <p:spPr>
          <a:xfrm>
            <a:off x="152400" y="187778"/>
            <a:ext cx="1203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84CBF25-C93F-E8BA-FDE0-8633D831221F}"/>
              </a:ext>
            </a:extLst>
          </p:cNvPr>
          <p:cNvSpPr txBox="1"/>
          <p:nvPr/>
        </p:nvSpPr>
        <p:spPr>
          <a:xfrm>
            <a:off x="1676400" y="330200"/>
            <a:ext cx="100671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Submission 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데이터 검증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한 이미지에 </a:t>
            </a:r>
            <a:r>
              <a:rPr lang="ko-KR" altLang="en-US" sz="32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카타로그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(2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1FB7667-9719-F146-B805-313CA4D5D1B3}"/>
              </a:ext>
            </a:extLst>
          </p:cNvPr>
          <p:cNvCxnSpPr>
            <a:cxnSpLocks/>
          </p:cNvCxnSpPr>
          <p:nvPr/>
        </p:nvCxnSpPr>
        <p:spPr>
          <a:xfrm>
            <a:off x="7319740" y="194581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B2A3669A-7183-31D2-C678-BDEA5C9BE8E7}"/>
              </a:ext>
            </a:extLst>
          </p:cNvPr>
          <p:cNvPicPr preferRelativeResize="0"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569" y="912599"/>
            <a:ext cx="2880000" cy="34200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7EF2455-ED25-DFC9-B8D9-7B61351B96EF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40925" y="4330222"/>
            <a:ext cx="2340000" cy="2340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238A07B-FBC1-325A-CE5E-E8FCE2ED4888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580925" y="4313840"/>
            <a:ext cx="2340000" cy="2340000"/>
          </a:xfrm>
          <a:prstGeom prst="rect">
            <a:avLst/>
          </a:prstGeom>
        </p:spPr>
      </p:pic>
      <p:sp>
        <p:nvSpPr>
          <p:cNvPr id="20" name="순서도: 연결자 19">
            <a:extLst>
              <a:ext uri="{FF2B5EF4-FFF2-40B4-BE49-F238E27FC236}">
                <a16:creationId xmlns:a16="http://schemas.microsoft.com/office/drawing/2014/main" id="{7065B705-2C82-23B4-2F3A-2228CF5D9C01}"/>
              </a:ext>
            </a:extLst>
          </p:cNvPr>
          <p:cNvSpPr/>
          <p:nvPr/>
        </p:nvSpPr>
        <p:spPr>
          <a:xfrm>
            <a:off x="2421207" y="2754163"/>
            <a:ext cx="1707606" cy="1090625"/>
          </a:xfrm>
          <a:prstGeom prst="flowChartConnector">
            <a:avLst/>
          </a:prstGeom>
          <a:noFill/>
          <a:ln w="76200">
            <a:solidFill>
              <a:srgbClr val="D1C6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0983D0-7FBC-87BA-1A83-A01A40D548B3}"/>
              </a:ext>
            </a:extLst>
          </p:cNvPr>
          <p:cNvSpPr txBox="1"/>
          <p:nvPr/>
        </p:nvSpPr>
        <p:spPr>
          <a:xfrm>
            <a:off x="334495" y="4553624"/>
            <a:ext cx="12018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i="0" dirty="0">
                <a:effectLst/>
                <a:latin typeface="Source Sans"/>
              </a:rPr>
              <a:t>62.93%</a:t>
            </a:r>
            <a:endParaRPr lang="ko-KR" altLang="en-US" sz="24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4ED8C7-8990-E1E4-8524-7F99948D795C}"/>
              </a:ext>
            </a:extLst>
          </p:cNvPr>
          <p:cNvSpPr txBox="1"/>
          <p:nvPr/>
        </p:nvSpPr>
        <p:spPr>
          <a:xfrm>
            <a:off x="2663045" y="4492760"/>
            <a:ext cx="13740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i="0" dirty="0">
                <a:effectLst/>
                <a:latin typeface="Source Sans"/>
              </a:rPr>
              <a:t>45.96%</a:t>
            </a:r>
            <a:endParaRPr lang="ko-KR" altLang="en-US" sz="2400" b="1" dirty="0"/>
          </a:p>
        </p:txBody>
      </p:sp>
      <p:sp>
        <p:nvSpPr>
          <p:cNvPr id="41" name="순서도: 연결자 40">
            <a:extLst>
              <a:ext uri="{FF2B5EF4-FFF2-40B4-BE49-F238E27FC236}">
                <a16:creationId xmlns:a16="http://schemas.microsoft.com/office/drawing/2014/main" id="{9F244371-AA50-59C7-CC2B-C12B7DBF444B}"/>
              </a:ext>
            </a:extLst>
          </p:cNvPr>
          <p:cNvSpPr/>
          <p:nvPr/>
        </p:nvSpPr>
        <p:spPr>
          <a:xfrm>
            <a:off x="9348268" y="3060700"/>
            <a:ext cx="1226302" cy="1003300"/>
          </a:xfrm>
          <a:prstGeom prst="flowChartConnector">
            <a:avLst/>
          </a:prstGeom>
          <a:noFill/>
          <a:ln w="76200">
            <a:solidFill>
              <a:srgbClr val="D1C6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A6192C94-7CDA-DCA0-AB5B-067ABEDCD6F5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931220" y="4313840"/>
            <a:ext cx="2340000" cy="23400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65F2EB2F-C144-9ED0-7056-5148F2AFFF5E}"/>
              </a:ext>
            </a:extLst>
          </p:cNvPr>
          <p:cNvSpPr txBox="1"/>
          <p:nvPr/>
        </p:nvSpPr>
        <p:spPr>
          <a:xfrm>
            <a:off x="8037290" y="5192559"/>
            <a:ext cx="111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Source Sans"/>
              </a:rPr>
              <a:t>98.84%</a:t>
            </a:r>
            <a:endParaRPr lang="ko-KR" altLang="en-US" sz="2400" b="1" dirty="0">
              <a:latin typeface="Source Sans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93BF3F1F-82AC-510E-475B-2FFCC8EF0A35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9307956" y="4313840"/>
            <a:ext cx="2340000" cy="234000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D8602378-9045-8B67-A7F5-799754FD7DC5}"/>
              </a:ext>
            </a:extLst>
          </p:cNvPr>
          <p:cNvSpPr txBox="1"/>
          <p:nvPr/>
        </p:nvSpPr>
        <p:spPr>
          <a:xfrm>
            <a:off x="10574569" y="5192558"/>
            <a:ext cx="111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Source Sans"/>
              </a:rPr>
              <a:t>66.5%</a:t>
            </a:r>
            <a:endParaRPr lang="ko-KR" altLang="en-US" sz="2400" b="1" dirty="0">
              <a:latin typeface="Source Sans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F612465-A5CE-2901-F9EC-9E232C341113}"/>
              </a:ext>
            </a:extLst>
          </p:cNvPr>
          <p:cNvGraphicFramePr>
            <a:graphicFrameLocks noGrp="1"/>
          </p:cNvGraphicFramePr>
          <p:nvPr/>
        </p:nvGraphicFramePr>
        <p:xfrm>
          <a:off x="4015703" y="890013"/>
          <a:ext cx="367816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920">
                  <a:extLst>
                    <a:ext uri="{9D8B030D-6E8A-4147-A177-3AD203B41FA5}">
                      <a16:colId xmlns:a16="http://schemas.microsoft.com/office/drawing/2014/main" val="525841033"/>
                    </a:ext>
                  </a:extLst>
                </a:gridCol>
                <a:gridCol w="1689249">
                  <a:extLst>
                    <a:ext uri="{9D8B030D-6E8A-4147-A177-3AD203B41FA5}">
                      <a16:colId xmlns:a16="http://schemas.microsoft.com/office/drawing/2014/main" val="217648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카테고리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알약 </a:t>
                      </a:r>
                      <a:r>
                        <a:rPr lang="en-US" altLang="ko-KR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2</a:t>
                      </a:r>
                      <a:r>
                        <a:rPr lang="ko-KR" altLang="en-US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개 판정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75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홍색</a:t>
                      </a:r>
                      <a:r>
                        <a:rPr lang="en-US" altLang="ko-KR" sz="1600" b="1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 </a:t>
                      </a:r>
                      <a:r>
                        <a:rPr lang="ko-KR" altLang="en-US" sz="1600" b="1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장방형</a:t>
                      </a:r>
                      <a:r>
                        <a:rPr lang="en-US" altLang="ko-KR" sz="1600" b="1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 </a:t>
                      </a:r>
                      <a:r>
                        <a:rPr lang="ko-KR" altLang="en-US" sz="1600" b="1" dirty="0" err="1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코팅정</a:t>
                      </a:r>
                      <a:endParaRPr lang="ko-KR" altLang="en-US" sz="1600" b="1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1</a:t>
                      </a:r>
                      <a:endParaRPr lang="ko-KR" altLang="en-US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17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흰색 원형 정제</a:t>
                      </a:r>
                    </a:p>
                  </a:txBody>
                  <a:tcP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1</a:t>
                      </a:r>
                      <a:endParaRPr lang="ko-KR" altLang="en-US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7178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34A71A0-D069-0555-B641-890FDA0C15A8}"/>
              </a:ext>
            </a:extLst>
          </p:cNvPr>
          <p:cNvSpPr txBox="1"/>
          <p:nvPr/>
        </p:nvSpPr>
        <p:spPr>
          <a:xfrm>
            <a:off x="1140577" y="922707"/>
            <a:ext cx="234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b="1" dirty="0">
                <a:solidFill>
                  <a:srgbClr val="D1C6AE"/>
                </a:solidFill>
              </a:rPr>
              <a:t>홍색</a:t>
            </a:r>
            <a:r>
              <a:rPr lang="en-US" altLang="ko-KR" b="1" dirty="0">
                <a:solidFill>
                  <a:srgbClr val="D1C6AE"/>
                </a:solidFill>
              </a:rPr>
              <a:t> </a:t>
            </a:r>
            <a:r>
              <a:rPr lang="ko-KR" altLang="en-US" b="1" dirty="0">
                <a:solidFill>
                  <a:srgbClr val="D1C6AE"/>
                </a:solidFill>
              </a:rPr>
              <a:t>장방형</a:t>
            </a:r>
            <a:r>
              <a:rPr lang="en-US" altLang="ko-KR" b="1" dirty="0">
                <a:solidFill>
                  <a:srgbClr val="D1C6AE"/>
                </a:solidFill>
              </a:rPr>
              <a:t> </a:t>
            </a:r>
            <a:r>
              <a:rPr lang="ko-KR" altLang="en-US" b="1" dirty="0" err="1">
                <a:solidFill>
                  <a:srgbClr val="D1C6AE"/>
                </a:solidFill>
              </a:rPr>
              <a:t>코팅정</a:t>
            </a:r>
            <a:endParaRPr lang="ko-KR" altLang="en-US" b="1" dirty="0">
              <a:solidFill>
                <a:srgbClr val="D1C6AE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B9AF43-FC62-0CFE-6C13-9DE68105A4AC}"/>
              </a:ext>
            </a:extLst>
          </p:cNvPr>
          <p:cNvSpPr txBox="1"/>
          <p:nvPr/>
        </p:nvSpPr>
        <p:spPr>
          <a:xfrm>
            <a:off x="7694569" y="975622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D1C6AE"/>
                </a:solidFill>
              </a:rPr>
              <a:t>흰색 원형 정제</a:t>
            </a:r>
          </a:p>
        </p:txBody>
      </p:sp>
    </p:spTree>
    <p:extLst>
      <p:ext uri="{BB962C8B-B14F-4D97-AF65-F5344CB8AC3E}">
        <p14:creationId xmlns:p14="http://schemas.microsoft.com/office/powerpoint/2010/main" val="79028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A1A24-AC8E-44EC-AC7D-A9EF7B8CC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그림 42">
            <a:extLst>
              <a:ext uri="{FF2B5EF4-FFF2-40B4-BE49-F238E27FC236}">
                <a16:creationId xmlns:a16="http://schemas.microsoft.com/office/drawing/2014/main" id="{9DF59195-09BC-84F4-01D7-E12CB84D3C98}"/>
              </a:ext>
            </a:extLst>
          </p:cNvPr>
          <p:cNvPicPr preferRelativeResize="0">
            <a:picLocks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1259" y="893840"/>
            <a:ext cx="2880000" cy="159691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403E680-E486-E8D4-EB4E-EF1A8BF46B6E}"/>
              </a:ext>
            </a:extLst>
          </p:cNvPr>
          <p:cNvSpPr/>
          <p:nvPr/>
        </p:nvSpPr>
        <p:spPr>
          <a:xfrm>
            <a:off x="527678" y="893840"/>
            <a:ext cx="2880000" cy="3420000"/>
          </a:xfrm>
          <a:prstGeom prst="rect">
            <a:avLst/>
          </a:prstGeom>
          <a:solidFill>
            <a:schemeClr val="accent3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F38E434E-50CA-99E7-229F-0319ACDEACA3}"/>
              </a:ext>
            </a:extLst>
          </p:cNvPr>
          <p:cNvPicPr preferRelativeResize="0"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78" y="893840"/>
            <a:ext cx="2880000" cy="3420000"/>
          </a:xfrm>
          <a:prstGeom prst="rect">
            <a:avLst/>
          </a:prstGeom>
        </p:spPr>
      </p:pic>
      <p:sp>
        <p:nvSpPr>
          <p:cNvPr id="54" name="직사각형 53">
            <a:extLst>
              <a:ext uri="{FF2B5EF4-FFF2-40B4-BE49-F238E27FC236}">
                <a16:creationId xmlns:a16="http://schemas.microsoft.com/office/drawing/2014/main" id="{0645A2D6-4362-886A-0F6E-DE8E616B1C3D}"/>
              </a:ext>
            </a:extLst>
          </p:cNvPr>
          <p:cNvSpPr/>
          <p:nvPr/>
        </p:nvSpPr>
        <p:spPr>
          <a:xfrm>
            <a:off x="240924" y="4330222"/>
            <a:ext cx="1934345" cy="2160000"/>
          </a:xfrm>
          <a:prstGeom prst="rect">
            <a:avLst/>
          </a:prstGeom>
          <a:solidFill>
            <a:schemeClr val="accent3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54E99744-EA7B-49EF-99A1-C5B3BEFAE002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40924" y="4330222"/>
            <a:ext cx="1933200" cy="2160000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1DBAFDF5-84C0-247A-ED02-6426494087E0}"/>
              </a:ext>
            </a:extLst>
          </p:cNvPr>
          <p:cNvSpPr/>
          <p:nvPr/>
        </p:nvSpPr>
        <p:spPr>
          <a:xfrm>
            <a:off x="8754840" y="893840"/>
            <a:ext cx="2880000" cy="3420000"/>
          </a:xfrm>
          <a:prstGeom prst="rect">
            <a:avLst/>
          </a:prstGeom>
          <a:solidFill>
            <a:schemeClr val="accent3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E55FF3-0413-F36A-66FE-6296FCA934D4}"/>
              </a:ext>
            </a:extLst>
          </p:cNvPr>
          <p:cNvSpPr txBox="1"/>
          <p:nvPr/>
        </p:nvSpPr>
        <p:spPr>
          <a:xfrm>
            <a:off x="583709" y="345588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6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9370708-C68E-EDF8-75C7-7D71AE451894}"/>
              </a:ext>
            </a:extLst>
          </p:cNvPr>
          <p:cNvCxnSpPr>
            <a:cxnSpLocks/>
          </p:cNvCxnSpPr>
          <p:nvPr/>
        </p:nvCxnSpPr>
        <p:spPr>
          <a:xfrm>
            <a:off x="152400" y="187778"/>
            <a:ext cx="1203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9F4B88C-EEAC-480E-33D6-1693A590738C}"/>
              </a:ext>
            </a:extLst>
          </p:cNvPr>
          <p:cNvSpPr txBox="1"/>
          <p:nvPr/>
        </p:nvSpPr>
        <p:spPr>
          <a:xfrm>
            <a:off x="1676400" y="330200"/>
            <a:ext cx="10530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Submission 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데이터 검증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score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0.75 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미만 데이터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(58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0B422F8-9411-453D-78D0-83FF0D14B552}"/>
              </a:ext>
            </a:extLst>
          </p:cNvPr>
          <p:cNvCxnSpPr>
            <a:cxnSpLocks/>
          </p:cNvCxnSpPr>
          <p:nvPr/>
        </p:nvCxnSpPr>
        <p:spPr>
          <a:xfrm>
            <a:off x="7319740" y="194581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91E4905-34C5-17AC-FFE5-14439014BAD7}"/>
              </a:ext>
            </a:extLst>
          </p:cNvPr>
          <p:cNvSpPr/>
          <p:nvPr/>
        </p:nvSpPr>
        <p:spPr>
          <a:xfrm>
            <a:off x="2221130" y="4330222"/>
            <a:ext cx="1934345" cy="2160000"/>
          </a:xfrm>
          <a:prstGeom prst="rect">
            <a:avLst/>
          </a:prstGeom>
          <a:solidFill>
            <a:schemeClr val="accent3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4C80DE-8352-EA46-1B28-E9D609A357D6}"/>
              </a:ext>
            </a:extLst>
          </p:cNvPr>
          <p:cNvSpPr/>
          <p:nvPr/>
        </p:nvSpPr>
        <p:spPr>
          <a:xfrm>
            <a:off x="4200649" y="4330222"/>
            <a:ext cx="1934345" cy="2160000"/>
          </a:xfrm>
          <a:prstGeom prst="rect">
            <a:avLst/>
          </a:prstGeom>
          <a:solidFill>
            <a:schemeClr val="accent3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A5D58B-E7AF-DB64-BEBA-AB889C08C86B}"/>
              </a:ext>
            </a:extLst>
          </p:cNvPr>
          <p:cNvSpPr/>
          <p:nvPr/>
        </p:nvSpPr>
        <p:spPr>
          <a:xfrm>
            <a:off x="6181084" y="4330222"/>
            <a:ext cx="1934345" cy="2160000"/>
          </a:xfrm>
          <a:prstGeom prst="rect">
            <a:avLst/>
          </a:prstGeom>
          <a:solidFill>
            <a:schemeClr val="accent3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F009B76-AFDA-0943-BC17-EDD3448B6BF3}"/>
              </a:ext>
            </a:extLst>
          </p:cNvPr>
          <p:cNvSpPr/>
          <p:nvPr/>
        </p:nvSpPr>
        <p:spPr>
          <a:xfrm>
            <a:off x="8161519" y="4330222"/>
            <a:ext cx="1934345" cy="2160000"/>
          </a:xfrm>
          <a:prstGeom prst="rect">
            <a:avLst/>
          </a:prstGeom>
          <a:solidFill>
            <a:schemeClr val="accent3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B79407F-528B-CB5F-662C-292AE4B21D77}"/>
              </a:ext>
            </a:extLst>
          </p:cNvPr>
          <p:cNvSpPr/>
          <p:nvPr/>
        </p:nvSpPr>
        <p:spPr>
          <a:xfrm>
            <a:off x="10141956" y="4330222"/>
            <a:ext cx="1934345" cy="2160000"/>
          </a:xfrm>
          <a:prstGeom prst="rect">
            <a:avLst/>
          </a:prstGeom>
          <a:solidFill>
            <a:schemeClr val="accent3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순서도: 연결자 26">
            <a:extLst>
              <a:ext uri="{FF2B5EF4-FFF2-40B4-BE49-F238E27FC236}">
                <a16:creationId xmlns:a16="http://schemas.microsoft.com/office/drawing/2014/main" id="{E5BAB78D-6702-2A94-9590-11244643630F}"/>
              </a:ext>
            </a:extLst>
          </p:cNvPr>
          <p:cNvSpPr/>
          <p:nvPr/>
        </p:nvSpPr>
        <p:spPr>
          <a:xfrm>
            <a:off x="863552" y="1350084"/>
            <a:ext cx="814979" cy="904667"/>
          </a:xfrm>
          <a:prstGeom prst="flowChartConnector">
            <a:avLst/>
          </a:prstGeom>
          <a:noFill/>
          <a:ln w="76200">
            <a:solidFill>
              <a:srgbClr val="D1C6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4CFE2A67-AC01-4B5F-A68B-DA7B1A522613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221359" y="4330222"/>
            <a:ext cx="1933200" cy="2160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9D0761B-E272-B8B8-D11A-4836DF8CCF25}"/>
              </a:ext>
            </a:extLst>
          </p:cNvPr>
          <p:cNvSpPr txBox="1"/>
          <p:nvPr/>
        </p:nvSpPr>
        <p:spPr>
          <a:xfrm>
            <a:off x="1056776" y="5144934"/>
            <a:ext cx="111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Source Sans"/>
              </a:rPr>
              <a:t>63.1%</a:t>
            </a:r>
            <a:endParaRPr lang="ko-KR" altLang="en-US" sz="2400" b="1" dirty="0">
              <a:latin typeface="Source San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A67270-E5C2-4F25-4182-6F478CC43605}"/>
              </a:ext>
            </a:extLst>
          </p:cNvPr>
          <p:cNvSpPr txBox="1"/>
          <p:nvPr/>
        </p:nvSpPr>
        <p:spPr>
          <a:xfrm>
            <a:off x="3037669" y="5144933"/>
            <a:ext cx="111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Source Sans"/>
              </a:rPr>
              <a:t>37.62%</a:t>
            </a:r>
            <a:endParaRPr lang="ko-KR" altLang="en-US" sz="2400" b="1" dirty="0">
              <a:latin typeface="Source Sans"/>
            </a:endParaRPr>
          </a:p>
        </p:txBody>
      </p:sp>
      <p:sp>
        <p:nvSpPr>
          <p:cNvPr id="44" name="순서도: 연결자 43">
            <a:extLst>
              <a:ext uri="{FF2B5EF4-FFF2-40B4-BE49-F238E27FC236}">
                <a16:creationId xmlns:a16="http://schemas.microsoft.com/office/drawing/2014/main" id="{245C38D3-C511-0565-44F1-9C25E7F2C2B8}"/>
              </a:ext>
            </a:extLst>
          </p:cNvPr>
          <p:cNvSpPr/>
          <p:nvPr/>
        </p:nvSpPr>
        <p:spPr>
          <a:xfrm>
            <a:off x="6386830" y="914975"/>
            <a:ext cx="746589" cy="1321662"/>
          </a:xfrm>
          <a:prstGeom prst="flowChartConnector">
            <a:avLst/>
          </a:prstGeom>
          <a:noFill/>
          <a:ln w="76200">
            <a:solidFill>
              <a:srgbClr val="D1C6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1B86E68-38CD-469F-AE4B-AE2055CCDC2E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200649" y="4330222"/>
            <a:ext cx="1933200" cy="2160000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6F03259E-6A9D-B36E-C486-E2D6116A4302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6181084" y="4330222"/>
            <a:ext cx="1933200" cy="21600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5060A39-E7E3-1215-BA2C-B2F3E7CB2FD8}"/>
              </a:ext>
            </a:extLst>
          </p:cNvPr>
          <p:cNvSpPr txBox="1"/>
          <p:nvPr/>
        </p:nvSpPr>
        <p:spPr>
          <a:xfrm>
            <a:off x="5152526" y="5059209"/>
            <a:ext cx="111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Source Sans"/>
              </a:rPr>
              <a:t>89.42%</a:t>
            </a:r>
            <a:endParaRPr lang="ko-KR" altLang="en-US" sz="2400" b="1" dirty="0">
              <a:latin typeface="Source San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A997A0-4BDE-2A4A-57A3-FB11C19AF983}"/>
              </a:ext>
            </a:extLst>
          </p:cNvPr>
          <p:cNvSpPr txBox="1"/>
          <p:nvPr/>
        </p:nvSpPr>
        <p:spPr>
          <a:xfrm>
            <a:off x="7133419" y="5059208"/>
            <a:ext cx="111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Source Sans"/>
              </a:rPr>
              <a:t>39.46%</a:t>
            </a:r>
            <a:endParaRPr lang="ko-KR" altLang="en-US" sz="2400" b="1" dirty="0">
              <a:latin typeface="Source Sans"/>
            </a:endParaRPr>
          </a:p>
        </p:txBody>
      </p:sp>
      <p:sp>
        <p:nvSpPr>
          <p:cNvPr id="51" name="순서도: 연결자 50">
            <a:extLst>
              <a:ext uri="{FF2B5EF4-FFF2-40B4-BE49-F238E27FC236}">
                <a16:creationId xmlns:a16="http://schemas.microsoft.com/office/drawing/2014/main" id="{B09D8FEE-1934-6062-7151-2C42DBB775DA}"/>
              </a:ext>
            </a:extLst>
          </p:cNvPr>
          <p:cNvSpPr/>
          <p:nvPr/>
        </p:nvSpPr>
        <p:spPr>
          <a:xfrm>
            <a:off x="8842782" y="1273610"/>
            <a:ext cx="1562099" cy="904667"/>
          </a:xfrm>
          <a:prstGeom prst="flowChartConnector">
            <a:avLst/>
          </a:prstGeom>
          <a:noFill/>
          <a:ln w="76200">
            <a:solidFill>
              <a:srgbClr val="D1C6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4777E13-ECAE-0851-D812-5FF2878ABF0B}"/>
              </a:ext>
            </a:extLst>
          </p:cNvPr>
          <p:cNvSpPr txBox="1"/>
          <p:nvPr/>
        </p:nvSpPr>
        <p:spPr>
          <a:xfrm>
            <a:off x="506400" y="2466391"/>
            <a:ext cx="234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b="1" dirty="0">
                <a:solidFill>
                  <a:srgbClr val="D1C6AE"/>
                </a:solidFill>
              </a:rPr>
              <a:t>흰색 원형 </a:t>
            </a:r>
            <a:r>
              <a:rPr lang="ko-KR" altLang="en-US" b="1" dirty="0" err="1">
                <a:solidFill>
                  <a:srgbClr val="D1C6AE"/>
                </a:solidFill>
              </a:rPr>
              <a:t>코팅정</a:t>
            </a:r>
            <a:endParaRPr lang="ko-KR" altLang="en-US" b="1" dirty="0">
              <a:solidFill>
                <a:srgbClr val="D1C6AE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B9FF03-D26F-3636-B872-A9EF0FAF4BEB}"/>
              </a:ext>
            </a:extLst>
          </p:cNvPr>
          <p:cNvSpPr txBox="1"/>
          <p:nvPr/>
        </p:nvSpPr>
        <p:spPr>
          <a:xfrm>
            <a:off x="4581484" y="2126963"/>
            <a:ext cx="234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b="1" dirty="0">
                <a:solidFill>
                  <a:srgbClr val="D1C6AE"/>
                </a:solidFill>
              </a:rPr>
              <a:t>흰색 장방형 </a:t>
            </a:r>
            <a:r>
              <a:rPr lang="ko-KR" altLang="en-US" b="1" dirty="0" err="1">
                <a:solidFill>
                  <a:srgbClr val="D1C6AE"/>
                </a:solidFill>
              </a:rPr>
              <a:t>코팅제</a:t>
            </a:r>
            <a:endParaRPr lang="ko-KR" altLang="en-US" b="1" dirty="0">
              <a:solidFill>
                <a:srgbClr val="D1C6AE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F21A49-CB9A-4B6A-2EAE-08CD165C612F}"/>
              </a:ext>
            </a:extLst>
          </p:cNvPr>
          <p:cNvSpPr txBox="1"/>
          <p:nvPr/>
        </p:nvSpPr>
        <p:spPr>
          <a:xfrm>
            <a:off x="8695065" y="2372120"/>
            <a:ext cx="234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b="1" dirty="0">
                <a:solidFill>
                  <a:srgbClr val="D1C6AE"/>
                </a:solidFill>
              </a:rPr>
              <a:t>홍색 장방형 </a:t>
            </a:r>
            <a:r>
              <a:rPr lang="ko-KR" altLang="en-US" b="1" dirty="0" err="1">
                <a:solidFill>
                  <a:srgbClr val="D1C6AE"/>
                </a:solidFill>
              </a:rPr>
              <a:t>필름제</a:t>
            </a:r>
            <a:endParaRPr lang="ko-KR" altLang="en-US" b="1" dirty="0">
              <a:solidFill>
                <a:srgbClr val="D1C6AE"/>
              </a:solidFill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9E507BBC-D19C-CE99-68C8-FC596BBD858C}"/>
              </a:ext>
            </a:extLst>
          </p:cNvPr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162664" y="4330222"/>
            <a:ext cx="1933200" cy="21600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595CDC7E-CFAC-10D5-F7B9-F008E80E8B29}"/>
              </a:ext>
            </a:extLst>
          </p:cNvPr>
          <p:cNvPicPr preferRelativeResize="0"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10143101" y="4330222"/>
            <a:ext cx="1933200" cy="216000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E150B53A-931A-2D28-4B2B-E6BE3A737D6E}"/>
              </a:ext>
            </a:extLst>
          </p:cNvPr>
          <p:cNvSpPr txBox="1"/>
          <p:nvPr/>
        </p:nvSpPr>
        <p:spPr>
          <a:xfrm>
            <a:off x="9066619" y="5059208"/>
            <a:ext cx="111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Source Sans"/>
              </a:rPr>
              <a:t>96.72%</a:t>
            </a:r>
            <a:endParaRPr lang="ko-KR" altLang="en-US" sz="2400" b="1" dirty="0">
              <a:latin typeface="Source San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DDBA74-113E-02A9-A5A1-5A650DBF22B3}"/>
              </a:ext>
            </a:extLst>
          </p:cNvPr>
          <p:cNvSpPr txBox="1"/>
          <p:nvPr/>
        </p:nvSpPr>
        <p:spPr>
          <a:xfrm>
            <a:off x="11047512" y="5059207"/>
            <a:ext cx="111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Source Sans"/>
              </a:rPr>
              <a:t>37.44%</a:t>
            </a:r>
            <a:endParaRPr lang="ko-KR" altLang="en-US" sz="2400" b="1" dirty="0">
              <a:latin typeface="Source Sans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FCAC3EAA-FEBF-442D-E74B-E19C64F1517A}"/>
              </a:ext>
            </a:extLst>
          </p:cNvPr>
          <p:cNvPicPr preferRelativeResize="0">
            <a:picLocks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840" y="893840"/>
            <a:ext cx="2880000" cy="3420000"/>
          </a:xfrm>
          <a:prstGeom prst="rect">
            <a:avLst/>
          </a:prstGeom>
        </p:spPr>
      </p:pic>
      <p:sp>
        <p:nvSpPr>
          <p:cNvPr id="63" name="순서도: 연결자 62">
            <a:extLst>
              <a:ext uri="{FF2B5EF4-FFF2-40B4-BE49-F238E27FC236}">
                <a16:creationId xmlns:a16="http://schemas.microsoft.com/office/drawing/2014/main" id="{88EBE922-23D4-FFAD-205E-3EAEBCF34F3B}"/>
              </a:ext>
            </a:extLst>
          </p:cNvPr>
          <p:cNvSpPr/>
          <p:nvPr/>
        </p:nvSpPr>
        <p:spPr>
          <a:xfrm>
            <a:off x="8839197" y="1273610"/>
            <a:ext cx="1577378" cy="981141"/>
          </a:xfrm>
          <a:prstGeom prst="flowChartConnector">
            <a:avLst/>
          </a:prstGeom>
          <a:noFill/>
          <a:ln w="76200">
            <a:solidFill>
              <a:srgbClr val="D1C6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211665C8-9947-1465-CDB2-997FD1B9673B}"/>
              </a:ext>
            </a:extLst>
          </p:cNvPr>
          <p:cNvGraphicFramePr>
            <a:graphicFrameLocks noGrp="1"/>
          </p:cNvGraphicFramePr>
          <p:nvPr/>
        </p:nvGraphicFramePr>
        <p:xfrm>
          <a:off x="3407679" y="2700537"/>
          <a:ext cx="5335468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771">
                  <a:extLst>
                    <a:ext uri="{9D8B030D-6E8A-4147-A177-3AD203B41FA5}">
                      <a16:colId xmlns:a16="http://schemas.microsoft.com/office/drawing/2014/main" val="321816494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441507404"/>
                    </a:ext>
                  </a:extLst>
                </a:gridCol>
                <a:gridCol w="1637497">
                  <a:extLst>
                    <a:ext uri="{9D8B030D-6E8A-4147-A177-3AD203B41FA5}">
                      <a16:colId xmlns:a16="http://schemas.microsoft.com/office/drawing/2014/main" val="14836989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카테고리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알약 </a:t>
                      </a:r>
                      <a:r>
                        <a:rPr lang="en-US" altLang="ko-KR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1</a:t>
                      </a:r>
                      <a:r>
                        <a:rPr lang="ko-KR" altLang="en-US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개 판정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알약 </a:t>
                      </a:r>
                      <a:r>
                        <a:rPr lang="en-US" altLang="ko-KR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2</a:t>
                      </a:r>
                      <a:r>
                        <a:rPr lang="ko-KR" altLang="en-US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개 판정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068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흰색 원형 </a:t>
                      </a:r>
                      <a:r>
                        <a:rPr lang="ko-KR" altLang="en-US" sz="1600" b="1" dirty="0" err="1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코팅정</a:t>
                      </a:r>
                      <a:endParaRPr lang="ko-KR" altLang="en-US" sz="1600" b="1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4</a:t>
                      </a:r>
                      <a:endParaRPr lang="ko-KR" altLang="en-US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5</a:t>
                      </a:r>
                      <a:endParaRPr lang="ko-KR" altLang="en-US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007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흰색 장방형 </a:t>
                      </a:r>
                      <a:r>
                        <a:rPr lang="ko-KR" altLang="en-US" sz="1600" b="1" dirty="0" err="1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코딩제</a:t>
                      </a:r>
                      <a:endParaRPr lang="ko-KR" altLang="en-US" sz="1600" b="1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9</a:t>
                      </a:r>
                      <a:endParaRPr lang="ko-KR" altLang="en-US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6</a:t>
                      </a:r>
                      <a:endParaRPr lang="ko-KR" altLang="en-US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314092"/>
                  </a:ext>
                </a:extLst>
              </a:tr>
              <a:tr h="26286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홍색 장방형 </a:t>
                      </a:r>
                      <a:r>
                        <a:rPr lang="ko-KR" altLang="en-US" sz="1600" b="1" dirty="0" err="1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필름제</a:t>
                      </a:r>
                      <a:endParaRPr lang="ko-KR" altLang="en-US" sz="1600" b="1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7</a:t>
                      </a:r>
                      <a:endParaRPr lang="ko-KR" altLang="en-US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3</a:t>
                      </a:r>
                      <a:endParaRPr lang="ko-KR" altLang="en-US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079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720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01241-569E-EAA2-C579-86547F1C7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F3C58D5A-5456-B69D-E43A-BB46F41553A7}"/>
              </a:ext>
            </a:extLst>
          </p:cNvPr>
          <p:cNvSpPr/>
          <p:nvPr/>
        </p:nvSpPr>
        <p:spPr>
          <a:xfrm>
            <a:off x="5114087" y="4330222"/>
            <a:ext cx="1934345" cy="2160000"/>
          </a:xfrm>
          <a:prstGeom prst="rect">
            <a:avLst/>
          </a:prstGeom>
          <a:solidFill>
            <a:schemeClr val="accent3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A69848AC-7C34-B3BD-AB26-73242566A585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115232" y="4330222"/>
            <a:ext cx="1933200" cy="21600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2B520A7-A4DB-0EEA-F6AC-C88BA88204CF}"/>
              </a:ext>
            </a:extLst>
          </p:cNvPr>
          <p:cNvSpPr/>
          <p:nvPr/>
        </p:nvSpPr>
        <p:spPr>
          <a:xfrm>
            <a:off x="4641259" y="893840"/>
            <a:ext cx="2880000" cy="3420000"/>
          </a:xfrm>
          <a:prstGeom prst="rect">
            <a:avLst/>
          </a:prstGeom>
          <a:solidFill>
            <a:schemeClr val="accent3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47A3FE13-085F-5477-CEEA-7643A6DCDDC0}"/>
              </a:ext>
            </a:extLst>
          </p:cNvPr>
          <p:cNvPicPr preferRelativeResize="0">
            <a:picLocks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296" y="893840"/>
            <a:ext cx="2880000" cy="342000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A32476AF-83F6-E70B-7DBE-A87BBFCF7858}"/>
              </a:ext>
            </a:extLst>
          </p:cNvPr>
          <p:cNvSpPr/>
          <p:nvPr/>
        </p:nvSpPr>
        <p:spPr>
          <a:xfrm>
            <a:off x="9227667" y="4330222"/>
            <a:ext cx="1934345" cy="2160000"/>
          </a:xfrm>
          <a:prstGeom prst="rect">
            <a:avLst/>
          </a:prstGeom>
          <a:solidFill>
            <a:schemeClr val="accent3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19D47CFA-3BA8-402A-860F-3DC60839D932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9228812" y="4330222"/>
            <a:ext cx="1933200" cy="2160000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545387CC-44DB-C4A3-2F63-ACBE98F73AA4}"/>
              </a:ext>
            </a:extLst>
          </p:cNvPr>
          <p:cNvSpPr/>
          <p:nvPr/>
        </p:nvSpPr>
        <p:spPr>
          <a:xfrm>
            <a:off x="8754840" y="893840"/>
            <a:ext cx="2880000" cy="3420000"/>
          </a:xfrm>
          <a:prstGeom prst="rect">
            <a:avLst/>
          </a:prstGeom>
          <a:solidFill>
            <a:schemeClr val="accent3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00729715-FE79-3776-436D-12B6174CC2EB}"/>
              </a:ext>
            </a:extLst>
          </p:cNvPr>
          <p:cNvPicPr preferRelativeResize="0"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840" y="893840"/>
            <a:ext cx="2880000" cy="3420000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D3AEC708-1337-0BF1-8AA9-BABEAE3562E7}"/>
              </a:ext>
            </a:extLst>
          </p:cNvPr>
          <p:cNvSpPr/>
          <p:nvPr/>
        </p:nvSpPr>
        <p:spPr>
          <a:xfrm>
            <a:off x="1000506" y="4330222"/>
            <a:ext cx="1934345" cy="2160000"/>
          </a:xfrm>
          <a:prstGeom prst="rect">
            <a:avLst/>
          </a:prstGeom>
          <a:solidFill>
            <a:schemeClr val="accent3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0FCAFDF-82EB-42AB-8C05-DB20606BA7C5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000506" y="4330222"/>
            <a:ext cx="1933200" cy="2160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818BD8A-A20E-87DB-DABC-F03CC2FB2056}"/>
              </a:ext>
            </a:extLst>
          </p:cNvPr>
          <p:cNvSpPr/>
          <p:nvPr/>
        </p:nvSpPr>
        <p:spPr>
          <a:xfrm>
            <a:off x="527678" y="893840"/>
            <a:ext cx="2880000" cy="3420000"/>
          </a:xfrm>
          <a:prstGeom prst="rect">
            <a:avLst/>
          </a:prstGeom>
          <a:solidFill>
            <a:schemeClr val="accent3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6294406C-5AEB-0D02-2A75-CA253919EC08}"/>
              </a:ext>
            </a:extLst>
          </p:cNvPr>
          <p:cNvPicPr preferRelativeResize="0">
            <a:picLocks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78" y="893840"/>
            <a:ext cx="2880000" cy="342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D67B71-9D24-1D62-24DD-D9687DFD10C9}"/>
              </a:ext>
            </a:extLst>
          </p:cNvPr>
          <p:cNvSpPr txBox="1"/>
          <p:nvPr/>
        </p:nvSpPr>
        <p:spPr>
          <a:xfrm>
            <a:off x="583709" y="345588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6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B3A57ED-11BD-EFC3-2914-19D5E2DE837F}"/>
              </a:ext>
            </a:extLst>
          </p:cNvPr>
          <p:cNvCxnSpPr>
            <a:cxnSpLocks/>
          </p:cNvCxnSpPr>
          <p:nvPr/>
        </p:nvCxnSpPr>
        <p:spPr>
          <a:xfrm>
            <a:off x="152400" y="187778"/>
            <a:ext cx="1203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25344D7-47A9-B450-4143-0E62B4F8483D}"/>
              </a:ext>
            </a:extLst>
          </p:cNvPr>
          <p:cNvSpPr txBox="1"/>
          <p:nvPr/>
        </p:nvSpPr>
        <p:spPr>
          <a:xfrm>
            <a:off x="1676400" y="330200"/>
            <a:ext cx="10530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Submission 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데이터 검증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score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0.75 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미만 데이터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(58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A2BB828-EE06-2D81-870A-1AE1B0C1F270}"/>
              </a:ext>
            </a:extLst>
          </p:cNvPr>
          <p:cNvCxnSpPr>
            <a:cxnSpLocks/>
          </p:cNvCxnSpPr>
          <p:nvPr/>
        </p:nvCxnSpPr>
        <p:spPr>
          <a:xfrm>
            <a:off x="7319740" y="194581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D8783AD-EEF4-D16C-FCE9-180F3B20366F}"/>
              </a:ext>
            </a:extLst>
          </p:cNvPr>
          <p:cNvGraphicFramePr>
            <a:graphicFrameLocks noGrp="1"/>
          </p:cNvGraphicFramePr>
          <p:nvPr/>
        </p:nvGraphicFramePr>
        <p:xfrm>
          <a:off x="3920823" y="2826610"/>
          <a:ext cx="4314947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925">
                  <a:extLst>
                    <a:ext uri="{9D8B030D-6E8A-4147-A177-3AD203B41FA5}">
                      <a16:colId xmlns:a16="http://schemas.microsoft.com/office/drawing/2014/main" val="3218164940"/>
                    </a:ext>
                  </a:extLst>
                </a:gridCol>
                <a:gridCol w="1867022">
                  <a:extLst>
                    <a:ext uri="{9D8B030D-6E8A-4147-A177-3AD203B41FA5}">
                      <a16:colId xmlns:a16="http://schemas.microsoft.com/office/drawing/2014/main" val="1441507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카테고리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알약 </a:t>
                      </a:r>
                      <a:r>
                        <a:rPr lang="en-US" altLang="ko-KR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1</a:t>
                      </a:r>
                      <a:r>
                        <a:rPr lang="ko-KR" altLang="en-US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개 판정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068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 err="1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미황색</a:t>
                      </a:r>
                      <a:r>
                        <a:rPr lang="ko-KR" altLang="en-US" sz="1600" b="1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 투명 연질 캡슐</a:t>
                      </a: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8</a:t>
                      </a:r>
                      <a:endParaRPr lang="ko-KR" altLang="en-US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007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담황색 연질 캡슐</a:t>
                      </a:r>
                    </a:p>
                  </a:txBody>
                  <a:tcP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5</a:t>
                      </a:r>
                      <a:endParaRPr lang="ko-KR" altLang="en-US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314092"/>
                  </a:ext>
                </a:extLst>
              </a:tr>
              <a:tr h="26286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홍색 원형 정제</a:t>
                      </a: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6</a:t>
                      </a:r>
                      <a:endParaRPr lang="ko-KR" altLang="en-US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079939"/>
                  </a:ext>
                </a:extLst>
              </a:tr>
            </a:tbl>
          </a:graphicData>
        </a:graphic>
      </p:graphicFrame>
      <p:sp>
        <p:nvSpPr>
          <p:cNvPr id="27" name="순서도: 연결자 26">
            <a:extLst>
              <a:ext uri="{FF2B5EF4-FFF2-40B4-BE49-F238E27FC236}">
                <a16:creationId xmlns:a16="http://schemas.microsoft.com/office/drawing/2014/main" id="{EA3255C2-5C87-5B92-5DF1-E3888D2C285E}"/>
              </a:ext>
            </a:extLst>
          </p:cNvPr>
          <p:cNvSpPr/>
          <p:nvPr/>
        </p:nvSpPr>
        <p:spPr>
          <a:xfrm>
            <a:off x="663528" y="2579557"/>
            <a:ext cx="1570372" cy="1750665"/>
          </a:xfrm>
          <a:prstGeom prst="flowChartConnector">
            <a:avLst/>
          </a:prstGeom>
          <a:noFill/>
          <a:ln w="76200">
            <a:solidFill>
              <a:srgbClr val="D1C6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6F08C1-27A3-81B6-36E7-86A09615340B}"/>
              </a:ext>
            </a:extLst>
          </p:cNvPr>
          <p:cNvSpPr txBox="1"/>
          <p:nvPr/>
        </p:nvSpPr>
        <p:spPr>
          <a:xfrm>
            <a:off x="1891728" y="5144934"/>
            <a:ext cx="111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Source Sans"/>
              </a:rPr>
              <a:t>43.94%</a:t>
            </a:r>
            <a:endParaRPr lang="ko-KR" altLang="en-US" sz="2400" b="1" dirty="0">
              <a:latin typeface="Source Sans"/>
            </a:endParaRPr>
          </a:p>
        </p:txBody>
      </p:sp>
      <p:sp>
        <p:nvSpPr>
          <p:cNvPr id="44" name="순서도: 연결자 43">
            <a:extLst>
              <a:ext uri="{FF2B5EF4-FFF2-40B4-BE49-F238E27FC236}">
                <a16:creationId xmlns:a16="http://schemas.microsoft.com/office/drawing/2014/main" id="{1B2CCB8C-3026-24B7-B592-FE178608EE4B}"/>
              </a:ext>
            </a:extLst>
          </p:cNvPr>
          <p:cNvSpPr/>
          <p:nvPr/>
        </p:nvSpPr>
        <p:spPr>
          <a:xfrm>
            <a:off x="6133534" y="1478615"/>
            <a:ext cx="847725" cy="1041383"/>
          </a:xfrm>
          <a:prstGeom prst="flowChartConnector">
            <a:avLst/>
          </a:prstGeom>
          <a:noFill/>
          <a:ln w="76200">
            <a:solidFill>
              <a:srgbClr val="D1C6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678307-35EC-6AEF-FA50-D3AF3859B044}"/>
              </a:ext>
            </a:extLst>
          </p:cNvPr>
          <p:cNvSpPr txBox="1"/>
          <p:nvPr/>
        </p:nvSpPr>
        <p:spPr>
          <a:xfrm>
            <a:off x="5929526" y="5059209"/>
            <a:ext cx="111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Source Sans"/>
              </a:rPr>
              <a:t>73.34%</a:t>
            </a:r>
            <a:endParaRPr lang="ko-KR" altLang="en-US" sz="2400" b="1" dirty="0">
              <a:latin typeface="Source Sans"/>
            </a:endParaRPr>
          </a:p>
        </p:txBody>
      </p:sp>
      <p:sp>
        <p:nvSpPr>
          <p:cNvPr id="51" name="순서도: 연결자 50">
            <a:extLst>
              <a:ext uri="{FF2B5EF4-FFF2-40B4-BE49-F238E27FC236}">
                <a16:creationId xmlns:a16="http://schemas.microsoft.com/office/drawing/2014/main" id="{60324ABA-5587-DF9F-4DA4-885510B7D778}"/>
              </a:ext>
            </a:extLst>
          </p:cNvPr>
          <p:cNvSpPr/>
          <p:nvPr/>
        </p:nvSpPr>
        <p:spPr>
          <a:xfrm>
            <a:off x="10360383" y="1401325"/>
            <a:ext cx="1274457" cy="1186914"/>
          </a:xfrm>
          <a:prstGeom prst="flowChartConnector">
            <a:avLst/>
          </a:prstGeom>
          <a:noFill/>
          <a:ln w="76200">
            <a:solidFill>
              <a:srgbClr val="D1C6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82484E8-B5A4-EFC7-BBD6-4D325BA0AA39}"/>
              </a:ext>
            </a:extLst>
          </p:cNvPr>
          <p:cNvSpPr txBox="1"/>
          <p:nvPr/>
        </p:nvSpPr>
        <p:spPr>
          <a:xfrm>
            <a:off x="527678" y="2210225"/>
            <a:ext cx="2589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b="1" dirty="0" err="1">
                <a:solidFill>
                  <a:srgbClr val="D1C6AE"/>
                </a:solidFill>
              </a:rPr>
              <a:t>미황색</a:t>
            </a:r>
            <a:r>
              <a:rPr lang="ko-KR" altLang="en-US" b="1" dirty="0">
                <a:solidFill>
                  <a:srgbClr val="D1C6AE"/>
                </a:solidFill>
              </a:rPr>
              <a:t> 투명 연질 캡슐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A0F3DC-8BA4-A056-DD0F-986A9C4E9093}"/>
              </a:ext>
            </a:extLst>
          </p:cNvPr>
          <p:cNvSpPr txBox="1"/>
          <p:nvPr/>
        </p:nvSpPr>
        <p:spPr>
          <a:xfrm>
            <a:off x="4581484" y="2394891"/>
            <a:ext cx="234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b="1" dirty="0">
                <a:solidFill>
                  <a:srgbClr val="D1C6AE"/>
                </a:solidFill>
              </a:rPr>
              <a:t>담황색 연질 캡슐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ECA5C1-644E-6081-ABBB-F5D3E244621F}"/>
              </a:ext>
            </a:extLst>
          </p:cNvPr>
          <p:cNvSpPr txBox="1"/>
          <p:nvPr/>
        </p:nvSpPr>
        <p:spPr>
          <a:xfrm>
            <a:off x="8695065" y="2372120"/>
            <a:ext cx="234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b="1" dirty="0">
                <a:solidFill>
                  <a:srgbClr val="D1C6AE"/>
                </a:solidFill>
              </a:rPr>
              <a:t>홍색 원형 정제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E006264-2058-380D-6170-B9442B81AFFC}"/>
              </a:ext>
            </a:extLst>
          </p:cNvPr>
          <p:cNvSpPr txBox="1"/>
          <p:nvPr/>
        </p:nvSpPr>
        <p:spPr>
          <a:xfrm>
            <a:off x="10044664" y="5059208"/>
            <a:ext cx="111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Source Sans"/>
              </a:rPr>
              <a:t>75.72%</a:t>
            </a:r>
            <a:endParaRPr lang="ko-KR" altLang="en-US" sz="2400" b="1" dirty="0">
              <a:latin typeface="Source Sans"/>
            </a:endParaRPr>
          </a:p>
        </p:txBody>
      </p:sp>
    </p:spTree>
    <p:extLst>
      <p:ext uri="{BB962C8B-B14F-4D97-AF65-F5344CB8AC3E}">
        <p14:creationId xmlns:p14="http://schemas.microsoft.com/office/powerpoint/2010/main" val="1967721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E5A80-F251-9F3A-0B7B-212269774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FEC933D4-4E76-49BD-CD2C-EEABA8C93E3B}"/>
              </a:ext>
            </a:extLst>
          </p:cNvPr>
          <p:cNvPicPr preferRelativeResize="0">
            <a:picLocks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569" y="912599"/>
            <a:ext cx="2880000" cy="342000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A305896D-7A86-F742-C1A2-0F4070C9C765}"/>
              </a:ext>
            </a:extLst>
          </p:cNvPr>
          <p:cNvSpPr/>
          <p:nvPr/>
        </p:nvSpPr>
        <p:spPr>
          <a:xfrm>
            <a:off x="1613753" y="4330222"/>
            <a:ext cx="1934345" cy="2160000"/>
          </a:xfrm>
          <a:prstGeom prst="rect">
            <a:avLst/>
          </a:prstGeom>
          <a:solidFill>
            <a:schemeClr val="accent3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9F99DB47-0B36-B948-94B4-56614FFEF29C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613753" y="4330222"/>
            <a:ext cx="1933200" cy="2160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74A4087-A1D4-AB8E-4927-B5CF556173DB}"/>
              </a:ext>
            </a:extLst>
          </p:cNvPr>
          <p:cNvPicPr preferRelativeResize="0">
            <a:picLocks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274" y="893840"/>
            <a:ext cx="2880000" cy="342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C5ABE3-6D85-3EF5-D71F-A507A128FA78}"/>
              </a:ext>
            </a:extLst>
          </p:cNvPr>
          <p:cNvSpPr txBox="1"/>
          <p:nvPr/>
        </p:nvSpPr>
        <p:spPr>
          <a:xfrm>
            <a:off x="583709" y="345588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6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4CA604A-75E5-DDCC-DB18-C0A1F9B506E3}"/>
              </a:ext>
            </a:extLst>
          </p:cNvPr>
          <p:cNvCxnSpPr>
            <a:cxnSpLocks/>
          </p:cNvCxnSpPr>
          <p:nvPr/>
        </p:nvCxnSpPr>
        <p:spPr>
          <a:xfrm>
            <a:off x="152400" y="187778"/>
            <a:ext cx="1203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9BE6F40-1275-5108-B973-79CABF48FD4C}"/>
              </a:ext>
            </a:extLst>
          </p:cNvPr>
          <p:cNvSpPr txBox="1"/>
          <p:nvPr/>
        </p:nvSpPr>
        <p:spPr>
          <a:xfrm>
            <a:off x="1676400" y="330200"/>
            <a:ext cx="10530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Submission 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데이터 검증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score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0.75 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미만 데이터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(58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08537FB-3AAE-B507-C0F2-CD24A0FFB675}"/>
              </a:ext>
            </a:extLst>
          </p:cNvPr>
          <p:cNvCxnSpPr>
            <a:cxnSpLocks/>
          </p:cNvCxnSpPr>
          <p:nvPr/>
        </p:nvCxnSpPr>
        <p:spPr>
          <a:xfrm>
            <a:off x="7319740" y="194581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DEBA003-ACAF-0638-1F4B-CF1BF5FCEF14}"/>
              </a:ext>
            </a:extLst>
          </p:cNvPr>
          <p:cNvGraphicFramePr>
            <a:graphicFrameLocks noGrp="1"/>
          </p:cNvGraphicFramePr>
          <p:nvPr/>
        </p:nvGraphicFramePr>
        <p:xfrm>
          <a:off x="4021274" y="890013"/>
          <a:ext cx="367329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3907">
                  <a:extLst>
                    <a:ext uri="{9D8B030D-6E8A-4147-A177-3AD203B41FA5}">
                      <a16:colId xmlns:a16="http://schemas.microsoft.com/office/drawing/2014/main" val="3218164940"/>
                    </a:ext>
                  </a:extLst>
                </a:gridCol>
                <a:gridCol w="1589388">
                  <a:extLst>
                    <a:ext uri="{9D8B030D-6E8A-4147-A177-3AD203B41FA5}">
                      <a16:colId xmlns:a16="http://schemas.microsoft.com/office/drawing/2014/main" val="1441507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카테고리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알약 </a:t>
                      </a:r>
                      <a:r>
                        <a:rPr lang="en-US" altLang="ko-KR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1</a:t>
                      </a:r>
                      <a:r>
                        <a:rPr lang="ko-KR" altLang="en-US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개 판정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068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담황색 코팅 정제</a:t>
                      </a: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3</a:t>
                      </a:r>
                      <a:endParaRPr lang="ko-KR" altLang="en-US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007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흰색 경질 캡슐</a:t>
                      </a:r>
                    </a:p>
                  </a:txBody>
                  <a:tcP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2</a:t>
                      </a:r>
                      <a:endParaRPr lang="ko-KR" altLang="en-US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</a:txBody>
                  <a:tcPr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314092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266724-6B77-F3C6-0DD9-FD9127AE0CD3}"/>
              </a:ext>
            </a:extLst>
          </p:cNvPr>
          <p:cNvSpPr/>
          <p:nvPr/>
        </p:nvSpPr>
        <p:spPr>
          <a:xfrm>
            <a:off x="8167397" y="4330222"/>
            <a:ext cx="1934345" cy="2160000"/>
          </a:xfrm>
          <a:prstGeom prst="rect">
            <a:avLst/>
          </a:prstGeom>
          <a:solidFill>
            <a:schemeClr val="accent3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ECF6F6-68B5-0745-9A64-9EC9E6979F5A}"/>
              </a:ext>
            </a:extLst>
          </p:cNvPr>
          <p:cNvSpPr txBox="1"/>
          <p:nvPr/>
        </p:nvSpPr>
        <p:spPr>
          <a:xfrm>
            <a:off x="2430178" y="5059209"/>
            <a:ext cx="111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Source Sans"/>
              </a:rPr>
              <a:t>52.07%</a:t>
            </a:r>
            <a:endParaRPr lang="ko-KR" altLang="en-US" sz="2400" b="1" dirty="0">
              <a:latin typeface="Source Sans"/>
            </a:endParaRPr>
          </a:p>
        </p:txBody>
      </p:sp>
      <p:sp>
        <p:nvSpPr>
          <p:cNvPr id="25" name="순서도: 연결자 24">
            <a:extLst>
              <a:ext uri="{FF2B5EF4-FFF2-40B4-BE49-F238E27FC236}">
                <a16:creationId xmlns:a16="http://schemas.microsoft.com/office/drawing/2014/main" id="{6C78726D-372C-EA3E-8F7B-A0911332BC0D}"/>
              </a:ext>
            </a:extLst>
          </p:cNvPr>
          <p:cNvSpPr/>
          <p:nvPr/>
        </p:nvSpPr>
        <p:spPr>
          <a:xfrm>
            <a:off x="2362670" y="1305834"/>
            <a:ext cx="1570372" cy="1054252"/>
          </a:xfrm>
          <a:prstGeom prst="flowChartConnector">
            <a:avLst/>
          </a:prstGeom>
          <a:noFill/>
          <a:ln w="76200">
            <a:solidFill>
              <a:srgbClr val="D1C6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96C882-B50C-2A0E-3666-675CA98AF6C2}"/>
              </a:ext>
            </a:extLst>
          </p:cNvPr>
          <p:cNvSpPr txBox="1"/>
          <p:nvPr/>
        </p:nvSpPr>
        <p:spPr>
          <a:xfrm>
            <a:off x="1141274" y="2566279"/>
            <a:ext cx="2589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b="1" dirty="0">
                <a:solidFill>
                  <a:srgbClr val="D1C6AE"/>
                </a:solidFill>
              </a:rPr>
              <a:t>담황색 코팅 정제</a:t>
            </a:r>
          </a:p>
        </p:txBody>
      </p:sp>
      <p:sp>
        <p:nvSpPr>
          <p:cNvPr id="32" name="순서도: 연결자 31">
            <a:extLst>
              <a:ext uri="{FF2B5EF4-FFF2-40B4-BE49-F238E27FC236}">
                <a16:creationId xmlns:a16="http://schemas.microsoft.com/office/drawing/2014/main" id="{FE5CC334-DDC2-28A0-EEC8-D0498A41E1F6}"/>
              </a:ext>
            </a:extLst>
          </p:cNvPr>
          <p:cNvSpPr/>
          <p:nvPr/>
        </p:nvSpPr>
        <p:spPr>
          <a:xfrm>
            <a:off x="9535631" y="2360086"/>
            <a:ext cx="941869" cy="1726139"/>
          </a:xfrm>
          <a:prstGeom prst="flowChartConnector">
            <a:avLst/>
          </a:prstGeom>
          <a:noFill/>
          <a:ln w="76200">
            <a:solidFill>
              <a:srgbClr val="D1C6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7CCCD4-D83F-F9F6-4DC7-C848A2930C58}"/>
              </a:ext>
            </a:extLst>
          </p:cNvPr>
          <p:cNvSpPr txBox="1"/>
          <p:nvPr/>
        </p:nvSpPr>
        <p:spPr>
          <a:xfrm>
            <a:off x="7839956" y="2381613"/>
            <a:ext cx="2589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b="1" dirty="0">
                <a:solidFill>
                  <a:srgbClr val="D1C6AE"/>
                </a:solidFill>
              </a:rPr>
              <a:t>흰색 경질 캡슐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5D13082D-4EEB-893F-678C-887B97EE6E6F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168542" y="4330222"/>
            <a:ext cx="1933200" cy="21600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9FEC6DF-4ED6-76C9-BD0D-81794AA194F3}"/>
              </a:ext>
            </a:extLst>
          </p:cNvPr>
          <p:cNvSpPr txBox="1"/>
          <p:nvPr/>
        </p:nvSpPr>
        <p:spPr>
          <a:xfrm>
            <a:off x="9035672" y="5059208"/>
            <a:ext cx="111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latin typeface="Source Sans"/>
              </a:rPr>
              <a:t>43.07%</a:t>
            </a:r>
            <a:endParaRPr lang="ko-KR" altLang="en-US" sz="2400" b="1" dirty="0">
              <a:latin typeface="Source Sans"/>
            </a:endParaRPr>
          </a:p>
        </p:txBody>
      </p:sp>
    </p:spTree>
    <p:extLst>
      <p:ext uri="{BB962C8B-B14F-4D97-AF65-F5344CB8AC3E}">
        <p14:creationId xmlns:p14="http://schemas.microsoft.com/office/powerpoint/2010/main" val="3126962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8E4C7-01AE-EF29-65D1-1B37EEF72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19DC0E4-01E4-4B00-3322-9A404149EEC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9524" y="0"/>
            <a:ext cx="4562475" cy="6858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704AA63-EEFA-FAD0-0098-057E19F4737F}"/>
              </a:ext>
            </a:extLst>
          </p:cNvPr>
          <p:cNvSpPr/>
          <p:nvPr/>
        </p:nvSpPr>
        <p:spPr>
          <a:xfrm>
            <a:off x="446566" y="809509"/>
            <a:ext cx="7182957" cy="262901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7C7C7A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모델 성능을 개선하기 위해서는 증강 기법을 색상마다 다르게 시도</a:t>
            </a:r>
            <a:endParaRPr lang="en-US" altLang="ko-KR" sz="2000" dirty="0">
              <a:solidFill>
                <a:srgbClr val="7C7C7A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DEB1FB-7FAB-C5D4-FDED-76DFF5CA62C4}"/>
              </a:ext>
            </a:extLst>
          </p:cNvPr>
          <p:cNvSpPr txBox="1"/>
          <p:nvPr/>
        </p:nvSpPr>
        <p:spPr>
          <a:xfrm>
            <a:off x="583709" y="345588"/>
            <a:ext cx="89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7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B1AE2D4-C056-ABD7-73CA-A7BE9FEE42EE}"/>
              </a:ext>
            </a:extLst>
          </p:cNvPr>
          <p:cNvCxnSpPr>
            <a:cxnSpLocks/>
          </p:cNvCxnSpPr>
          <p:nvPr/>
        </p:nvCxnSpPr>
        <p:spPr>
          <a:xfrm>
            <a:off x="152400" y="187778"/>
            <a:ext cx="1203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B668038-BA19-4745-17D4-FE009804BC68}"/>
              </a:ext>
            </a:extLst>
          </p:cNvPr>
          <p:cNvSpPr txBox="1"/>
          <p:nvPr/>
        </p:nvSpPr>
        <p:spPr>
          <a:xfrm>
            <a:off x="1676400" y="330200"/>
            <a:ext cx="26853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성능 개선 전략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050D79F-1C41-771B-9B94-CB1B69E1A4C3}"/>
              </a:ext>
            </a:extLst>
          </p:cNvPr>
          <p:cNvCxnSpPr>
            <a:cxnSpLocks/>
          </p:cNvCxnSpPr>
          <p:nvPr/>
        </p:nvCxnSpPr>
        <p:spPr>
          <a:xfrm>
            <a:off x="8754840" y="194581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C07888-8966-EF07-F9F3-A8E1E2BC1A45}"/>
              </a:ext>
            </a:extLst>
          </p:cNvPr>
          <p:cNvSpPr/>
          <p:nvPr/>
        </p:nvSpPr>
        <p:spPr>
          <a:xfrm>
            <a:off x="446566" y="3616624"/>
            <a:ext cx="7182957" cy="2629016"/>
          </a:xfrm>
          <a:prstGeom prst="rect">
            <a:avLst/>
          </a:prstGeom>
          <a:solidFill>
            <a:srgbClr val="7C7C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Tx/>
              <a:buChar char="-"/>
            </a:pPr>
            <a:r>
              <a:rPr lang="ko-KR" altLang="en-US" sz="2000" dirty="0">
                <a:solidFill>
                  <a:schemeClr val="bg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흰색 알약 </a:t>
            </a:r>
            <a:r>
              <a:rPr lang="en-US" altLang="ko-KR" sz="2000" dirty="0">
                <a:solidFill>
                  <a:schemeClr val="bg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: </a:t>
            </a:r>
            <a:r>
              <a:rPr lang="ko-KR" altLang="en-US" sz="2000" dirty="0">
                <a:solidFill>
                  <a:schemeClr val="bg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대비 </a:t>
            </a:r>
            <a:r>
              <a:rPr lang="en-US" altLang="ko-KR" sz="2000" dirty="0">
                <a:solidFill>
                  <a:schemeClr val="bg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/ </a:t>
            </a:r>
            <a:r>
              <a:rPr lang="ko-KR" altLang="en-US" sz="2000" dirty="0" err="1">
                <a:solidFill>
                  <a:schemeClr val="bg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샤프닝</a:t>
            </a:r>
            <a:r>
              <a:rPr lang="ko-KR" altLang="en-US" sz="2000" dirty="0">
                <a:solidFill>
                  <a:schemeClr val="bg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각인 강조</a:t>
            </a:r>
            <a:endParaRPr lang="en-US" altLang="ko-KR" sz="2000" dirty="0">
              <a:solidFill>
                <a:schemeClr val="bg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285750" indent="-285750" algn="ctr">
              <a:buFontTx/>
              <a:buChar char="-"/>
            </a:pPr>
            <a:r>
              <a:rPr lang="ko-KR" altLang="en-US" sz="2000" dirty="0">
                <a:solidFill>
                  <a:schemeClr val="bg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황색 알약 </a:t>
            </a:r>
            <a:r>
              <a:rPr lang="en-US" altLang="ko-KR" sz="2000" dirty="0">
                <a:solidFill>
                  <a:schemeClr val="bg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:</a:t>
            </a:r>
            <a:r>
              <a:rPr lang="ko-KR" altLang="en-US" sz="2000" dirty="0">
                <a:solidFill>
                  <a:schemeClr val="bg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HSV</a:t>
            </a:r>
            <a:r>
              <a:rPr lang="ko-KR" altLang="en-US" sz="2000" dirty="0">
                <a:solidFill>
                  <a:schemeClr val="bg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색 공간 변환</a:t>
            </a:r>
            <a:r>
              <a:rPr lang="en-US" altLang="ko-KR" sz="2000" dirty="0">
                <a:solidFill>
                  <a:schemeClr val="bg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</a:t>
            </a:r>
            <a:r>
              <a:rPr lang="ko-KR" altLang="en-US" sz="2000" dirty="0">
                <a:solidFill>
                  <a:schemeClr val="bg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채도 강화</a:t>
            </a:r>
            <a:endParaRPr lang="en-US" altLang="ko-KR" sz="2000" dirty="0">
              <a:solidFill>
                <a:schemeClr val="bg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285750" indent="-285750" algn="ctr">
              <a:buFontTx/>
              <a:buChar char="-"/>
            </a:pPr>
            <a:r>
              <a:rPr lang="ko-KR" altLang="en-US" sz="2000" dirty="0">
                <a:solidFill>
                  <a:schemeClr val="bg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홍색 알약 </a:t>
            </a:r>
            <a:r>
              <a:rPr lang="en-US" altLang="ko-KR" sz="2000" dirty="0">
                <a:solidFill>
                  <a:schemeClr val="bg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: RED </a:t>
            </a:r>
            <a:r>
              <a:rPr lang="ko-KR" altLang="en-US" sz="2000" dirty="0">
                <a:solidFill>
                  <a:schemeClr val="bg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채널 강화</a:t>
            </a:r>
            <a:r>
              <a:rPr lang="en-US" altLang="ko-KR" sz="2000" dirty="0">
                <a:solidFill>
                  <a:schemeClr val="bg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십자 각인 패턴 </a:t>
            </a:r>
            <a:r>
              <a:rPr lang="ko-KR" altLang="en-US" sz="2000" dirty="0">
                <a:solidFill>
                  <a:srgbClr val="7C7C7A"/>
                </a:solidFill>
              </a:rPr>
              <a:t>강조</a:t>
            </a:r>
          </a:p>
        </p:txBody>
      </p:sp>
    </p:spTree>
    <p:extLst>
      <p:ext uri="{BB962C8B-B14F-4D97-AF65-F5344CB8AC3E}">
        <p14:creationId xmlns:p14="http://schemas.microsoft.com/office/powerpoint/2010/main" val="3237330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D2DC1-96F6-2465-CBF9-D5EA940A5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101491-6BA9-31A3-911F-010D2CDAFDF2}"/>
              </a:ext>
            </a:extLst>
          </p:cNvPr>
          <p:cNvSpPr txBox="1"/>
          <p:nvPr/>
        </p:nvSpPr>
        <p:spPr>
          <a:xfrm>
            <a:off x="595135" y="76200"/>
            <a:ext cx="11001730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700" dirty="0">
                <a:latin typeface="+mn-ea"/>
              </a:rPr>
              <a:t>[         ]</a:t>
            </a:r>
            <a:endParaRPr lang="ko-KR" altLang="en-US" sz="28700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5BD7A81-6BFA-C82D-1A69-8849118E176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333" y="0"/>
            <a:ext cx="457333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5B5B14-7202-C29C-5A76-08BC55822F80}"/>
              </a:ext>
            </a:extLst>
          </p:cNvPr>
          <p:cNvSpPr txBox="1"/>
          <p:nvPr/>
        </p:nvSpPr>
        <p:spPr>
          <a:xfrm>
            <a:off x="3733814" y="1730498"/>
            <a:ext cx="47243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spc="-3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감사합니다</a:t>
            </a:r>
            <a:r>
              <a:rPr lang="en-US" altLang="ko-KR" sz="7200" spc="-3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.</a:t>
            </a:r>
            <a:endParaRPr lang="ko-KR" altLang="en-US" sz="7200" spc="-30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785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111 고르곤졸라">
      <a:dk1>
        <a:srgbClr val="3A3838"/>
      </a:dk1>
      <a:lt1>
        <a:srgbClr val="FFFFFF"/>
      </a:lt1>
      <a:dk2>
        <a:srgbClr val="5D5B5B"/>
      </a:dk2>
      <a:lt2>
        <a:srgbClr val="F2F2F2"/>
      </a:lt2>
      <a:accent1>
        <a:srgbClr val="5F5F5D"/>
      </a:accent1>
      <a:accent2>
        <a:srgbClr val="7C7C7A"/>
      </a:accent2>
      <a:accent3>
        <a:srgbClr val="BEB7B1"/>
      </a:accent3>
      <a:accent4>
        <a:srgbClr val="3D3A35"/>
      </a:accent4>
      <a:accent5>
        <a:srgbClr val="D1C6AE"/>
      </a:accent5>
      <a:accent6>
        <a:srgbClr val="DFD8C7"/>
      </a:accent6>
      <a:hlink>
        <a:srgbClr val="757070"/>
      </a:hlink>
      <a:folHlink>
        <a:srgbClr val="757070"/>
      </a:folHlink>
    </a:clrScheme>
    <a:fontScheme name="Pretendard ExtraBold">
      <a:majorFont>
        <a:latin typeface="Montserrat Black"/>
        <a:ea typeface="Pretendard ExtraBold"/>
        <a:cs typeface=""/>
      </a:majorFont>
      <a:minorFont>
        <a:latin typeface="Montserrat SemiBol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232</Words>
  <Application>Microsoft Office PowerPoint</Application>
  <PresentationFormat>와이드스크린</PresentationFormat>
  <Paragraphs>73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Noto Sans KR Black</vt:lpstr>
      <vt:lpstr>Noto Sans KR DemiLight</vt:lpstr>
      <vt:lpstr>Noto Serif KR Black</vt:lpstr>
      <vt:lpstr>Source Sans</vt:lpstr>
      <vt:lpstr>Arial</vt:lpstr>
      <vt:lpstr>Montserrat Black</vt:lpstr>
      <vt:lpstr>Montserrat SemiBold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우정 장</cp:lastModifiedBy>
  <cp:revision>35</cp:revision>
  <dcterms:created xsi:type="dcterms:W3CDTF">2021-10-22T06:13:27Z</dcterms:created>
  <dcterms:modified xsi:type="dcterms:W3CDTF">2025-12-22T09:37:25Z</dcterms:modified>
</cp:coreProperties>
</file>