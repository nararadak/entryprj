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5F5F5D"/>
    <a:srgbClr val="DFD8C7"/>
    <a:srgbClr val="7C7C7A"/>
    <a:srgbClr val="E6E5E3"/>
    <a:srgbClr val="E5E2E0"/>
    <a:srgbClr val="BEB7B1"/>
    <a:srgbClr val="3D3A35"/>
    <a:srgbClr val="C3C1C4"/>
    <a:srgbClr val="52525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DA2E-5F93-4750-C35F-910A5A43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DCE83897-5218-6F46-F20B-7550E42C0769}"/>
              </a:ext>
            </a:extLst>
          </p:cNvPr>
          <p:cNvSpPr/>
          <p:nvPr/>
        </p:nvSpPr>
        <p:spPr>
          <a:xfrm>
            <a:off x="6258416" y="3868124"/>
            <a:ext cx="5405030" cy="2370285"/>
          </a:xfrm>
          <a:prstGeom prst="rect">
            <a:avLst/>
          </a:prstGeom>
          <a:solidFill>
            <a:srgbClr val="E5E2E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1CD9DAE-D6C1-2B67-A5D0-206D20690A63}"/>
              </a:ext>
            </a:extLst>
          </p:cNvPr>
          <p:cNvGraphicFramePr>
            <a:graphicFrameLocks noGrp="1"/>
          </p:cNvGraphicFramePr>
          <p:nvPr/>
        </p:nvGraphicFramePr>
        <p:xfrm>
          <a:off x="6250256" y="3850540"/>
          <a:ext cx="5413190" cy="2370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2638">
                  <a:extLst>
                    <a:ext uri="{9D8B030D-6E8A-4147-A177-3AD203B41FA5}">
                      <a16:colId xmlns:a16="http://schemas.microsoft.com/office/drawing/2014/main" val="2870540225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04156018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1439812862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47450063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4284352567"/>
                    </a:ext>
                  </a:extLst>
                </a:gridCol>
              </a:tblGrid>
              <a:tr h="4229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92969"/>
                  </a:ext>
                </a:extLst>
              </a:tr>
              <a:tr h="1947341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•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자료 정리 취합</a:t>
                      </a:r>
                      <a:endParaRPr lang="en-US" altLang="ko-KR" sz="12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•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발표 및 시뮬레이션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en-US" altLang="ko-KR" sz="105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9529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2E0F83-D542-6D80-D29D-582A5059AF6A}"/>
              </a:ext>
            </a:extLst>
          </p:cNvPr>
          <p:cNvSpPr/>
          <p:nvPr/>
        </p:nvSpPr>
        <p:spPr>
          <a:xfrm>
            <a:off x="562525" y="3868124"/>
            <a:ext cx="5405030" cy="2370285"/>
          </a:xfrm>
          <a:prstGeom prst="rect">
            <a:avLst/>
          </a:prstGeom>
          <a:solidFill>
            <a:srgbClr val="7C7C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72D26F6-F5F1-6F5D-B174-CD92F23745D6}"/>
              </a:ext>
            </a:extLst>
          </p:cNvPr>
          <p:cNvGraphicFramePr>
            <a:graphicFrameLocks noGrp="1"/>
          </p:cNvGraphicFramePr>
          <p:nvPr/>
        </p:nvGraphicFramePr>
        <p:xfrm>
          <a:off x="549070" y="3868124"/>
          <a:ext cx="5413190" cy="2370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2638">
                  <a:extLst>
                    <a:ext uri="{9D8B030D-6E8A-4147-A177-3AD203B41FA5}">
                      <a16:colId xmlns:a16="http://schemas.microsoft.com/office/drawing/2014/main" val="2870540225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04156018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1439812862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47450063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4284352567"/>
                    </a:ext>
                  </a:extLst>
                </a:gridCol>
              </a:tblGrid>
              <a:tr h="4229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12.15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12.16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12.17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12.18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12.19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7292969"/>
                  </a:ext>
                </a:extLst>
              </a:tr>
              <a:tr h="1947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RCNN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학습 및 확인 </a:t>
                      </a:r>
                      <a:endParaRPr lang="en-US" altLang="ko-KR" sz="1400" kern="12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스트림밋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서버 구축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프롬프트 엔지니어링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스트림밋과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GPT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프롬프트 엔지니어링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자료 제작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리포트 자체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pdf, </a:t>
                      </a:r>
                      <a:r>
                        <a:rPr lang="en-US" altLang="ko-KR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eda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구현 확인</a:t>
                      </a:r>
                      <a:endParaRPr lang="ko-KR" altLang="en-US" sz="1400" kern="12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코드 통합 테스트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•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리포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stream 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으로 구현 확인 </a:t>
                      </a:r>
                      <a:endParaRPr lang="en-US" altLang="ko-KR" sz="1400" kern="12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195298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566F6A-4F78-7551-6C27-63B39701CC69}"/>
              </a:ext>
            </a:extLst>
          </p:cNvPr>
          <p:cNvSpPr/>
          <p:nvPr/>
        </p:nvSpPr>
        <p:spPr>
          <a:xfrm>
            <a:off x="6250258" y="1216875"/>
            <a:ext cx="5405030" cy="2370285"/>
          </a:xfrm>
          <a:prstGeom prst="rect">
            <a:avLst/>
          </a:prstGeom>
          <a:solidFill>
            <a:srgbClr val="3D3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1038E98-8181-695B-1076-0F1D1F3896A9}"/>
              </a:ext>
            </a:extLst>
          </p:cNvPr>
          <p:cNvGraphicFramePr>
            <a:graphicFrameLocks noGrp="1"/>
          </p:cNvGraphicFramePr>
          <p:nvPr/>
        </p:nvGraphicFramePr>
        <p:xfrm>
          <a:off x="6250256" y="1216875"/>
          <a:ext cx="5413190" cy="2370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2638">
                  <a:extLst>
                    <a:ext uri="{9D8B030D-6E8A-4147-A177-3AD203B41FA5}">
                      <a16:colId xmlns:a16="http://schemas.microsoft.com/office/drawing/2014/main" val="2870540225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04156018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1439812862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47450063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4284352567"/>
                    </a:ext>
                  </a:extLst>
                </a:gridCol>
              </a:tblGrid>
              <a:tr h="4229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12.08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12.09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12.10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12.11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E5E2E0"/>
                          </a:solidFill>
                        </a:rPr>
                        <a:t>12.12</a:t>
                      </a:r>
                      <a:endParaRPr lang="ko-KR" altLang="en-US" dirty="0">
                        <a:solidFill>
                          <a:srgbClr val="E5E2E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7292969"/>
                  </a:ext>
                </a:extLst>
              </a:tr>
              <a:tr h="1947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이미지와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AI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허브 자료 비교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kern="12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체크섬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유사도 매칭</a:t>
                      </a:r>
                      <a:endParaRPr lang="en-US" altLang="ko-KR" sz="1400" kern="12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이미지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+ </a:t>
                      </a:r>
                      <a:r>
                        <a:rPr lang="ko-KR" altLang="en-US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어노테이션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전수 </a:t>
                      </a:r>
                      <a:r>
                        <a:rPr lang="en-US" altLang="ko-KR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bbox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오버레이 확인</a:t>
                      </a:r>
                      <a:r>
                        <a:rPr lang="en-US" altLang="ko-KR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및 좌표 수정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이미지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+ </a:t>
                      </a:r>
                      <a:r>
                        <a:rPr lang="ko-KR" altLang="en-US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어노테이션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전수 </a:t>
                      </a:r>
                      <a:r>
                        <a:rPr lang="en-US" altLang="ko-KR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bbox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오버레이 확인</a:t>
                      </a:r>
                      <a:r>
                        <a:rPr lang="en-US" altLang="ko-KR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및 좌표 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이미지 구간별 </a:t>
                      </a: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Yolo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모델 학습</a:t>
                      </a:r>
                      <a:endParaRPr lang="ko-KR" altLang="en-US" sz="1400" kern="12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 err="1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케글</a:t>
                      </a:r>
                      <a:r>
                        <a:rPr lang="ko-KR" altLang="en-US" sz="14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제출</a:t>
                      </a:r>
                      <a:endParaRPr lang="en-US" altLang="ko-KR" sz="14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•  Score 0.982 </a:t>
                      </a:r>
                      <a:r>
                        <a:rPr lang="ko-KR" altLang="en-US" sz="1400" kern="1200" dirty="0">
                          <a:solidFill>
                            <a:srgbClr val="E5E2E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점 달성</a:t>
                      </a:r>
                      <a:endParaRPr lang="en-US" altLang="ko-KR" sz="1400" kern="1200" dirty="0">
                        <a:solidFill>
                          <a:srgbClr val="E5E2E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19529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8147BAFF-928D-EF47-4DA6-B748F6F47041}"/>
              </a:ext>
            </a:extLst>
          </p:cNvPr>
          <p:cNvSpPr/>
          <p:nvPr/>
        </p:nvSpPr>
        <p:spPr>
          <a:xfrm>
            <a:off x="583709" y="1216875"/>
            <a:ext cx="5405030" cy="23702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3AE701EB-B29B-B547-A957-6ACB8D9030E5}"/>
              </a:ext>
            </a:extLst>
          </p:cNvPr>
          <p:cNvGraphicFramePr>
            <a:graphicFrameLocks noGrp="1"/>
          </p:cNvGraphicFramePr>
          <p:nvPr/>
        </p:nvGraphicFramePr>
        <p:xfrm>
          <a:off x="575547" y="1206407"/>
          <a:ext cx="5413190" cy="2370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2638">
                  <a:extLst>
                    <a:ext uri="{9D8B030D-6E8A-4147-A177-3AD203B41FA5}">
                      <a16:colId xmlns:a16="http://schemas.microsoft.com/office/drawing/2014/main" val="2870540225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04156018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1439812862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2047450063"/>
                    </a:ext>
                  </a:extLst>
                </a:gridCol>
                <a:gridCol w="1082638">
                  <a:extLst>
                    <a:ext uri="{9D8B030D-6E8A-4147-A177-3AD203B41FA5}">
                      <a16:colId xmlns:a16="http://schemas.microsoft.com/office/drawing/2014/main" val="4284352567"/>
                    </a:ext>
                  </a:extLst>
                </a:gridCol>
              </a:tblGrid>
              <a:tr h="4229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92969"/>
                  </a:ext>
                </a:extLst>
              </a:tr>
              <a:tr h="1947341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프로젝트 킥 오프</a:t>
                      </a:r>
                      <a:endParaRPr lang="en-US" altLang="ko-KR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데이터 준비</a:t>
                      </a:r>
                      <a:endParaRPr lang="en-US" altLang="ko-KR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환경구축</a:t>
                      </a:r>
                      <a:endParaRPr lang="en-US" altLang="ko-KR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• </a:t>
                      </a:r>
                      <a:r>
                        <a:rPr lang="ko-KR" altLang="en-US" sz="1400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베이스라인 구축</a:t>
                      </a:r>
                      <a:endParaRPr lang="en-US" altLang="ko-KR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05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9529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5E4D99-A31C-1513-F7B4-99512558FC96}"/>
              </a:ext>
            </a:extLst>
          </p:cNvPr>
          <p:cNvSpPr/>
          <p:nvPr/>
        </p:nvSpPr>
        <p:spPr>
          <a:xfrm>
            <a:off x="6269112" y="3177470"/>
            <a:ext cx="813806" cy="3908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E7CBCE-2807-EF13-8E65-110C9483C160}"/>
              </a:ext>
            </a:extLst>
          </p:cNvPr>
          <p:cNvSpPr txBox="1"/>
          <p:nvPr/>
        </p:nvSpPr>
        <p:spPr>
          <a:xfrm>
            <a:off x="583709" y="345588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4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E03003-4EBC-6A94-BA85-51C661A92509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4B84DA-2D77-6E31-A519-E9CC31BBFBF0}"/>
              </a:ext>
            </a:extLst>
          </p:cNvPr>
          <p:cNvSpPr txBox="1"/>
          <p:nvPr/>
        </p:nvSpPr>
        <p:spPr>
          <a:xfrm>
            <a:off x="1676400" y="330200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전체 일정표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0A2A1B6-8412-62C7-14B3-FB6571A46073}"/>
              </a:ext>
            </a:extLst>
          </p:cNvPr>
          <p:cNvCxnSpPr>
            <a:cxnSpLocks/>
          </p:cNvCxnSpPr>
          <p:nvPr/>
        </p:nvCxnSpPr>
        <p:spPr>
          <a:xfrm>
            <a:off x="4443190" y="185057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B70895-447A-342C-3D24-E4AF38C7BC63}"/>
              </a:ext>
            </a:extLst>
          </p:cNvPr>
          <p:cNvSpPr/>
          <p:nvPr/>
        </p:nvSpPr>
        <p:spPr>
          <a:xfrm>
            <a:off x="5156077" y="3167002"/>
            <a:ext cx="813806" cy="3908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37C825-47A8-1687-D82B-438F9A9379A6}"/>
              </a:ext>
            </a:extLst>
          </p:cNvPr>
          <p:cNvSpPr/>
          <p:nvPr/>
        </p:nvSpPr>
        <p:spPr>
          <a:xfrm>
            <a:off x="6247928" y="5828719"/>
            <a:ext cx="813806" cy="3908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956FCDA-DEA3-0E69-151C-D3E0CC8F63F3}"/>
              </a:ext>
            </a:extLst>
          </p:cNvPr>
          <p:cNvSpPr/>
          <p:nvPr/>
        </p:nvSpPr>
        <p:spPr>
          <a:xfrm>
            <a:off x="5134895" y="5828719"/>
            <a:ext cx="813806" cy="3908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304427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D885-AC57-54B7-F957-17157F19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AECAEBA-911B-AB80-AB34-CE8C184D87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678" y="914976"/>
            <a:ext cx="4851322" cy="54577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610135-07CC-25D1-0955-AA6BB144AD1F}"/>
              </a:ext>
            </a:extLst>
          </p:cNvPr>
          <p:cNvSpPr txBox="1"/>
          <p:nvPr/>
        </p:nvSpPr>
        <p:spPr>
          <a:xfrm>
            <a:off x="583709" y="345588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4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5658E4-880A-0663-9C96-CA4AE98CA53E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CC8019-ECD2-FD3D-E2E1-103D00EBE32B}"/>
              </a:ext>
            </a:extLst>
          </p:cNvPr>
          <p:cNvSpPr txBox="1"/>
          <p:nvPr/>
        </p:nvSpPr>
        <p:spPr>
          <a:xfrm>
            <a:off x="1676400" y="330200"/>
            <a:ext cx="61141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트러블 슈팅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(Issue &amp; Solution)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57FD829-DFE7-77A4-9DF3-4B90EBCC8DA0}"/>
              </a:ext>
            </a:extLst>
          </p:cNvPr>
          <p:cNvCxnSpPr>
            <a:cxnSpLocks/>
          </p:cNvCxnSpPr>
          <p:nvPr/>
        </p:nvCxnSpPr>
        <p:spPr>
          <a:xfrm>
            <a:off x="4443190" y="185057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갈매기형 수장 4">
            <a:extLst>
              <a:ext uri="{FF2B5EF4-FFF2-40B4-BE49-F238E27FC236}">
                <a16:creationId xmlns:a16="http://schemas.microsoft.com/office/drawing/2014/main" id="{48374411-798D-747E-FDB7-B5F6EBFFA061}"/>
              </a:ext>
            </a:extLst>
          </p:cNvPr>
          <p:cNvSpPr/>
          <p:nvPr/>
        </p:nvSpPr>
        <p:spPr>
          <a:xfrm>
            <a:off x="4041023" y="2264971"/>
            <a:ext cx="4399033" cy="2217667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조사 및 해결 과정</a:t>
            </a:r>
            <a:r>
              <a:rPr lang="en-US" altLang="ko-KR" sz="1400" b="1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</a:p>
          <a:p>
            <a:pPr marL="285750" indent="-285750" algn="ctr">
              <a:buFontTx/>
              <a:buChar char="-"/>
            </a:pP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원본 데이터에서 </a:t>
            </a:r>
            <a:r>
              <a:rPr lang="ko-KR" altLang="en-US" sz="1400" dirty="0" err="1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미매칭</a:t>
            </a: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데이터 선별</a:t>
            </a:r>
            <a:endParaRPr lang="en-US" altLang="ko-KR" sz="1400" dirty="0">
              <a:solidFill>
                <a:srgbClr val="7C7C7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algn="ctr">
              <a:buFontTx/>
              <a:buChar char="-"/>
            </a:pPr>
            <a:endParaRPr lang="en-US" altLang="ko-KR" sz="300" dirty="0">
              <a:solidFill>
                <a:srgbClr val="7C7C7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algn="ctr">
              <a:buFontTx/>
              <a:buChar char="-"/>
            </a:pPr>
            <a:r>
              <a:rPr lang="en-US" altLang="ko-KR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 </a:t>
            </a: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허브를 통한 </a:t>
            </a:r>
            <a:r>
              <a:rPr lang="ko-KR" altLang="en-US" sz="1400" dirty="0" err="1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어노테이션</a:t>
            </a: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재작업 진행</a:t>
            </a:r>
            <a:endParaRPr lang="en-US" altLang="ko-KR" sz="1400" dirty="0">
              <a:solidFill>
                <a:srgbClr val="7C7C7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algn="ctr">
              <a:buFontTx/>
              <a:buChar char="-"/>
            </a:pPr>
            <a:endParaRPr lang="en-US" altLang="ko-KR" sz="300" dirty="0">
              <a:solidFill>
                <a:srgbClr val="7C7C7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 </a:t>
            </a:r>
            <a:r>
              <a:rPr lang="ko-KR" altLang="en-US" sz="1400" dirty="0" err="1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미매칭</a:t>
            </a: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외 </a:t>
            </a:r>
            <a:r>
              <a:rPr lang="en-US" altLang="ko-KR" sz="1400" dirty="0" err="1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bbox</a:t>
            </a:r>
            <a:r>
              <a:rPr lang="en-US" altLang="ko-KR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겹침 등 추가 이슈 발견 →</a:t>
            </a:r>
            <a:r>
              <a:rPr lang="en-US" altLang="ko-KR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400" dirty="0">
                <a:solidFill>
                  <a:srgbClr val="7C7C7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 전수 수정</a:t>
            </a:r>
            <a:endParaRPr lang="en-US" altLang="ko-KR" sz="1400" dirty="0">
              <a:solidFill>
                <a:srgbClr val="7C7C7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오각형 3">
            <a:extLst>
              <a:ext uri="{FF2B5EF4-FFF2-40B4-BE49-F238E27FC236}">
                <a16:creationId xmlns:a16="http://schemas.microsoft.com/office/drawing/2014/main" id="{FF26997A-3503-CBD6-1407-CE400CF309C2}"/>
              </a:ext>
            </a:extLst>
          </p:cNvPr>
          <p:cNvSpPr/>
          <p:nvPr/>
        </p:nvSpPr>
        <p:spPr>
          <a:xfrm>
            <a:off x="514350" y="2264971"/>
            <a:ext cx="3933825" cy="2217667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문제 정의 </a:t>
            </a: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</a:p>
          <a:p>
            <a:pPr algn="ctr"/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이미지 데이터와 </a:t>
            </a:r>
            <a:r>
              <a:rPr lang="ko-KR" altLang="en-US" sz="16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어노테이션</a:t>
            </a:r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정보 간 미 매칭</a:t>
            </a:r>
            <a:endParaRPr lang="en-US" altLang="ko-KR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endParaRPr lang="en-US" altLang="ko-KR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원인 추론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sz="16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케글</a:t>
            </a:r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제공 데이터 자체가 미 매칭</a:t>
            </a:r>
          </a:p>
        </p:txBody>
      </p:sp>
      <p:sp>
        <p:nvSpPr>
          <p:cNvPr id="18" name="갈매기형 수장 4">
            <a:extLst>
              <a:ext uri="{FF2B5EF4-FFF2-40B4-BE49-F238E27FC236}">
                <a16:creationId xmlns:a16="http://schemas.microsoft.com/office/drawing/2014/main" id="{4E670CF7-1556-9B74-F2BD-FAA75B194C05}"/>
              </a:ext>
            </a:extLst>
          </p:cNvPr>
          <p:cNvSpPr/>
          <p:nvPr/>
        </p:nvSpPr>
        <p:spPr>
          <a:xfrm>
            <a:off x="8032905" y="2264971"/>
            <a:ext cx="3933825" cy="2217667"/>
          </a:xfrm>
          <a:prstGeom prst="chevron">
            <a:avLst/>
          </a:prstGeom>
          <a:solidFill>
            <a:srgbClr val="5F5F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결과</a:t>
            </a: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</a:p>
          <a:p>
            <a:pPr algn="ctr"/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 품질 및 신뢰도 확보 완료</a:t>
            </a:r>
          </a:p>
        </p:txBody>
      </p:sp>
    </p:spTree>
    <p:extLst>
      <p:ext uri="{BB962C8B-B14F-4D97-AF65-F5344CB8AC3E}">
        <p14:creationId xmlns:p14="http://schemas.microsoft.com/office/powerpoint/2010/main" val="368446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200</Words>
  <Application>Microsoft Office PowerPoint</Application>
  <PresentationFormat>와이드스크린</PresentationFormat>
  <Paragraphs>62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KR Black</vt:lpstr>
      <vt:lpstr>Noto Sans KR Medium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우정 장</cp:lastModifiedBy>
  <cp:revision>32</cp:revision>
  <dcterms:created xsi:type="dcterms:W3CDTF">2021-10-22T06:13:27Z</dcterms:created>
  <dcterms:modified xsi:type="dcterms:W3CDTF">2025-12-18T08:47:37Z</dcterms:modified>
</cp:coreProperties>
</file>