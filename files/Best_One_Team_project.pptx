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84" r:id="rId4"/>
    <p:sldId id="269" r:id="rId5"/>
    <p:sldId id="256" r:id="rId6"/>
    <p:sldId id="287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9E9"/>
    <a:srgbClr val="5F5F5D"/>
    <a:srgbClr val="DFD8C7"/>
    <a:srgbClr val="7C7C7A"/>
    <a:srgbClr val="E6E5E3"/>
    <a:srgbClr val="E5E2E0"/>
    <a:srgbClr val="BEB7B1"/>
    <a:srgbClr val="3D3A35"/>
    <a:srgbClr val="C3C1C4"/>
    <a:srgbClr val="525251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68" d="100"/>
          <a:sy n="68" d="100"/>
        </p:scale>
        <p:origin x="78" y="10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4428E6-48F8-48FF-A4B7-7E67A9EE0B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A2431C-BDF3-4534-AED0-115F103A46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0173CB-01B9-4295-A804-D7D5973D6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C5FE16-77A0-484E-AEFD-FF537292E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3DF25-2E65-49D3-8F6F-64AA11097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5835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DBF82B-6C4A-4F6E-A362-B2BF3BDC3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E6E910-43A6-49D6-A1B5-99E3B0C27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0DB3AC-66C4-4244-9CE9-54D71AA59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92C886-882E-440B-806C-B06DE5089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9323D2-1426-48F9-A93B-729E72E2B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0420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53C500-C8D9-4EBC-AC73-9F7D65F03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56CD17-259A-42E8-B64F-04C51B7C1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976CE5-8C59-42A2-A597-465DEAC8E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2312C6-1DCE-41BC-B5FA-FCFF5BE3B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4339A5-69DC-4256-84CA-F160D48ED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2820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F37A4D-E01E-45A7-B166-73EE7826C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0D6757-7DA6-452C-9903-7536978F1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DCC3C8-286B-4184-8752-32BC3B116B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CA751A-C45B-42C8-893F-826B22E76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F77210C-0EDE-42F3-A19F-12B3884B4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15D590-E2D2-480C-AF73-67D855C55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7000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E3AF97-024B-4EF1-B5B6-2E362F07C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41334B-2AA0-4E32-9445-B691EAB28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DB62D6F-224F-4433-9752-11A255D323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04EE0E-6C7E-4160-86AA-136E97F9FD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B390FB9-7573-4784-A2A4-EDF1B3C59F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464B30B-9C6A-4C96-8DB5-BCE9A09F7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6A11AC4-2315-46FE-81A4-FE4B84349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C2D39CB-CB92-40B8-9B0C-3FBBBDF9D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2895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E32E25-F5B3-41EE-BD3B-6965721B8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CFE1863-7C02-424B-AF80-CDB396716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99FB34-90A4-44A0-9CF8-F0BC0FE4A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375702-4955-406C-919C-D35A1B84B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3063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76E1BA2-3103-4DB2-AAEB-ED1BAE452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05D5A54-85CA-45E5-9801-A3F15EEFC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12AF2F-D0EC-4C7E-8979-4C17E3F4B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619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03A167-5C7C-4CD2-A3E4-B6F945832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21CEB6-C525-4AEB-BB3E-B13156901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9296C9A-4472-4D30-BFAE-60CB397B5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44E3F16-D603-4838-BA1C-0C9EEDE4A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48873C6-9D3A-4C62-9D46-88E6BAABC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9A9C646-865F-49F4-8BDD-FB9A4DECA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79198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F258A6-5AAD-4F1F-976F-EDB5FF725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2F4441E-0165-42AA-88F8-E53C4BAAC1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AFCA1E8-0D3C-4590-82E2-D018D6E61D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674557-7FD9-416C-A8B5-FA6C4B555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C4A215C-B55F-4988-B45B-7667E8C7C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2FF3B86-5A48-411F-8090-830140A67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98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520652-E714-4A15-826F-1B53C7092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14771D-DE0A-400C-8C59-8670E31F70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BEACB7-48C9-4FB8-8D34-7F4C63932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D31818-B6CD-47B0-9353-395CC5398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008922-CAE3-4884-AE59-2BC74144C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045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3371B8A-69A6-43D4-8783-6456E33508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49DA1AA-3028-44E4-B5B0-C19BF61DC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2BCD8D-3E10-4F33-BC43-EACB05C0B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E365BE-78DE-4079-B7F3-706874E92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0D9E52-1AFA-4482-A474-91FF4C5C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838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9DF84FF-C412-430B-963A-695AABF70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5EE7982-A999-4B0A-85F1-A0D5C5503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48EB6A-F091-464F-A783-1AE546A569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31D2C7-63D5-4319-952D-A6F8404F46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39517A-02D4-4037-9427-974339FE7C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044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B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24AC5BE-AE8A-47DA-849C-86BF19ABB20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0" y="0"/>
            <a:ext cx="457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4049933-013A-4DA4-B40F-DB900F3E4904}"/>
              </a:ext>
            </a:extLst>
          </p:cNvPr>
          <p:cNvSpPr txBox="1"/>
          <p:nvPr/>
        </p:nvSpPr>
        <p:spPr>
          <a:xfrm>
            <a:off x="2151650" y="1191568"/>
            <a:ext cx="788869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7200" b="1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Best Team One</a:t>
            </a:r>
          </a:p>
          <a:p>
            <a:pPr algn="ctr"/>
            <a:r>
              <a:rPr lang="ko-KR" altLang="en-US" sz="7200" b="1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초급 프로젝트 발표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99A773-7309-CBA8-548F-91CC769FFBC1}"/>
              </a:ext>
            </a:extLst>
          </p:cNvPr>
          <p:cNvSpPr txBox="1"/>
          <p:nvPr/>
        </p:nvSpPr>
        <p:spPr>
          <a:xfrm>
            <a:off x="8482910" y="4512270"/>
            <a:ext cx="35349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4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AI 6</a:t>
            </a:r>
            <a:r>
              <a:rPr lang="ko-KR" altLang="en-US" sz="54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기 </a:t>
            </a:r>
            <a:r>
              <a:rPr lang="en-US" altLang="ko-KR" sz="54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1</a:t>
            </a:r>
            <a:r>
              <a:rPr lang="ko-KR" altLang="en-US" sz="54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팀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CFBC43-559A-15F8-C616-21CE25B3FB83}"/>
              </a:ext>
            </a:extLst>
          </p:cNvPr>
          <p:cNvSpPr txBox="1"/>
          <p:nvPr/>
        </p:nvSpPr>
        <p:spPr>
          <a:xfrm>
            <a:off x="5942092" y="5773225"/>
            <a:ext cx="62183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김영욱</a:t>
            </a:r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, </a:t>
            </a:r>
            <a:r>
              <a:rPr lang="ko-KR" altLang="en-US" sz="2800" dirty="0" err="1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김효중</a:t>
            </a:r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,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장우정</a:t>
            </a:r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, </a:t>
            </a:r>
            <a:r>
              <a:rPr lang="ko-KR" altLang="en-US" sz="2800" dirty="0" err="1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최무영</a:t>
            </a:r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,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최지영</a:t>
            </a:r>
          </a:p>
        </p:txBody>
      </p:sp>
    </p:spTree>
    <p:extLst>
      <p:ext uri="{BB962C8B-B14F-4D97-AF65-F5344CB8AC3E}">
        <p14:creationId xmlns:p14="http://schemas.microsoft.com/office/powerpoint/2010/main" val="652543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D9B40E9-C95A-4A8F-9206-6351FE1BE75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9050"/>
            <a:ext cx="12192000" cy="6858000"/>
          </a:xfrm>
          <a:prstGeom prst="rect">
            <a:avLst/>
          </a:prstGeom>
        </p:spPr>
      </p:pic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D84909E9-7D4A-4AEB-B907-8E112C97A1AE}"/>
              </a:ext>
            </a:extLst>
          </p:cNvPr>
          <p:cNvCxnSpPr/>
          <p:nvPr/>
        </p:nvCxnSpPr>
        <p:spPr>
          <a:xfrm>
            <a:off x="3460750" y="914400"/>
            <a:ext cx="5270500" cy="0"/>
          </a:xfrm>
          <a:prstGeom prst="line">
            <a:avLst/>
          </a:prstGeom>
          <a:ln w="190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386C685-8BB9-46FB-AB55-17CEF03D9EAF}"/>
              </a:ext>
            </a:extLst>
          </p:cNvPr>
          <p:cNvSpPr txBox="1"/>
          <p:nvPr/>
        </p:nvSpPr>
        <p:spPr>
          <a:xfrm>
            <a:off x="5259873" y="-101263"/>
            <a:ext cx="167225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1"/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5AABD8-0A10-3656-B4EE-99A895496FEF}"/>
              </a:ext>
            </a:extLst>
          </p:cNvPr>
          <p:cNvSpPr txBox="1"/>
          <p:nvPr/>
        </p:nvSpPr>
        <p:spPr>
          <a:xfrm>
            <a:off x="400050" y="1238250"/>
            <a:ext cx="4110421" cy="4832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1.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프로젝트 소개</a:t>
            </a:r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2.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핵심 기능 및 아키텍처</a:t>
            </a:r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3.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모델 학습</a:t>
            </a:r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4.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일정표 및 트러블 슈팅</a:t>
            </a:r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5.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결과 및 시연</a:t>
            </a:r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6.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회고 및 향후 계획</a:t>
            </a:r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9905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7B305-4F4D-A38C-72F7-0CCABE56C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AA08DE9-0FD9-699D-5800-928F3DCD781B}"/>
              </a:ext>
            </a:extLst>
          </p:cNvPr>
          <p:cNvCxnSpPr>
            <a:cxnSpLocks/>
          </p:cNvCxnSpPr>
          <p:nvPr/>
        </p:nvCxnSpPr>
        <p:spPr>
          <a:xfrm>
            <a:off x="152400" y="190500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574F811-BB31-27C3-D4F4-F4ECD2F728AB}"/>
              </a:ext>
            </a:extLst>
          </p:cNvPr>
          <p:cNvSpPr txBox="1"/>
          <p:nvPr/>
        </p:nvSpPr>
        <p:spPr>
          <a:xfrm>
            <a:off x="1676400" y="330200"/>
            <a:ext cx="354616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4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프로젝트 소개</a:t>
            </a:r>
            <a:endParaRPr lang="ko-KR" altLang="en-US" sz="4400" spc="-300" dirty="0">
              <a:solidFill>
                <a:schemeClr val="accent4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BF409A-1B0B-4F03-C112-F010078E6C71}"/>
              </a:ext>
            </a:extLst>
          </p:cNvPr>
          <p:cNvSpPr txBox="1"/>
          <p:nvPr/>
        </p:nvSpPr>
        <p:spPr>
          <a:xfrm>
            <a:off x="583709" y="34558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1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E198B4EC-98AA-0046-6160-1A78665E93F1}"/>
              </a:ext>
            </a:extLst>
          </p:cNvPr>
          <p:cNvCxnSpPr/>
          <p:nvPr/>
        </p:nvCxnSpPr>
        <p:spPr>
          <a:xfrm>
            <a:off x="1587500" y="190500"/>
            <a:ext cx="106045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D286ED0-7BEE-9CCB-11E4-E3F2D80C398F}"/>
              </a:ext>
            </a:extLst>
          </p:cNvPr>
          <p:cNvSpPr/>
          <p:nvPr/>
        </p:nvSpPr>
        <p:spPr>
          <a:xfrm>
            <a:off x="1049828" y="2047946"/>
            <a:ext cx="1168400" cy="104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3D0FC65-7EF8-0063-820F-F8F8FC7BFEAE}"/>
              </a:ext>
            </a:extLst>
          </p:cNvPr>
          <p:cNvSpPr/>
          <p:nvPr/>
        </p:nvSpPr>
        <p:spPr>
          <a:xfrm>
            <a:off x="2459527" y="2047946"/>
            <a:ext cx="8886379" cy="104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45A14A2-5A23-C1D2-AB7F-AD769E6BD32C}"/>
              </a:ext>
            </a:extLst>
          </p:cNvPr>
          <p:cNvSpPr txBox="1"/>
          <p:nvPr/>
        </p:nvSpPr>
        <p:spPr>
          <a:xfrm>
            <a:off x="1383832" y="2234823"/>
            <a:ext cx="428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600" spc="-300" dirty="0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ko-KR" altLang="en-US" sz="3600" spc="-3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8A1AD0-38C9-519B-5A46-44E27B5663DC}"/>
              </a:ext>
            </a:extLst>
          </p:cNvPr>
          <p:cNvSpPr txBox="1"/>
          <p:nvPr/>
        </p:nvSpPr>
        <p:spPr>
          <a:xfrm>
            <a:off x="2716622" y="2107333"/>
            <a:ext cx="86292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spc="-300" dirty="0">
                <a:solidFill>
                  <a:schemeClr val="bg1"/>
                </a:solidFill>
                <a:latin typeface="+mn-ea"/>
              </a:rPr>
              <a:t>프로젝트 배경</a:t>
            </a:r>
            <a:endParaRPr lang="en-US" altLang="ko-KR" sz="2400" b="1" spc="-300" dirty="0">
              <a:solidFill>
                <a:schemeClr val="bg1"/>
              </a:solidFill>
              <a:latin typeface="+mn-ea"/>
            </a:endParaRPr>
          </a:p>
          <a:p>
            <a:r>
              <a:rPr lang="ko-KR" altLang="en-US" sz="2400" spc="-300" dirty="0">
                <a:solidFill>
                  <a:schemeClr val="bg1"/>
                </a:solidFill>
                <a:latin typeface="+mn-ea"/>
              </a:rPr>
              <a:t>컴퓨터 비전 학습 과정에서 딥러닝 기반 이미지 분류 및 객체 인식 기술 습득</a:t>
            </a:r>
            <a:endParaRPr lang="en-US" altLang="ko-KR" sz="2400" spc="-3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2DDFAA2F-60F0-705D-6705-A400A88722DD}"/>
              </a:ext>
            </a:extLst>
          </p:cNvPr>
          <p:cNvSpPr/>
          <p:nvPr/>
        </p:nvSpPr>
        <p:spPr>
          <a:xfrm>
            <a:off x="1049828" y="3367447"/>
            <a:ext cx="1168400" cy="1044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666F16E-99F0-EB57-CB28-2A6CE8D42F6A}"/>
              </a:ext>
            </a:extLst>
          </p:cNvPr>
          <p:cNvSpPr/>
          <p:nvPr/>
        </p:nvSpPr>
        <p:spPr>
          <a:xfrm>
            <a:off x="2459528" y="3367447"/>
            <a:ext cx="8886378" cy="1044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A3A516-661C-E279-4738-1DDAA4207A78}"/>
              </a:ext>
            </a:extLst>
          </p:cNvPr>
          <p:cNvSpPr txBox="1"/>
          <p:nvPr/>
        </p:nvSpPr>
        <p:spPr>
          <a:xfrm>
            <a:off x="1394467" y="3564662"/>
            <a:ext cx="428322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altLang="ko-KR" sz="3600" spc="-300" dirty="0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ko-KR" altLang="en-US" sz="3600" spc="-3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E4DA5F3-8577-6C97-B0B3-D0B9BAE67C70}"/>
              </a:ext>
            </a:extLst>
          </p:cNvPr>
          <p:cNvSpPr txBox="1"/>
          <p:nvPr/>
        </p:nvSpPr>
        <p:spPr>
          <a:xfrm>
            <a:off x="2716622" y="3469910"/>
            <a:ext cx="8441093" cy="83099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ko-KR" altLang="en-US" sz="2400" b="1" spc="-300" dirty="0">
                <a:solidFill>
                  <a:schemeClr val="bg1"/>
                </a:solidFill>
                <a:latin typeface="+mn-ea"/>
              </a:rPr>
              <a:t>프로젝트 목표</a:t>
            </a:r>
            <a:endParaRPr lang="en-US" altLang="ko-KR" sz="2400" b="1" spc="-300" dirty="0">
              <a:solidFill>
                <a:schemeClr val="bg1"/>
              </a:solidFill>
              <a:latin typeface="+mn-ea"/>
            </a:endParaRPr>
          </a:p>
          <a:p>
            <a:r>
              <a:rPr lang="en-US" altLang="ko-KR" sz="2400" spc="-300" dirty="0">
                <a:solidFill>
                  <a:schemeClr val="bg1"/>
                </a:solidFill>
                <a:latin typeface="+mn-ea"/>
              </a:rPr>
              <a:t>: </a:t>
            </a:r>
            <a:r>
              <a:rPr lang="ko-KR" altLang="en-US" sz="2400" spc="-300" dirty="0">
                <a:solidFill>
                  <a:schemeClr val="bg1"/>
                </a:solidFill>
                <a:latin typeface="+mn-ea"/>
              </a:rPr>
              <a:t>학습을 기반하여</a:t>
            </a:r>
            <a:r>
              <a:rPr lang="en-US" altLang="ko-KR" sz="2400" spc="-300" dirty="0">
                <a:solidFill>
                  <a:schemeClr val="bg1"/>
                </a:solidFill>
                <a:latin typeface="+mn-ea"/>
              </a:rPr>
              <a:t>,</a:t>
            </a:r>
            <a:r>
              <a:rPr lang="ko-KR" altLang="en-US" sz="2400" spc="-3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ko-KR" sz="2400" spc="-300" dirty="0">
                <a:solidFill>
                  <a:schemeClr val="bg1"/>
                </a:solidFill>
                <a:latin typeface="+mn-ea"/>
              </a:rPr>
              <a:t>YOLO</a:t>
            </a:r>
            <a:r>
              <a:rPr lang="ko-KR" altLang="en-US" sz="2400" spc="-300" dirty="0">
                <a:solidFill>
                  <a:schemeClr val="bg1"/>
                </a:solidFill>
                <a:latin typeface="+mn-ea"/>
              </a:rPr>
              <a:t>모델을  활용한 약물 탐지 시스템 구축</a:t>
            </a:r>
            <a:r>
              <a:rPr lang="en-US" altLang="ko-KR" sz="2400" spc="-300" dirty="0">
                <a:solidFill>
                  <a:schemeClr val="bg1"/>
                </a:solidFill>
                <a:latin typeface="+mn-ea"/>
              </a:rPr>
              <a:t>, Git </a:t>
            </a:r>
            <a:r>
              <a:rPr lang="ko-KR" altLang="en-US" sz="2400" spc="-300" dirty="0">
                <a:solidFill>
                  <a:schemeClr val="bg1"/>
                </a:solidFill>
                <a:latin typeface="+mn-ea"/>
              </a:rPr>
              <a:t>협업 경험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DAA3C7F-DE26-8728-8CE3-A5E093C2F515}"/>
              </a:ext>
            </a:extLst>
          </p:cNvPr>
          <p:cNvSpPr/>
          <p:nvPr/>
        </p:nvSpPr>
        <p:spPr>
          <a:xfrm>
            <a:off x="1049828" y="4686948"/>
            <a:ext cx="1168400" cy="1044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FB7A5B5-8B5A-FED3-0BB3-C9B980169A17}"/>
              </a:ext>
            </a:extLst>
          </p:cNvPr>
          <p:cNvSpPr/>
          <p:nvPr/>
        </p:nvSpPr>
        <p:spPr>
          <a:xfrm>
            <a:off x="2459528" y="4686948"/>
            <a:ext cx="8886378" cy="1044000"/>
          </a:xfrm>
          <a:prstGeom prst="rect">
            <a:avLst/>
          </a:prstGeom>
          <a:solidFill>
            <a:srgbClr val="DFD8C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8CCE6E-D89C-C026-FBC8-AA5C72FCF0B1}"/>
              </a:ext>
            </a:extLst>
          </p:cNvPr>
          <p:cNvSpPr txBox="1"/>
          <p:nvPr/>
        </p:nvSpPr>
        <p:spPr>
          <a:xfrm>
            <a:off x="1394467" y="4884163"/>
            <a:ext cx="4283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6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3</a:t>
            </a:r>
            <a:endParaRPr lang="ko-KR" altLang="en-US" sz="3600" spc="-3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55049A5-612F-EB65-3C83-BACB47BCFC47}"/>
              </a:ext>
            </a:extLst>
          </p:cNvPr>
          <p:cNvSpPr txBox="1"/>
          <p:nvPr/>
        </p:nvSpPr>
        <p:spPr>
          <a:xfrm>
            <a:off x="2716622" y="4791829"/>
            <a:ext cx="8672567" cy="830997"/>
          </a:xfrm>
          <a:prstGeom prst="rect">
            <a:avLst/>
          </a:prstGeom>
          <a:solidFill>
            <a:srgbClr val="DFD8C7"/>
          </a:solidFill>
        </p:spPr>
        <p:txBody>
          <a:bodyPr wrap="none" rtlCol="0">
            <a:spAutoFit/>
          </a:bodyPr>
          <a:lstStyle/>
          <a:p>
            <a:r>
              <a:rPr lang="ko-KR" altLang="en-US" sz="2400" b="1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기대 효과</a:t>
            </a:r>
            <a:endParaRPr lang="en-US" altLang="ko-KR" sz="2400" b="1" spc="-30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  <a:p>
            <a:r>
              <a:rPr lang="en-US" altLang="ko-KR" sz="24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: </a:t>
            </a:r>
            <a:r>
              <a:rPr lang="ko-KR" altLang="en-US" sz="24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의약품 식별 자동화를 </a:t>
            </a:r>
            <a:r>
              <a:rPr lang="ko-KR" altLang="en-US" sz="2400" spc="-300" dirty="0">
                <a:solidFill>
                  <a:srgbClr val="6C6969"/>
                </a:solidFill>
                <a:latin typeface="+mn-ea"/>
              </a:rPr>
              <a:t>통해 약</a:t>
            </a:r>
            <a:r>
              <a:rPr lang="ko-KR" altLang="en-US" sz="24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물 상호 작용 및 주의사항을  맞춤형으로 제공</a:t>
            </a:r>
            <a:endParaRPr lang="en-US" altLang="ko-KR" sz="2400" spc="-30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6025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3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49017637-A38F-21D0-CE12-8F5AA113B485}"/>
              </a:ext>
            </a:extLst>
          </p:cNvPr>
          <p:cNvCxnSpPr>
            <a:cxnSpLocks/>
            <a:stCxn id="10" idx="6"/>
          </p:cNvCxnSpPr>
          <p:nvPr/>
        </p:nvCxnSpPr>
        <p:spPr>
          <a:xfrm flipH="1">
            <a:off x="6087011" y="3302680"/>
            <a:ext cx="2874193" cy="695181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C415FBA7-D211-66BB-51C3-8C9AD289DC14}"/>
              </a:ext>
            </a:extLst>
          </p:cNvPr>
          <p:cNvCxnSpPr>
            <a:cxnSpLocks/>
          </p:cNvCxnSpPr>
          <p:nvPr/>
        </p:nvCxnSpPr>
        <p:spPr>
          <a:xfrm flipH="1" flipV="1">
            <a:off x="6080413" y="4007922"/>
            <a:ext cx="1886203" cy="222742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6BE153EE-CB90-54FF-2BED-CED7384882FC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4092200" y="3997861"/>
            <a:ext cx="1988213" cy="2172481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0BF8F17-9E56-462D-B8ED-980C1047873B}"/>
              </a:ext>
            </a:extLst>
          </p:cNvPr>
          <p:cNvSpPr txBox="1"/>
          <p:nvPr/>
        </p:nvSpPr>
        <p:spPr>
          <a:xfrm>
            <a:off x="1676400" y="330200"/>
            <a:ext cx="101024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핵심 기능 및 아키텍처 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(Key Features &amp; Architecture)</a:t>
            </a:r>
            <a:endParaRPr lang="ko-KR" altLang="en-US" sz="3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4639B0FA-CD0A-4165-A00B-863C15E63D9A}"/>
              </a:ext>
            </a:extLst>
          </p:cNvPr>
          <p:cNvCxnSpPr>
            <a:cxnSpLocks/>
          </p:cNvCxnSpPr>
          <p:nvPr/>
        </p:nvCxnSpPr>
        <p:spPr>
          <a:xfrm>
            <a:off x="6080413" y="2759483"/>
            <a:ext cx="0" cy="1228317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타원 20">
            <a:extLst>
              <a:ext uri="{FF2B5EF4-FFF2-40B4-BE49-F238E27FC236}">
                <a16:creationId xmlns:a16="http://schemas.microsoft.com/office/drawing/2014/main" id="{BFEFF22A-BF61-4A4B-A2D1-5335C6116504}"/>
              </a:ext>
            </a:extLst>
          </p:cNvPr>
          <p:cNvSpPr/>
          <p:nvPr/>
        </p:nvSpPr>
        <p:spPr>
          <a:xfrm>
            <a:off x="3834635" y="4669141"/>
            <a:ext cx="1758766" cy="1758766"/>
          </a:xfrm>
          <a:prstGeom prst="ellipse">
            <a:avLst/>
          </a:prstGeom>
          <a:solidFill>
            <a:srgbClr val="BD814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err="1">
                <a:solidFill>
                  <a:schemeClr val="accent3">
                    <a:lumMod val="40000"/>
                    <a:lumOff val="60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Streamlit</a:t>
            </a:r>
            <a:endParaRPr lang="en-US" altLang="ko-KR" sz="1600" dirty="0">
              <a:solidFill>
                <a:schemeClr val="accent3">
                  <a:lumMod val="40000"/>
                  <a:lumOff val="60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dirty="0">
                <a:solidFill>
                  <a:schemeClr val="accent3">
                    <a:lumMod val="40000"/>
                    <a:lumOff val="60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웹 애플리케이션</a:t>
            </a:r>
            <a:endParaRPr lang="ko-KR" altLang="en-US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A98E62F9-FAF0-4F53-9004-1565CC2EAD15}"/>
              </a:ext>
            </a:extLst>
          </p:cNvPr>
          <p:cNvSpPr/>
          <p:nvPr/>
        </p:nvSpPr>
        <p:spPr>
          <a:xfrm>
            <a:off x="5201030" y="1000717"/>
            <a:ext cx="1758766" cy="1758766"/>
          </a:xfrm>
          <a:prstGeom prst="ellipse">
            <a:avLst/>
          </a:prstGeom>
          <a:solidFill>
            <a:srgbClr val="5F5F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bg1">
                    <a:lumMod val="9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약물</a:t>
            </a:r>
            <a:endParaRPr lang="en-US" altLang="ko-KR" sz="2000" dirty="0">
              <a:solidFill>
                <a:schemeClr val="bg1">
                  <a:lumMod val="9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sz="2000" dirty="0">
                <a:solidFill>
                  <a:schemeClr val="bg1">
                    <a:lumMod val="9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탐지</a:t>
            </a:r>
            <a:endParaRPr lang="en-US" altLang="ko-KR" sz="2000" dirty="0">
              <a:solidFill>
                <a:schemeClr val="bg1">
                  <a:lumMod val="9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sz="2000" dirty="0">
                <a:solidFill>
                  <a:schemeClr val="bg1">
                    <a:lumMod val="9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기능</a:t>
            </a: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09F5AAC3-9360-4876-A207-D33BD9520125}"/>
              </a:ext>
            </a:extLst>
          </p:cNvPr>
          <p:cNvSpPr/>
          <p:nvPr/>
        </p:nvSpPr>
        <p:spPr>
          <a:xfrm>
            <a:off x="6413915" y="4732396"/>
            <a:ext cx="1758766" cy="1758766"/>
          </a:xfrm>
          <a:prstGeom prst="ellipse">
            <a:avLst/>
          </a:prstGeom>
          <a:solidFill>
            <a:srgbClr val="D0A5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accent2">
                    <a:lumMod val="7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데이터</a:t>
            </a:r>
            <a:endParaRPr lang="en-US" altLang="ko-KR" dirty="0">
              <a:solidFill>
                <a:schemeClr val="accent2">
                  <a:lumMod val="7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dirty="0">
                <a:solidFill>
                  <a:schemeClr val="accent2">
                    <a:lumMod val="7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분석</a:t>
            </a:r>
            <a:endParaRPr lang="en-US" altLang="ko-KR" dirty="0">
              <a:solidFill>
                <a:schemeClr val="accent2">
                  <a:lumMod val="7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en-US" altLang="ko-KR" dirty="0">
                <a:solidFill>
                  <a:schemeClr val="accent2">
                    <a:lumMod val="7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(EDA)</a:t>
            </a:r>
            <a:endParaRPr lang="ko-KR" alt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E7FDAE60-25D7-49E4-ABB4-96D73C6F33CF}"/>
              </a:ext>
            </a:extLst>
          </p:cNvPr>
          <p:cNvGrpSpPr/>
          <p:nvPr/>
        </p:nvGrpSpPr>
        <p:grpSpPr>
          <a:xfrm>
            <a:off x="251060" y="1109873"/>
            <a:ext cx="2795744" cy="1689535"/>
            <a:chOff x="237769" y="4249825"/>
            <a:chExt cx="2858426" cy="1614944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61D078D-E0B3-454F-AA4F-9C1EA0E80010}"/>
                </a:ext>
              </a:extLst>
            </p:cNvPr>
            <p:cNvSpPr txBox="1"/>
            <p:nvPr/>
          </p:nvSpPr>
          <p:spPr>
            <a:xfrm>
              <a:off x="237769" y="4952785"/>
              <a:ext cx="2858426" cy="9119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altLang="ko-KR" sz="1400" dirty="0"/>
                <a:t>- YOLOv8n </a:t>
              </a:r>
              <a:r>
                <a:rPr lang="ko-KR" altLang="en-US" sz="1400" dirty="0"/>
                <a:t>을 활용한 약물 객체 탐지</a:t>
              </a:r>
              <a:endParaRPr lang="en-US" altLang="ko-KR" sz="1400" dirty="0"/>
            </a:p>
            <a:p>
              <a:pPr algn="just"/>
              <a:r>
                <a:rPr lang="en-US" altLang="ko-KR" sz="1400" dirty="0"/>
                <a:t>- </a:t>
              </a:r>
              <a:r>
                <a:rPr lang="ko-KR" altLang="en-US" sz="1400" dirty="0"/>
                <a:t>신뢰도 기반 </a:t>
              </a:r>
              <a:r>
                <a:rPr lang="ko-KR" altLang="en-US" sz="1400" dirty="0" err="1"/>
                <a:t>바운딩</a:t>
              </a:r>
              <a:r>
                <a:rPr lang="ko-KR" altLang="en-US" sz="1400" dirty="0"/>
                <a:t> 박스 및 생성 클래스 분류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F3C959F-7B29-4F1E-94FE-C32622F1B681}"/>
                </a:ext>
              </a:extLst>
            </p:cNvPr>
            <p:cNvSpPr txBox="1"/>
            <p:nvPr/>
          </p:nvSpPr>
          <p:spPr>
            <a:xfrm>
              <a:off x="473761" y="4249825"/>
              <a:ext cx="2340739" cy="676634"/>
            </a:xfrm>
            <a:prstGeom prst="rect">
              <a:avLst/>
            </a:prstGeom>
            <a:noFill/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+mj-ea"/>
                </a:rPr>
                <a:t>약물 탐지 기능</a:t>
              </a:r>
              <a:endPara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  <a:ea typeface="+mj-ea"/>
              </a:endParaRPr>
            </a:p>
            <a:p>
              <a:pPr algn="ctr"/>
              <a:r>
                <a:rPr lang="en-US" altLang="ko-KR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+mj-ea"/>
                </a:rPr>
                <a:t>(Object Detection)</a:t>
              </a:r>
            </a:p>
          </p:txBody>
        </p:sp>
      </p:grp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7007EA15-B6BE-7C6E-6460-6C171FDCC746}"/>
              </a:ext>
            </a:extLst>
          </p:cNvPr>
          <p:cNvCxnSpPr>
            <a:cxnSpLocks/>
            <a:endCxn id="7" idx="2"/>
          </p:cNvCxnSpPr>
          <p:nvPr/>
        </p:nvCxnSpPr>
        <p:spPr>
          <a:xfrm flipH="1" flipV="1">
            <a:off x="3096623" y="3277766"/>
            <a:ext cx="2983790" cy="7200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타원 6">
            <a:extLst>
              <a:ext uri="{FF2B5EF4-FFF2-40B4-BE49-F238E27FC236}">
                <a16:creationId xmlns:a16="http://schemas.microsoft.com/office/drawing/2014/main" id="{A1606E89-2E31-8892-822B-8C68780C2360}"/>
              </a:ext>
            </a:extLst>
          </p:cNvPr>
          <p:cNvSpPr/>
          <p:nvPr/>
        </p:nvSpPr>
        <p:spPr>
          <a:xfrm>
            <a:off x="3096623" y="2398383"/>
            <a:ext cx="1758766" cy="1758766"/>
          </a:xfrm>
          <a:prstGeom prst="ellipse">
            <a:avLst/>
          </a:prstGeom>
          <a:solidFill>
            <a:srgbClr val="704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>
                    <a:lumMod val="8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GPT</a:t>
            </a:r>
          </a:p>
          <a:p>
            <a:pPr algn="ctr"/>
            <a:r>
              <a:rPr lang="ko-KR" altLang="en-US" dirty="0">
                <a:solidFill>
                  <a:schemeClr val="bg1">
                    <a:lumMod val="8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프롬프트</a:t>
            </a:r>
            <a:endParaRPr lang="en-US" altLang="ko-KR" dirty="0">
              <a:solidFill>
                <a:schemeClr val="bg1">
                  <a:lumMod val="8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sz="1600" dirty="0">
                <a:solidFill>
                  <a:schemeClr val="bg1">
                    <a:lumMod val="8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엔지니어링</a:t>
            </a:r>
            <a:endParaRPr lang="en-US" altLang="ko-KR" sz="1600" dirty="0">
              <a:solidFill>
                <a:schemeClr val="bg1">
                  <a:lumMod val="8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F0B5EB50-8B36-3F40-B638-F70A5B61ABE0}"/>
              </a:ext>
            </a:extLst>
          </p:cNvPr>
          <p:cNvSpPr/>
          <p:nvPr/>
        </p:nvSpPr>
        <p:spPr>
          <a:xfrm>
            <a:off x="7202438" y="2423297"/>
            <a:ext cx="1758766" cy="1758766"/>
          </a:xfrm>
          <a:prstGeom prst="ellipse">
            <a:avLst/>
          </a:prstGeom>
          <a:solidFill>
            <a:srgbClr val="DFD8C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2">
                    <a:lumMod val="7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자동화</a:t>
            </a:r>
            <a:endParaRPr lang="en-US" altLang="ko-KR" dirty="0">
              <a:solidFill>
                <a:schemeClr val="tx2">
                  <a:lumMod val="7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dirty="0">
                <a:solidFill>
                  <a:schemeClr val="tx2">
                    <a:lumMod val="7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평가</a:t>
            </a:r>
            <a:endParaRPr lang="en-US" altLang="ko-KR" dirty="0">
              <a:solidFill>
                <a:schemeClr val="tx2">
                  <a:lumMod val="7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dirty="0">
                <a:solidFill>
                  <a:schemeClr val="tx2">
                    <a:lumMod val="7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시스템</a:t>
            </a:r>
            <a:endParaRPr lang="ko-KR" altLang="en-US" dirty="0">
              <a:solidFill>
                <a:schemeClr val="tx2">
                  <a:lumMod val="75000"/>
                </a:schemeClr>
              </a:solidFill>
            </a:endParaRP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3F05768E-68BC-79A5-47A2-985EAA76E431}"/>
              </a:ext>
            </a:extLst>
          </p:cNvPr>
          <p:cNvGrpSpPr/>
          <p:nvPr/>
        </p:nvGrpSpPr>
        <p:grpSpPr>
          <a:xfrm>
            <a:off x="178347" y="3057166"/>
            <a:ext cx="3080572" cy="1653439"/>
            <a:chOff x="159906" y="4249825"/>
            <a:chExt cx="3149639" cy="1580439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DC9AA10-4D93-E06E-4431-CF59CBE3A97B}"/>
                </a:ext>
              </a:extLst>
            </p:cNvPr>
            <p:cNvSpPr txBox="1"/>
            <p:nvPr/>
          </p:nvSpPr>
          <p:spPr>
            <a:xfrm>
              <a:off x="258857" y="4712349"/>
              <a:ext cx="3050688" cy="11179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 algn="just">
                <a:buFontTx/>
                <a:buChar char="-"/>
              </a:pPr>
              <a:r>
                <a:rPr lang="ko-KR" altLang="en-US" sz="1400" dirty="0"/>
                <a:t>약물 정보 설명</a:t>
              </a:r>
              <a:endParaRPr lang="en-US" altLang="ko-KR" sz="1400" dirty="0"/>
            </a:p>
            <a:p>
              <a:pPr marL="285750" indent="-285750" algn="just">
                <a:buFontTx/>
                <a:buChar char="-"/>
              </a:pPr>
              <a:r>
                <a:rPr lang="ko-KR" altLang="en-US" sz="1400" dirty="0"/>
                <a:t>사용자 상황에 맞는 </a:t>
              </a:r>
              <a:r>
                <a:rPr lang="en-US" altLang="ko-KR" sz="1400" dirty="0"/>
                <a:t>1</a:t>
              </a:r>
              <a:r>
                <a:rPr lang="ko-KR" altLang="en-US" sz="1400" dirty="0"/>
                <a:t>차적 진단 가능</a:t>
              </a:r>
              <a:endParaRPr lang="en-US" altLang="ko-KR" sz="1400" dirty="0"/>
            </a:p>
            <a:p>
              <a:pPr algn="just"/>
              <a:r>
                <a:rPr lang="en-US" altLang="ko-KR" sz="1400" dirty="0"/>
                <a:t>(</a:t>
              </a:r>
              <a:r>
                <a:rPr lang="ko-KR" altLang="en-US" sz="1400" dirty="0"/>
                <a:t>단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의약품은 의료진과의 상담 후 진행</a:t>
              </a:r>
              <a:r>
                <a:rPr lang="en-US" altLang="ko-KR" sz="1400" dirty="0"/>
                <a:t>)</a:t>
              </a:r>
              <a:endParaRPr lang="ko-KR" altLang="en-US" sz="14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2380329-F304-FBD5-40B2-7C73692793D2}"/>
                </a:ext>
              </a:extLst>
            </p:cNvPr>
            <p:cNvSpPr txBox="1"/>
            <p:nvPr/>
          </p:nvSpPr>
          <p:spPr>
            <a:xfrm>
              <a:off x="159906" y="4249825"/>
              <a:ext cx="2968454" cy="382445"/>
            </a:xfrm>
            <a:prstGeom prst="rect">
              <a:avLst/>
            </a:prstGeom>
            <a:noFill/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+mj-ea"/>
                </a:rPr>
                <a:t>GPT </a:t>
              </a:r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+mj-ea"/>
                </a:rPr>
                <a:t>프롬프트 엔지니어링</a:t>
              </a:r>
              <a:endPara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  <a:ea typeface="+mj-ea"/>
              </a:endParaRPr>
            </a:p>
          </p:txBody>
        </p: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7B821CB1-0E6A-BC68-A08F-EC54EDB9F130}"/>
              </a:ext>
            </a:extLst>
          </p:cNvPr>
          <p:cNvGrpSpPr/>
          <p:nvPr/>
        </p:nvGrpSpPr>
        <p:grpSpPr>
          <a:xfrm>
            <a:off x="251060" y="4968363"/>
            <a:ext cx="2795745" cy="1439914"/>
            <a:chOff x="258857" y="4249825"/>
            <a:chExt cx="2858426" cy="137634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31811E0-E159-BBAF-6A3E-448D678259A0}"/>
                </a:ext>
              </a:extLst>
            </p:cNvPr>
            <p:cNvSpPr txBox="1"/>
            <p:nvPr/>
          </p:nvSpPr>
          <p:spPr>
            <a:xfrm>
              <a:off x="258857" y="4714184"/>
              <a:ext cx="2858426" cy="9119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 algn="just">
                <a:buFontTx/>
                <a:buChar char="-"/>
              </a:pPr>
              <a:r>
                <a:rPr lang="en-US" altLang="ko-KR" sz="1400" dirty="0"/>
                <a:t>Python </a:t>
              </a:r>
              <a:r>
                <a:rPr lang="ko-KR" altLang="en-US" sz="1400" dirty="0"/>
                <a:t>기반 데이터 중심 웹 애플리케이션</a:t>
              </a:r>
              <a:endParaRPr lang="en-US" altLang="ko-KR" sz="1400" dirty="0"/>
            </a:p>
            <a:p>
              <a:pPr marL="285750" indent="-285750" algn="just">
                <a:buFontTx/>
                <a:buChar char="-"/>
              </a:pPr>
              <a:r>
                <a:rPr lang="ko-KR" altLang="en-US" sz="1400" dirty="0"/>
                <a:t>실시간 이미지 업로드 및 예측 결과 시각화</a:t>
              </a:r>
              <a:endParaRPr lang="en-US" altLang="ko-KR" sz="1400" dirty="0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DD7A3CE-C99B-F380-A25D-16EF81CA0683}"/>
                </a:ext>
              </a:extLst>
            </p:cNvPr>
            <p:cNvSpPr txBox="1"/>
            <p:nvPr/>
          </p:nvSpPr>
          <p:spPr>
            <a:xfrm>
              <a:off x="1014617" y="4249825"/>
              <a:ext cx="1259036" cy="382445"/>
            </a:xfrm>
            <a:prstGeom prst="rect">
              <a:avLst/>
            </a:prstGeom>
            <a:noFill/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spc="-15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a typeface="+mj-ea"/>
                </a:rPr>
                <a:t>Streamlit</a:t>
              </a:r>
              <a:endPara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  <a:ea typeface="+mj-ea"/>
              </a:endParaRP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0D6D0B64-F683-BEF4-0450-44DF6D818B97}"/>
              </a:ext>
            </a:extLst>
          </p:cNvPr>
          <p:cNvGrpSpPr/>
          <p:nvPr/>
        </p:nvGrpSpPr>
        <p:grpSpPr>
          <a:xfrm>
            <a:off x="8861212" y="1453135"/>
            <a:ext cx="3079728" cy="1225064"/>
            <a:chOff x="258857" y="4249825"/>
            <a:chExt cx="2858426" cy="117097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E6BCF8B-1590-6ED9-D71A-F117FCA97B59}"/>
                </a:ext>
              </a:extLst>
            </p:cNvPr>
            <p:cNvSpPr txBox="1"/>
            <p:nvPr/>
          </p:nvSpPr>
          <p:spPr>
            <a:xfrm>
              <a:off x="258857" y="4714750"/>
              <a:ext cx="2858426" cy="7060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 algn="just">
                <a:buFontTx/>
                <a:buChar char="-"/>
              </a:pPr>
              <a:r>
                <a:rPr lang="ko-KR" altLang="en-US" sz="1400" dirty="0"/>
                <a:t>이미지</a:t>
              </a:r>
              <a:r>
                <a:rPr lang="en-US" altLang="ko-KR" sz="1400" dirty="0"/>
                <a:t> : </a:t>
              </a:r>
              <a:r>
                <a:rPr lang="ko-KR" altLang="en-US" sz="1400" dirty="0" err="1"/>
                <a:t>어노테이션</a:t>
              </a:r>
              <a:r>
                <a:rPr lang="ko-KR" altLang="en-US" sz="1400" dirty="0"/>
                <a:t> 매핑 분석</a:t>
              </a:r>
              <a:endParaRPr lang="en-US" altLang="ko-KR" sz="1400" dirty="0"/>
            </a:p>
            <a:p>
              <a:pPr marL="285750" indent="-285750" algn="just">
                <a:buFontTx/>
                <a:buChar char="-"/>
              </a:pPr>
              <a:r>
                <a:rPr lang="ko-KR" altLang="en-US" sz="1400" dirty="0"/>
                <a:t>전수 식별을 통해 </a:t>
              </a:r>
              <a:r>
                <a:rPr lang="en-US" altLang="ko-KR" sz="1400" dirty="0" err="1"/>
                <a:t>bbox</a:t>
              </a:r>
              <a:r>
                <a:rPr lang="en-US" altLang="ko-KR" sz="1400" dirty="0"/>
                <a:t> </a:t>
              </a:r>
              <a:r>
                <a:rPr lang="ko-KR" altLang="en-US" sz="1400" dirty="0"/>
                <a:t>박스 및 약 이름 확인</a:t>
              </a:r>
              <a:r>
                <a:rPr lang="en-US" altLang="ko-KR" sz="1400" dirty="0"/>
                <a:t>(</a:t>
              </a:r>
              <a:r>
                <a:rPr lang="ko-KR" altLang="en-US" sz="1400" dirty="0"/>
                <a:t>약학 정보원</a:t>
              </a:r>
              <a:r>
                <a:rPr lang="en-US" altLang="ko-KR" sz="1400" dirty="0"/>
                <a:t>)</a:t>
              </a:r>
              <a:endParaRPr lang="ko-KR" altLang="en-US" sz="1400" dirty="0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C85847D-7A37-CC5F-81E0-D1B7D2B2C61D}"/>
                </a:ext>
              </a:extLst>
            </p:cNvPr>
            <p:cNvSpPr txBox="1"/>
            <p:nvPr/>
          </p:nvSpPr>
          <p:spPr>
            <a:xfrm>
              <a:off x="654345" y="4249825"/>
              <a:ext cx="1979580" cy="382445"/>
            </a:xfrm>
            <a:prstGeom prst="rect">
              <a:avLst/>
            </a:prstGeom>
            <a:noFill/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+mj-ea"/>
                </a:rPr>
                <a:t>데이터 분석 </a:t>
              </a:r>
              <a:r>
                <a:rPr lang="en-US" altLang="ko-KR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+mj-ea"/>
                </a:rPr>
                <a:t>(EDA)</a:t>
              </a:r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4300549C-E4D0-42F1-8456-2D5973D6A282}"/>
              </a:ext>
            </a:extLst>
          </p:cNvPr>
          <p:cNvGrpSpPr/>
          <p:nvPr/>
        </p:nvGrpSpPr>
        <p:grpSpPr>
          <a:xfrm>
            <a:off x="8861212" y="3917698"/>
            <a:ext cx="3079728" cy="1176031"/>
            <a:chOff x="212454" y="4249825"/>
            <a:chExt cx="2858426" cy="1124109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8ED8CCD-D87E-320F-F633-566B456C9AAF}"/>
                </a:ext>
              </a:extLst>
            </p:cNvPr>
            <p:cNvSpPr txBox="1"/>
            <p:nvPr/>
          </p:nvSpPr>
          <p:spPr>
            <a:xfrm>
              <a:off x="212454" y="4667882"/>
              <a:ext cx="2858426" cy="7060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 algn="just">
                <a:buFontTx/>
                <a:buChar char="-"/>
              </a:pPr>
              <a:r>
                <a:rPr lang="en-US" altLang="ko-KR" sz="1400" dirty="0"/>
                <a:t>Kaggle Submission </a:t>
              </a:r>
              <a:r>
                <a:rPr lang="ko-KR" altLang="en-US" sz="1400" dirty="0"/>
                <a:t>파일 생성</a:t>
              </a:r>
              <a:endParaRPr lang="en-US" altLang="ko-KR" sz="1400" dirty="0"/>
            </a:p>
            <a:p>
              <a:pPr marL="285750" indent="-285750" algn="just">
                <a:buFontTx/>
                <a:buChar char="-"/>
              </a:pPr>
              <a:r>
                <a:rPr lang="en-US" altLang="ko-KR" sz="1400" dirty="0" err="1"/>
                <a:t>mAP</a:t>
              </a:r>
              <a:r>
                <a:rPr lang="en-US" altLang="ko-KR" sz="1400" dirty="0"/>
                <a:t>@[0.75:0.95] </a:t>
              </a:r>
              <a:r>
                <a:rPr lang="ko-KR" altLang="en-US" sz="1400" dirty="0"/>
                <a:t>평가 지표</a:t>
              </a:r>
              <a:r>
                <a:rPr lang="en-US" altLang="ko-KR" sz="1400" dirty="0"/>
                <a:t> </a:t>
              </a:r>
              <a:r>
                <a:rPr lang="ko-KR" altLang="en-US" sz="1400" dirty="0"/>
                <a:t>계산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B3D7A32B-E290-1EA7-60BC-E630A4E0F423}"/>
                </a:ext>
              </a:extLst>
            </p:cNvPr>
            <p:cNvSpPr txBox="1"/>
            <p:nvPr/>
          </p:nvSpPr>
          <p:spPr>
            <a:xfrm>
              <a:off x="641946" y="4249825"/>
              <a:ext cx="2004385" cy="382445"/>
            </a:xfrm>
            <a:prstGeom prst="rect">
              <a:avLst/>
            </a:prstGeom>
            <a:noFill/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자동화</a:t>
              </a:r>
              <a:r>
                <a:rPr lang="en-US" altLang="ko-KR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평가 시스템</a:t>
              </a:r>
              <a:endPara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0D6673E1-2552-D0C8-8777-1246E92991DE}"/>
              </a:ext>
            </a:extLst>
          </p:cNvPr>
          <p:cNvSpPr txBox="1"/>
          <p:nvPr/>
        </p:nvSpPr>
        <p:spPr>
          <a:xfrm>
            <a:off x="583709" y="345588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2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CE6EC796-227C-559F-2A8F-07B193B08CA8}"/>
              </a:ext>
            </a:extLst>
          </p:cNvPr>
          <p:cNvCxnSpPr>
            <a:cxnSpLocks/>
          </p:cNvCxnSpPr>
          <p:nvPr/>
        </p:nvCxnSpPr>
        <p:spPr>
          <a:xfrm>
            <a:off x="1587500" y="190500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2214FCE8-DC9B-EDD3-81EE-96432A1326BD}"/>
              </a:ext>
            </a:extLst>
          </p:cNvPr>
          <p:cNvCxnSpPr>
            <a:cxnSpLocks/>
          </p:cNvCxnSpPr>
          <p:nvPr/>
        </p:nvCxnSpPr>
        <p:spPr>
          <a:xfrm>
            <a:off x="152400" y="190500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6055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3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91C37AB-8C78-4D6C-BA47-74533619AC5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alphaModFix amt="5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265557" y="1776905"/>
            <a:ext cx="3640984" cy="3387516"/>
          </a:xfrm>
          <a:prstGeom prst="rect">
            <a:avLst/>
          </a:prstGeom>
        </p:spPr>
      </p:pic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9B143F9-EC64-ABC5-C8D5-795E8046693C}"/>
              </a:ext>
            </a:extLst>
          </p:cNvPr>
          <p:cNvSpPr/>
          <p:nvPr/>
        </p:nvSpPr>
        <p:spPr>
          <a:xfrm>
            <a:off x="734267" y="989387"/>
            <a:ext cx="4940300" cy="1195708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noFill/>
          <a:ln w="57150">
            <a:solidFill>
              <a:srgbClr val="5F5F5D">
                <a:alpha val="48000"/>
              </a:srgb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marL="0" lvl="0" indent="0" algn="ctr" defTabSz="182245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altLang="ko-KR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1C8E52-9362-CCF8-761C-3EAF07D4CB2F}"/>
              </a:ext>
            </a:extLst>
          </p:cNvPr>
          <p:cNvSpPr txBox="1"/>
          <p:nvPr/>
        </p:nvSpPr>
        <p:spPr>
          <a:xfrm>
            <a:off x="583709" y="345588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2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A0E1A8CC-881A-A5D0-8ACD-8909787DFE2A}"/>
              </a:ext>
            </a:extLst>
          </p:cNvPr>
          <p:cNvCxnSpPr>
            <a:cxnSpLocks/>
          </p:cNvCxnSpPr>
          <p:nvPr/>
        </p:nvCxnSpPr>
        <p:spPr>
          <a:xfrm>
            <a:off x="152400" y="190500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42FBB5D-99A4-F72C-D93C-F17682E9DEC7}"/>
              </a:ext>
            </a:extLst>
          </p:cNvPr>
          <p:cNvCxnSpPr>
            <a:cxnSpLocks/>
          </p:cNvCxnSpPr>
          <p:nvPr/>
        </p:nvCxnSpPr>
        <p:spPr>
          <a:xfrm>
            <a:off x="1587500" y="190500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991442E-2474-1CE3-3F05-23E13B76CC73}"/>
              </a:ext>
            </a:extLst>
          </p:cNvPr>
          <p:cNvSpPr txBox="1"/>
          <p:nvPr/>
        </p:nvSpPr>
        <p:spPr>
          <a:xfrm>
            <a:off x="1676400" y="330200"/>
            <a:ext cx="101024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핵심 기능 및 아키텍처 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(Key Features &amp; Architecture)</a:t>
            </a:r>
            <a:endParaRPr lang="ko-KR" altLang="en-US" sz="3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320708B0-2D74-ABB6-391E-F58EDB75AC3F}"/>
              </a:ext>
            </a:extLst>
          </p:cNvPr>
          <p:cNvSpPr/>
          <p:nvPr/>
        </p:nvSpPr>
        <p:spPr>
          <a:xfrm>
            <a:off x="734267" y="1014787"/>
            <a:ext cx="4940300" cy="439149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lvl="0" algn="ctr" defTabSz="18224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altLang="ko-KR" kern="1200" dirty="0" err="1"/>
              <a:t>Streamlit</a:t>
            </a:r>
            <a:r>
              <a:rPr lang="en-US" altLang="ko-KR" kern="1200" dirty="0"/>
              <a:t> </a:t>
            </a:r>
            <a:r>
              <a:rPr lang="en-US" altLang="ko-KR" dirty="0"/>
              <a:t>Web UI (streamitService.py)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7282CB60-D8A4-9B59-860C-F9A45CD855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3823407"/>
              </p:ext>
            </p:extLst>
          </p:nvPr>
        </p:nvGraphicFramePr>
        <p:xfrm>
          <a:off x="734267" y="1602865"/>
          <a:ext cx="49403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8060">
                  <a:extLst>
                    <a:ext uri="{9D8B030D-6E8A-4147-A177-3AD203B41FA5}">
                      <a16:colId xmlns:a16="http://schemas.microsoft.com/office/drawing/2014/main" val="1772892839"/>
                    </a:ext>
                  </a:extLst>
                </a:gridCol>
                <a:gridCol w="988060">
                  <a:extLst>
                    <a:ext uri="{9D8B030D-6E8A-4147-A177-3AD203B41FA5}">
                      <a16:colId xmlns:a16="http://schemas.microsoft.com/office/drawing/2014/main" val="2774778465"/>
                    </a:ext>
                  </a:extLst>
                </a:gridCol>
                <a:gridCol w="988060">
                  <a:extLst>
                    <a:ext uri="{9D8B030D-6E8A-4147-A177-3AD203B41FA5}">
                      <a16:colId xmlns:a16="http://schemas.microsoft.com/office/drawing/2014/main" val="2551925720"/>
                    </a:ext>
                  </a:extLst>
                </a:gridCol>
                <a:gridCol w="988060">
                  <a:extLst>
                    <a:ext uri="{9D8B030D-6E8A-4147-A177-3AD203B41FA5}">
                      <a16:colId xmlns:a16="http://schemas.microsoft.com/office/drawing/2014/main" val="2914413052"/>
                    </a:ext>
                  </a:extLst>
                </a:gridCol>
                <a:gridCol w="988060">
                  <a:extLst>
                    <a:ext uri="{9D8B030D-6E8A-4147-A177-3AD203B41FA5}">
                      <a16:colId xmlns:a16="http://schemas.microsoft.com/office/drawing/2014/main" val="31994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프로젝트 개요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모델 연구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데이터분석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EDA </a:t>
                      </a:r>
                      <a:r>
                        <a:rPr lang="ko-KR" altLang="en-US" sz="1400" dirty="0"/>
                        <a:t>시연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모델 시연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553"/>
                  </a:ext>
                </a:extLst>
              </a:tr>
            </a:tbl>
          </a:graphicData>
        </a:graphic>
      </p:graphicFrame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4B07F70F-A5CB-A892-E4DA-96851090550E}"/>
              </a:ext>
            </a:extLst>
          </p:cNvPr>
          <p:cNvCxnSpPr>
            <a:cxnSpLocks/>
          </p:cNvCxnSpPr>
          <p:nvPr/>
        </p:nvCxnSpPr>
        <p:spPr>
          <a:xfrm>
            <a:off x="3204417" y="2247899"/>
            <a:ext cx="0" cy="402774"/>
          </a:xfrm>
          <a:prstGeom prst="straightConnector1">
            <a:avLst/>
          </a:prstGeom>
          <a:ln w="57150" cap="flat" cmpd="sng" algn="ctr">
            <a:solidFill>
              <a:srgbClr val="9F9E9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FCD12DE-2190-953D-8323-2E3620BB2260}"/>
              </a:ext>
            </a:extLst>
          </p:cNvPr>
          <p:cNvSpPr/>
          <p:nvPr/>
        </p:nvSpPr>
        <p:spPr>
          <a:xfrm>
            <a:off x="734267" y="2744046"/>
            <a:ext cx="4940300" cy="1620161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noFill/>
          <a:ln w="57150">
            <a:solidFill>
              <a:srgbClr val="5F5F5D">
                <a:alpha val="48000"/>
              </a:srgb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marL="0" lvl="0" indent="0" algn="ctr" defTabSz="182245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altLang="ko-KR" sz="2000" dirty="0"/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86D974C1-3564-C77A-1C65-1BAB183C384A}"/>
              </a:ext>
            </a:extLst>
          </p:cNvPr>
          <p:cNvSpPr/>
          <p:nvPr/>
        </p:nvSpPr>
        <p:spPr>
          <a:xfrm>
            <a:off x="734267" y="2769447"/>
            <a:ext cx="4940300" cy="439149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lvl="0" algn="ctr" defTabSz="18224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ko-KR" altLang="en-US" dirty="0"/>
              <a:t>핵심 엔진</a:t>
            </a:r>
            <a:r>
              <a:rPr lang="en-US" altLang="ko-KR" dirty="0"/>
              <a:t>(A04.py)</a:t>
            </a:r>
          </a:p>
        </p:txBody>
      </p:sp>
      <p:graphicFrame>
        <p:nvGraphicFramePr>
          <p:cNvPr id="48" name="표 47">
            <a:extLst>
              <a:ext uri="{FF2B5EF4-FFF2-40B4-BE49-F238E27FC236}">
                <a16:creationId xmlns:a16="http://schemas.microsoft.com/office/drawing/2014/main" id="{F8F00DB8-AB00-8798-C42B-1B8070E5DD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7382275"/>
              </p:ext>
            </p:extLst>
          </p:nvPr>
        </p:nvGraphicFramePr>
        <p:xfrm>
          <a:off x="734267" y="3341901"/>
          <a:ext cx="4940300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40300">
                  <a:extLst>
                    <a:ext uri="{9D8B030D-6E8A-4147-A177-3AD203B41FA5}">
                      <a16:colId xmlns:a16="http://schemas.microsoft.com/office/drawing/2014/main" val="17728928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1400" dirty="0" err="1"/>
                        <a:t>Execute_Train</a:t>
                      </a:r>
                      <a:r>
                        <a:rPr lang="en-US" altLang="ko-KR" sz="1400" dirty="0"/>
                        <a:t>() : </a:t>
                      </a:r>
                      <a:r>
                        <a:rPr lang="ko-KR" altLang="en-US" sz="1400" dirty="0"/>
                        <a:t>통합 학습 실행 함수 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ko-KR" altLang="en-US" sz="1400" dirty="0"/>
                        <a:t>데이터 </a:t>
                      </a:r>
                      <a:r>
                        <a:rPr lang="ko-KR" altLang="en-US" sz="1400" dirty="0" err="1"/>
                        <a:t>전처리</a:t>
                      </a:r>
                      <a:r>
                        <a:rPr lang="ko-KR" altLang="en-US" sz="1400" dirty="0"/>
                        <a:t> 파이프 라인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ko-KR" altLang="en-US" sz="1400" dirty="0"/>
                        <a:t>모델 학습 </a:t>
                      </a:r>
                      <a:r>
                        <a:rPr lang="en-US" altLang="ko-KR" sz="1400" dirty="0"/>
                        <a:t>/ </a:t>
                      </a:r>
                      <a:r>
                        <a:rPr lang="ko-KR" altLang="en-US" sz="1400" dirty="0"/>
                        <a:t>평가 통합 시스템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en-US" altLang="ko-KR" sz="1400" dirty="0"/>
                        <a:t>YOLOv8 &amp; Faster R-CNN </a:t>
                      </a:r>
                      <a:r>
                        <a:rPr lang="ko-KR" altLang="en-US" sz="1400" dirty="0"/>
                        <a:t>구현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553"/>
                  </a:ext>
                </a:extLst>
              </a:tr>
            </a:tbl>
          </a:graphicData>
        </a:graphic>
      </p:graphicFrame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0146030D-A83C-5EFC-E450-8A532F43E54B}"/>
              </a:ext>
            </a:extLst>
          </p:cNvPr>
          <p:cNvSpPr/>
          <p:nvPr/>
        </p:nvSpPr>
        <p:spPr>
          <a:xfrm>
            <a:off x="6725441" y="1520689"/>
            <a:ext cx="4940300" cy="1195708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noFill/>
          <a:ln w="57150">
            <a:solidFill>
              <a:srgbClr val="5F5F5D">
                <a:alpha val="48000"/>
              </a:srgb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marL="0" lvl="0" indent="0" algn="ctr" defTabSz="182245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altLang="ko-KR" sz="2000" dirty="0"/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06278733-FC65-D767-F047-C73312B45438}"/>
              </a:ext>
            </a:extLst>
          </p:cNvPr>
          <p:cNvSpPr/>
          <p:nvPr/>
        </p:nvSpPr>
        <p:spPr>
          <a:xfrm>
            <a:off x="6725441" y="1546089"/>
            <a:ext cx="4940300" cy="439149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lvl="0" algn="ctr" defTabSz="18224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ko-KR" altLang="en-US" kern="1200" dirty="0"/>
              <a:t>데이터 계층</a:t>
            </a:r>
            <a:endParaRPr lang="en-US" altLang="ko-KR" dirty="0"/>
          </a:p>
        </p:txBody>
      </p:sp>
      <p:sp>
        <p:nvSpPr>
          <p:cNvPr id="52" name="자유형: 도형 51">
            <a:extLst>
              <a:ext uri="{FF2B5EF4-FFF2-40B4-BE49-F238E27FC236}">
                <a16:creationId xmlns:a16="http://schemas.microsoft.com/office/drawing/2014/main" id="{A9058534-0CED-C96D-AA94-FEBB967BB8A4}"/>
              </a:ext>
            </a:extLst>
          </p:cNvPr>
          <p:cNvSpPr/>
          <p:nvPr/>
        </p:nvSpPr>
        <p:spPr>
          <a:xfrm>
            <a:off x="734267" y="4824247"/>
            <a:ext cx="4940300" cy="2033753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noFill/>
          <a:ln w="57150">
            <a:solidFill>
              <a:srgbClr val="5F5F5D">
                <a:alpha val="48000"/>
              </a:srgb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marL="0" lvl="0" indent="0" algn="ctr" defTabSz="182245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altLang="ko-KR" sz="2000" dirty="0"/>
          </a:p>
        </p:txBody>
      </p:sp>
      <p:sp>
        <p:nvSpPr>
          <p:cNvPr id="53" name="자유형: 도형 52">
            <a:extLst>
              <a:ext uri="{FF2B5EF4-FFF2-40B4-BE49-F238E27FC236}">
                <a16:creationId xmlns:a16="http://schemas.microsoft.com/office/drawing/2014/main" id="{5299A707-4337-6D65-D8A9-310FFE6E9F2A}"/>
              </a:ext>
            </a:extLst>
          </p:cNvPr>
          <p:cNvSpPr/>
          <p:nvPr/>
        </p:nvSpPr>
        <p:spPr>
          <a:xfrm>
            <a:off x="734267" y="4849648"/>
            <a:ext cx="4940300" cy="439149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lvl="0" algn="ctr" defTabSz="18224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ko-KR" altLang="en-US" dirty="0"/>
              <a:t>평가 시스템 </a:t>
            </a:r>
            <a:r>
              <a:rPr lang="en-US" altLang="ko-KR" dirty="0"/>
              <a:t>(run_evaluation.py)</a:t>
            </a:r>
          </a:p>
        </p:txBody>
      </p:sp>
      <p:graphicFrame>
        <p:nvGraphicFramePr>
          <p:cNvPr id="54" name="표 53">
            <a:extLst>
              <a:ext uri="{FF2B5EF4-FFF2-40B4-BE49-F238E27FC236}">
                <a16:creationId xmlns:a16="http://schemas.microsoft.com/office/drawing/2014/main" id="{74877481-E1E1-0C5D-B1C3-C5281A8930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836415"/>
              </p:ext>
            </p:extLst>
          </p:nvPr>
        </p:nvGraphicFramePr>
        <p:xfrm>
          <a:off x="734267" y="5422102"/>
          <a:ext cx="49403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40300">
                  <a:extLst>
                    <a:ext uri="{9D8B030D-6E8A-4147-A177-3AD203B41FA5}">
                      <a16:colId xmlns:a16="http://schemas.microsoft.com/office/drawing/2014/main" val="17728928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1400" dirty="0" err="1"/>
                        <a:t>evaluate_and_create_submission</a:t>
                      </a:r>
                      <a:r>
                        <a:rPr lang="en-US" altLang="ko-KR" sz="1400" dirty="0"/>
                        <a:t>() </a:t>
                      </a:r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ko-KR" altLang="en-US" sz="1400" dirty="0"/>
                        <a:t>모델</a:t>
                      </a:r>
                      <a:r>
                        <a:rPr lang="en-US" altLang="ko-KR" sz="1400" dirty="0"/>
                        <a:t> </a:t>
                      </a:r>
                      <a:r>
                        <a:rPr lang="ko-KR" altLang="en-US" sz="1400" dirty="0"/>
                        <a:t>로드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en-US" altLang="ko-KR" sz="1400" dirty="0"/>
                        <a:t>Validation </a:t>
                      </a:r>
                      <a:r>
                        <a:rPr lang="ko-KR" altLang="en-US" sz="1400" dirty="0"/>
                        <a:t>평가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ko-KR" altLang="en-US" sz="1400" dirty="0"/>
                        <a:t>테스트</a:t>
                      </a:r>
                      <a:r>
                        <a:rPr lang="en-US" altLang="ko-KR" sz="1400" dirty="0"/>
                        <a:t> </a:t>
                      </a:r>
                      <a:r>
                        <a:rPr lang="ko-KR" altLang="en-US" sz="1400" dirty="0"/>
                        <a:t>데이터 예측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en-US" altLang="ko-KR" sz="1400" dirty="0"/>
                        <a:t>Submission CSV </a:t>
                      </a:r>
                      <a:r>
                        <a:rPr lang="ko-KR" altLang="en-US" sz="1400" dirty="0"/>
                        <a:t>생성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ko-KR" altLang="en-US" sz="1400" dirty="0"/>
                        <a:t>결과 시각화</a:t>
                      </a:r>
                      <a:endParaRPr lang="en-US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553"/>
                  </a:ext>
                </a:extLst>
              </a:tr>
            </a:tbl>
          </a:graphicData>
        </a:graphic>
      </p:graphicFrame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AFE4C456-C1B4-9D6F-4409-FE01FA6A71E6}"/>
              </a:ext>
            </a:extLst>
          </p:cNvPr>
          <p:cNvCxnSpPr>
            <a:cxnSpLocks/>
          </p:cNvCxnSpPr>
          <p:nvPr/>
        </p:nvCxnSpPr>
        <p:spPr>
          <a:xfrm>
            <a:off x="3204417" y="4406959"/>
            <a:ext cx="0" cy="402774"/>
          </a:xfrm>
          <a:prstGeom prst="straightConnector1">
            <a:avLst/>
          </a:prstGeom>
          <a:ln w="57150" cap="flat" cmpd="sng" algn="ctr">
            <a:solidFill>
              <a:srgbClr val="9F9E9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9CCF9106-46FF-255A-8145-775A20714FCC}"/>
              </a:ext>
            </a:extLst>
          </p:cNvPr>
          <p:cNvCxnSpPr>
            <a:cxnSpLocks/>
          </p:cNvCxnSpPr>
          <p:nvPr/>
        </p:nvCxnSpPr>
        <p:spPr>
          <a:xfrm>
            <a:off x="9195591" y="1051162"/>
            <a:ext cx="0" cy="402774"/>
          </a:xfrm>
          <a:prstGeom prst="straightConnector1">
            <a:avLst/>
          </a:prstGeom>
          <a:ln w="57150" cap="flat" cmpd="sng" algn="ctr">
            <a:solidFill>
              <a:srgbClr val="9F9E9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270ABEAF-1443-0336-2CCF-73CBB069CE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5923918"/>
              </p:ext>
            </p:extLst>
          </p:nvPr>
        </p:nvGraphicFramePr>
        <p:xfrm>
          <a:off x="6725441" y="2059649"/>
          <a:ext cx="4940300" cy="28131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40300">
                  <a:extLst>
                    <a:ext uri="{9D8B030D-6E8A-4147-A177-3AD203B41FA5}">
                      <a16:colId xmlns:a16="http://schemas.microsoft.com/office/drawing/2014/main" val="1772892839"/>
                    </a:ext>
                  </a:extLst>
                </a:gridCol>
              </a:tblGrid>
              <a:tr h="2813113"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1400" dirty="0"/>
                        <a:t>D:\01.project\EntryPrj\data\ (</a:t>
                      </a:r>
                      <a:r>
                        <a:rPr lang="ko-KR" altLang="en-US" sz="1400" dirty="0"/>
                        <a:t>로컬 </a:t>
                      </a:r>
                      <a:r>
                        <a:rPr lang="en-US" altLang="ko-KR" sz="1400" dirty="0"/>
                        <a:t>&amp; </a:t>
                      </a:r>
                      <a:r>
                        <a:rPr lang="ko-KR" altLang="en-US" sz="1400" dirty="0"/>
                        <a:t>구글 드라이브</a:t>
                      </a:r>
                      <a:r>
                        <a:rPr lang="en-US" altLang="ko-KR" sz="1400" dirty="0"/>
                        <a:t>)</a:t>
                      </a:r>
                    </a:p>
                    <a:p>
                      <a:pPr marL="0" indent="0" algn="ctr" latinLnBrk="1">
                        <a:buFontTx/>
                        <a:buNone/>
                      </a:pPr>
                      <a:r>
                        <a:rPr lang="ko-KR" altLang="en-US" sz="1400" dirty="0"/>
                        <a:t>├─ </a:t>
                      </a:r>
                      <a:r>
                        <a:rPr lang="en-US" altLang="ko-KR" sz="1400" dirty="0"/>
                        <a:t>1.drug_Image_annotation_allOK/ (91% </a:t>
                      </a:r>
                      <a:r>
                        <a:rPr lang="ko-KR" altLang="en-US" sz="1400" dirty="0"/>
                        <a:t>데이터</a:t>
                      </a:r>
                      <a:r>
                        <a:rPr lang="en-US" altLang="ko-KR" sz="1400" dirty="0"/>
                        <a:t>)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   └──────</a:t>
                      </a:r>
                      <a:r>
                        <a:rPr lang="en-US" altLang="ko-KR" sz="1400" dirty="0"/>
                        <a:t>(</a:t>
                      </a:r>
                      <a:r>
                        <a:rPr lang="ko-KR" altLang="en-US" sz="1400" dirty="0"/>
                        <a:t>완전한 이미지</a:t>
                      </a:r>
                      <a:r>
                        <a:rPr lang="en-US" altLang="ko-KR" sz="14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   </a:t>
                      </a:r>
                      <a:r>
                        <a:rPr lang="ko-KR" altLang="en-US" sz="1400" dirty="0"/>
                        <a:t>├─ </a:t>
                      </a:r>
                      <a:r>
                        <a:rPr lang="en-US" altLang="ko-KR" sz="1400" dirty="0"/>
                        <a:t>2.drug_no_image_ok_Anno/ (4% </a:t>
                      </a:r>
                      <a:r>
                        <a:rPr lang="ko-KR" altLang="en-US" sz="1400" dirty="0"/>
                        <a:t>데이터</a:t>
                      </a:r>
                      <a:r>
                        <a:rPr lang="en-US" altLang="ko-KR" sz="14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   └──────</a:t>
                      </a:r>
                      <a:r>
                        <a:rPr lang="en-US" altLang="ko-KR" sz="1400" dirty="0"/>
                        <a:t>(</a:t>
                      </a:r>
                      <a:r>
                        <a:rPr lang="ko-KR" altLang="en-US" sz="1400" dirty="0" err="1"/>
                        <a:t>어노테이션만</a:t>
                      </a:r>
                      <a:r>
                        <a:rPr lang="ko-KR" altLang="en-US" sz="1400" dirty="0"/>
                        <a:t> 존재 </a:t>
                      </a:r>
                      <a:r>
                        <a:rPr lang="en-US" altLang="ko-KR" sz="1400" dirty="0"/>
                        <a:t>+ AI </a:t>
                      </a:r>
                      <a:r>
                        <a:rPr lang="ko-KR" altLang="en-US" sz="1400" dirty="0"/>
                        <a:t>허브 취합</a:t>
                      </a:r>
                      <a:r>
                        <a:rPr lang="en-US" altLang="ko-KR" sz="14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   ├─ </a:t>
                      </a:r>
                      <a:r>
                        <a:rPr lang="en-US" altLang="ko-KR" sz="1400" dirty="0"/>
                        <a:t>3.drug_ok_Image_no_Anno/ (5% </a:t>
                      </a:r>
                      <a:r>
                        <a:rPr lang="ko-KR" altLang="en-US" sz="1400" dirty="0"/>
                        <a:t>데이터</a:t>
                      </a:r>
                      <a:r>
                        <a:rPr lang="en-US" altLang="ko-KR" sz="14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   └──────</a:t>
                      </a:r>
                      <a:r>
                        <a:rPr lang="en-US" altLang="ko-KR" sz="1400" dirty="0"/>
                        <a:t>(</a:t>
                      </a:r>
                      <a:r>
                        <a:rPr lang="ko-KR" altLang="en-US" sz="1400" dirty="0"/>
                        <a:t>이미지만 존재 </a:t>
                      </a:r>
                      <a:r>
                        <a:rPr lang="en-US" altLang="ko-KR" sz="1400" dirty="0"/>
                        <a:t>+ AI </a:t>
                      </a:r>
                      <a:r>
                        <a:rPr lang="ko-KR" altLang="en-US" sz="1400" dirty="0"/>
                        <a:t>허브 취합</a:t>
                      </a:r>
                      <a:r>
                        <a:rPr lang="en-US" altLang="ko-KR" sz="14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   </a:t>
                      </a:r>
                      <a:r>
                        <a:rPr lang="ko-KR" altLang="en-US" sz="1400" dirty="0"/>
                        <a:t>├─ </a:t>
                      </a:r>
                      <a:r>
                        <a:rPr lang="en-US" altLang="ko-KR" sz="1400" dirty="0"/>
                        <a:t>4.drug_Augmentation/ (100% </a:t>
                      </a:r>
                      <a:r>
                        <a:rPr lang="ko-KR" altLang="en-US" sz="1400" dirty="0"/>
                        <a:t>데이터</a:t>
                      </a:r>
                      <a:r>
                        <a:rPr lang="en-US" altLang="ko-KR" sz="1400" dirty="0"/>
                        <a:t>)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   └──────</a:t>
                      </a:r>
                      <a:r>
                        <a:rPr lang="en-US" altLang="ko-KR" sz="1400" dirty="0"/>
                        <a:t>(</a:t>
                      </a:r>
                      <a:r>
                        <a:rPr lang="ko-KR" altLang="en-US" sz="1400" dirty="0"/>
                        <a:t>최종 학습 데이터 이미지</a:t>
                      </a:r>
                      <a:r>
                        <a:rPr lang="en-US" altLang="ko-KR" sz="14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0" dirty="0"/>
                        <a:t>   │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   </a:t>
                      </a:r>
                      <a:r>
                        <a:rPr lang="ko-KR" altLang="en-US" sz="1400" dirty="0"/>
                        <a:t>├─ </a:t>
                      </a:r>
                      <a:r>
                        <a:rPr lang="en-US" altLang="ko-KR" sz="1400" dirty="0" err="1"/>
                        <a:t>test_images</a:t>
                      </a:r>
                      <a:r>
                        <a:rPr lang="en-US" altLang="ko-KR" sz="1400" dirty="0"/>
                        <a:t>/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   └──────테스트 이미지 </a:t>
                      </a:r>
                      <a:r>
                        <a:rPr lang="en-US" altLang="ko-KR" sz="1400" dirty="0"/>
                        <a:t>(Kaggle </a:t>
                      </a:r>
                      <a:r>
                        <a:rPr lang="ko-KR" altLang="en-US" sz="1400" dirty="0"/>
                        <a:t>제출용</a:t>
                      </a:r>
                      <a:r>
                        <a:rPr lang="en-US" altLang="ko-KR" sz="1400" dirty="0"/>
                        <a:t>)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553"/>
                  </a:ext>
                </a:extLst>
              </a:tr>
            </a:tbl>
          </a:graphicData>
        </a:graphic>
      </p:graphicFrame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0E202EB4-D5FB-56DD-44FD-DABC18101A51}"/>
              </a:ext>
            </a:extLst>
          </p:cNvPr>
          <p:cNvCxnSpPr>
            <a:cxnSpLocks/>
          </p:cNvCxnSpPr>
          <p:nvPr/>
        </p:nvCxnSpPr>
        <p:spPr>
          <a:xfrm>
            <a:off x="9195591" y="4963034"/>
            <a:ext cx="0" cy="402774"/>
          </a:xfrm>
          <a:prstGeom prst="straightConnector1">
            <a:avLst/>
          </a:prstGeom>
          <a:ln w="57150" cap="flat" cmpd="sng" algn="ctr">
            <a:solidFill>
              <a:srgbClr val="9F9E9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930698C9-0A0A-E8C6-D221-27F3CCD6DFDA}"/>
              </a:ext>
            </a:extLst>
          </p:cNvPr>
          <p:cNvSpPr/>
          <p:nvPr/>
        </p:nvSpPr>
        <p:spPr>
          <a:xfrm>
            <a:off x="6725441" y="5420637"/>
            <a:ext cx="4940300" cy="1195708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noFill/>
          <a:ln w="57150">
            <a:solidFill>
              <a:srgbClr val="5F5F5D">
                <a:alpha val="48000"/>
              </a:srgb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marL="0" lvl="0" indent="0" algn="ctr" defTabSz="182245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altLang="ko-KR" sz="2000" dirty="0"/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D6C25578-7EB0-02E0-F599-31A7827AF6D6}"/>
              </a:ext>
            </a:extLst>
          </p:cNvPr>
          <p:cNvSpPr/>
          <p:nvPr/>
        </p:nvSpPr>
        <p:spPr>
          <a:xfrm>
            <a:off x="6725441" y="5446037"/>
            <a:ext cx="4940300" cy="439149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lvl="0" algn="ctr" defTabSz="18224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ko-KR" altLang="en-US" dirty="0"/>
              <a:t>인프라 계층 </a:t>
            </a:r>
            <a:r>
              <a:rPr lang="en-US" altLang="ko-KR" dirty="0"/>
              <a:t>(</a:t>
            </a:r>
            <a:r>
              <a:rPr lang="en-US" altLang="ko-KR" dirty="0" err="1"/>
              <a:t>Colab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  <a:r>
              <a:rPr lang="en-US" altLang="ko-KR" dirty="0"/>
              <a:t>)</a:t>
            </a:r>
          </a:p>
        </p:txBody>
      </p:sp>
      <p:graphicFrame>
        <p:nvGraphicFramePr>
          <p:cNvPr id="68" name="표 67">
            <a:extLst>
              <a:ext uri="{FF2B5EF4-FFF2-40B4-BE49-F238E27FC236}">
                <a16:creationId xmlns:a16="http://schemas.microsoft.com/office/drawing/2014/main" id="{1FFF5BFC-8EF1-6ABB-1CA4-5EECFE2695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118014"/>
              </p:ext>
            </p:extLst>
          </p:nvPr>
        </p:nvGraphicFramePr>
        <p:xfrm>
          <a:off x="6725441" y="6034115"/>
          <a:ext cx="49403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6767">
                  <a:extLst>
                    <a:ext uri="{9D8B030D-6E8A-4147-A177-3AD203B41FA5}">
                      <a16:colId xmlns:a16="http://schemas.microsoft.com/office/drawing/2014/main" val="1772892839"/>
                    </a:ext>
                  </a:extLst>
                </a:gridCol>
                <a:gridCol w="1646766">
                  <a:extLst>
                    <a:ext uri="{9D8B030D-6E8A-4147-A177-3AD203B41FA5}">
                      <a16:colId xmlns:a16="http://schemas.microsoft.com/office/drawing/2014/main" val="299487615"/>
                    </a:ext>
                  </a:extLst>
                </a:gridCol>
                <a:gridCol w="1646767">
                  <a:extLst>
                    <a:ext uri="{9D8B030D-6E8A-4147-A177-3AD203B41FA5}">
                      <a16:colId xmlns:a16="http://schemas.microsoft.com/office/drawing/2014/main" val="27480480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Pytorch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2.9.0 + cu126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CUDA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12.6+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RunTime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L4 GPU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1356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D63F21-C543-3AC4-9AD4-7B4DD1916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BCF2939-7696-59F4-ABA4-B5767A0CC23D}"/>
              </a:ext>
            </a:extLst>
          </p:cNvPr>
          <p:cNvSpPr/>
          <p:nvPr/>
        </p:nvSpPr>
        <p:spPr>
          <a:xfrm>
            <a:off x="734267" y="1014787"/>
            <a:ext cx="9247933" cy="5411722"/>
          </a:xfrm>
          <a:prstGeom prst="rect">
            <a:avLst/>
          </a:prstGeom>
          <a:solidFill>
            <a:srgbClr val="DFD8C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600" dirty="0">
                <a:solidFill>
                  <a:srgbClr val="6C6969"/>
                </a:solidFill>
              </a:rPr>
              <a:t> </a:t>
            </a:r>
            <a:r>
              <a:rPr lang="en-US" altLang="ko-KR" sz="1600" dirty="0" err="1">
                <a:solidFill>
                  <a:srgbClr val="6C6969"/>
                </a:solidFill>
              </a:rPr>
              <a:t>EntryPrj</a:t>
            </a:r>
            <a:r>
              <a:rPr lang="en-US" altLang="ko-KR" sz="1600" dirty="0">
                <a:solidFill>
                  <a:srgbClr val="6C6969"/>
                </a:solidFill>
              </a:rPr>
              <a:t>/</a:t>
            </a:r>
          </a:p>
          <a:p>
            <a:r>
              <a:rPr lang="en-US" altLang="ko-KR" sz="1600" dirty="0">
                <a:solidFill>
                  <a:srgbClr val="6C6969"/>
                </a:solidFill>
              </a:rPr>
              <a:t>    │</a:t>
            </a:r>
          </a:p>
          <a:p>
            <a:r>
              <a:rPr lang="en-US" altLang="ko-KR" sz="1600" dirty="0">
                <a:solidFill>
                  <a:srgbClr val="6C6969"/>
                </a:solidFill>
              </a:rPr>
              <a:t>    ├── data/                  		  # </a:t>
            </a:r>
            <a:r>
              <a:rPr lang="ko-KR" altLang="en-US" sz="1600" dirty="0">
                <a:solidFill>
                  <a:srgbClr val="6C6969"/>
                </a:solidFill>
              </a:rPr>
              <a:t>데이터 디렉토리</a:t>
            </a:r>
          </a:p>
          <a:p>
            <a:r>
              <a:rPr lang="ko-KR" altLang="en-US" sz="1600" dirty="0">
                <a:solidFill>
                  <a:srgbClr val="6C6969"/>
                </a:solidFill>
              </a:rPr>
              <a:t>    │   ├── </a:t>
            </a:r>
            <a:r>
              <a:rPr lang="en-US" altLang="ko-KR" sz="1600" dirty="0" err="1">
                <a:solidFill>
                  <a:srgbClr val="6C6969"/>
                </a:solidFill>
              </a:rPr>
              <a:t>oraldrug</a:t>
            </a:r>
            <a:r>
              <a:rPr lang="en-US" altLang="ko-KR" sz="1600" dirty="0">
                <a:solidFill>
                  <a:srgbClr val="6C6969"/>
                </a:solidFill>
              </a:rPr>
              <a:t>/</a:t>
            </a:r>
          </a:p>
          <a:p>
            <a:r>
              <a:rPr lang="en-US" altLang="ko-KR" sz="1600" dirty="0">
                <a:solidFill>
                  <a:srgbClr val="6C6969"/>
                </a:solidFill>
              </a:rPr>
              <a:t>    │   │   ├── 4.drug_Augmentation/  # </a:t>
            </a:r>
            <a:r>
              <a:rPr lang="ko-KR" altLang="en-US" sz="1600" dirty="0">
                <a:solidFill>
                  <a:srgbClr val="6C6969"/>
                </a:solidFill>
              </a:rPr>
              <a:t>원본 이미지 </a:t>
            </a:r>
            <a:r>
              <a:rPr lang="en-US" altLang="ko-KR" sz="1600" dirty="0">
                <a:solidFill>
                  <a:srgbClr val="6C6969"/>
                </a:solidFill>
              </a:rPr>
              <a:t>+ </a:t>
            </a:r>
            <a:r>
              <a:rPr lang="ko-KR" altLang="en-US" sz="1600" dirty="0" err="1">
                <a:solidFill>
                  <a:srgbClr val="6C6969"/>
                </a:solidFill>
              </a:rPr>
              <a:t>어노테이션</a:t>
            </a:r>
            <a:r>
              <a:rPr lang="ko-KR" altLang="en-US" sz="1600" dirty="0">
                <a:solidFill>
                  <a:srgbClr val="6C6969"/>
                </a:solidFill>
              </a:rPr>
              <a:t> 없는 이미지 취합 데이터</a:t>
            </a:r>
          </a:p>
          <a:p>
            <a:r>
              <a:rPr lang="ko-KR" altLang="en-US" sz="1600" dirty="0">
                <a:solidFill>
                  <a:srgbClr val="6C6969"/>
                </a:solidFill>
              </a:rPr>
              <a:t>    │   │   │   ├── </a:t>
            </a:r>
            <a:r>
              <a:rPr lang="en-US" altLang="ko-KR" sz="1600" dirty="0" err="1">
                <a:solidFill>
                  <a:srgbClr val="6C6969"/>
                </a:solidFill>
              </a:rPr>
              <a:t>train_images</a:t>
            </a:r>
            <a:r>
              <a:rPr lang="en-US" altLang="ko-KR" sz="1600" dirty="0">
                <a:solidFill>
                  <a:srgbClr val="6C6969"/>
                </a:solidFill>
              </a:rPr>
              <a:t>/            # </a:t>
            </a:r>
            <a:r>
              <a:rPr lang="ko-KR" altLang="en-US" sz="1600" dirty="0">
                <a:solidFill>
                  <a:srgbClr val="6C6969"/>
                </a:solidFill>
              </a:rPr>
              <a:t>학습 이미지</a:t>
            </a:r>
          </a:p>
          <a:p>
            <a:r>
              <a:rPr lang="ko-KR" altLang="en-US" sz="1600" dirty="0">
                <a:solidFill>
                  <a:srgbClr val="6C6969"/>
                </a:solidFill>
              </a:rPr>
              <a:t>    │   │   │   └── </a:t>
            </a:r>
            <a:r>
              <a:rPr lang="en-US" altLang="ko-KR" sz="1600" dirty="0" err="1">
                <a:solidFill>
                  <a:srgbClr val="6C6969"/>
                </a:solidFill>
              </a:rPr>
              <a:t>train_annotations</a:t>
            </a:r>
            <a:r>
              <a:rPr lang="en-US" altLang="ko-KR" sz="1600" dirty="0">
                <a:solidFill>
                  <a:srgbClr val="6C6969"/>
                </a:solidFill>
              </a:rPr>
              <a:t>/   # </a:t>
            </a:r>
            <a:r>
              <a:rPr lang="ko-KR" altLang="en-US" sz="1600" dirty="0" err="1">
                <a:solidFill>
                  <a:srgbClr val="6C6969"/>
                </a:solidFill>
              </a:rPr>
              <a:t>어노테이션</a:t>
            </a:r>
            <a:endParaRPr lang="ko-KR" altLang="en-US" sz="1600" dirty="0">
              <a:solidFill>
                <a:srgbClr val="6C6969"/>
              </a:solidFill>
            </a:endParaRPr>
          </a:p>
          <a:p>
            <a:r>
              <a:rPr lang="ko-KR" altLang="en-US" sz="1600" dirty="0">
                <a:solidFill>
                  <a:srgbClr val="6C6969"/>
                </a:solidFill>
              </a:rPr>
              <a:t>    │   │   └── </a:t>
            </a:r>
            <a:r>
              <a:rPr lang="en-US" altLang="ko-KR" sz="1600" dirty="0" err="1">
                <a:solidFill>
                  <a:srgbClr val="6C6969"/>
                </a:solidFill>
              </a:rPr>
              <a:t>test_images</a:t>
            </a:r>
            <a:r>
              <a:rPr lang="en-US" altLang="ko-KR" sz="1600" dirty="0">
                <a:solidFill>
                  <a:srgbClr val="6C6969"/>
                </a:solidFill>
              </a:rPr>
              <a:t>/                    # </a:t>
            </a:r>
            <a:r>
              <a:rPr lang="ko-KR" altLang="en-US" sz="1600" dirty="0">
                <a:solidFill>
                  <a:srgbClr val="6C6969"/>
                </a:solidFill>
              </a:rPr>
              <a:t>테스트 이미지</a:t>
            </a:r>
          </a:p>
          <a:p>
            <a:r>
              <a:rPr lang="ko-KR" altLang="en-US" sz="1600" dirty="0">
                <a:solidFill>
                  <a:srgbClr val="6C6969"/>
                </a:solidFill>
              </a:rPr>
              <a:t>    │   │	</a:t>
            </a:r>
          </a:p>
          <a:p>
            <a:r>
              <a:rPr lang="ko-KR" altLang="en-US" sz="1600" dirty="0">
                <a:solidFill>
                  <a:srgbClr val="6C6969"/>
                </a:solidFill>
              </a:rPr>
              <a:t>    │   ├── </a:t>
            </a:r>
            <a:r>
              <a:rPr lang="en-US" altLang="ko-KR" sz="1600" dirty="0" err="1">
                <a:solidFill>
                  <a:srgbClr val="6C6969"/>
                </a:solidFill>
              </a:rPr>
              <a:t>modelfiles</a:t>
            </a:r>
            <a:r>
              <a:rPr lang="en-US" altLang="ko-KR" sz="1600" dirty="0">
                <a:solidFill>
                  <a:srgbClr val="6C6969"/>
                </a:solidFill>
              </a:rPr>
              <a:t>/         	 # </a:t>
            </a:r>
            <a:r>
              <a:rPr lang="ko-KR" altLang="en-US" sz="1600" dirty="0">
                <a:solidFill>
                  <a:srgbClr val="6C6969"/>
                </a:solidFill>
              </a:rPr>
              <a:t>저장된 모델</a:t>
            </a:r>
          </a:p>
          <a:p>
            <a:r>
              <a:rPr lang="ko-KR" altLang="en-US" sz="1600" dirty="0">
                <a:solidFill>
                  <a:srgbClr val="6C6969"/>
                </a:solidFill>
              </a:rPr>
              <a:t>    │   │  	└── </a:t>
            </a:r>
            <a:r>
              <a:rPr lang="en-US" altLang="ko-KR" sz="1600" dirty="0">
                <a:solidFill>
                  <a:srgbClr val="6C6969"/>
                </a:solidFill>
              </a:rPr>
              <a:t>yolo_best.pt	 # </a:t>
            </a:r>
            <a:r>
              <a:rPr lang="ko-KR" altLang="en-US" sz="1600" dirty="0">
                <a:solidFill>
                  <a:srgbClr val="6C6969"/>
                </a:solidFill>
              </a:rPr>
              <a:t>베스트 모델 저장</a:t>
            </a:r>
          </a:p>
          <a:p>
            <a:r>
              <a:rPr lang="ko-KR" altLang="en-US" sz="1600" dirty="0">
                <a:solidFill>
                  <a:srgbClr val="6C6969"/>
                </a:solidFill>
              </a:rPr>
              <a:t>    │   └── </a:t>
            </a:r>
            <a:r>
              <a:rPr lang="en-US" altLang="ko-KR" sz="1600" dirty="0">
                <a:solidFill>
                  <a:srgbClr val="6C6969"/>
                </a:solidFill>
              </a:rPr>
              <a:t>submission/     	 # </a:t>
            </a:r>
            <a:r>
              <a:rPr lang="ko-KR" altLang="en-US" sz="1600" dirty="0" err="1">
                <a:solidFill>
                  <a:srgbClr val="6C6969"/>
                </a:solidFill>
              </a:rPr>
              <a:t>케글</a:t>
            </a:r>
            <a:r>
              <a:rPr lang="ko-KR" altLang="en-US" sz="1600" dirty="0">
                <a:solidFill>
                  <a:srgbClr val="6C6969"/>
                </a:solidFill>
              </a:rPr>
              <a:t> 제출 파일</a:t>
            </a:r>
            <a:endParaRPr lang="en-US" altLang="ko-KR" sz="1600" dirty="0">
              <a:solidFill>
                <a:srgbClr val="6C6969"/>
              </a:solidFill>
            </a:endParaRPr>
          </a:p>
          <a:p>
            <a:r>
              <a:rPr lang="ko-KR" altLang="en-US" sz="1600" dirty="0">
                <a:solidFill>
                  <a:srgbClr val="6C6969"/>
                </a:solidFill>
              </a:rPr>
              <a:t>    │   	└── </a:t>
            </a:r>
            <a:r>
              <a:rPr lang="en-US" altLang="ko-KR" sz="1600" b="1" dirty="0">
                <a:solidFill>
                  <a:srgbClr val="6C6969"/>
                </a:solidFill>
              </a:rPr>
              <a:t>submission_*.csv 	 </a:t>
            </a:r>
            <a:r>
              <a:rPr lang="en-US" altLang="ko-KR" sz="1600" dirty="0">
                <a:solidFill>
                  <a:srgbClr val="6C6969"/>
                </a:solidFill>
              </a:rPr>
              <a:t># </a:t>
            </a:r>
            <a:r>
              <a:rPr lang="ko-KR" altLang="en-US" sz="1600" dirty="0">
                <a:solidFill>
                  <a:srgbClr val="6C6969"/>
                </a:solidFill>
              </a:rPr>
              <a:t>제출용 </a:t>
            </a:r>
            <a:r>
              <a:rPr lang="en-US" altLang="ko-KR" sz="1600" dirty="0">
                <a:solidFill>
                  <a:srgbClr val="6C6969"/>
                </a:solidFill>
              </a:rPr>
              <a:t>CSV</a:t>
            </a:r>
            <a:endParaRPr lang="ko-KR" altLang="en-US" sz="1600" dirty="0">
              <a:solidFill>
                <a:srgbClr val="6C6969"/>
              </a:solidFill>
            </a:endParaRPr>
          </a:p>
          <a:p>
            <a:r>
              <a:rPr lang="ko-KR" altLang="en-US" sz="1600" dirty="0">
                <a:solidFill>
                  <a:srgbClr val="6C6969"/>
                </a:solidFill>
              </a:rPr>
              <a:t>    │	</a:t>
            </a:r>
          </a:p>
          <a:p>
            <a:r>
              <a:rPr lang="ko-KR" altLang="en-US" sz="1600" dirty="0">
                <a:solidFill>
                  <a:srgbClr val="6C6969"/>
                </a:solidFill>
              </a:rPr>
              <a:t>    ├── </a:t>
            </a:r>
            <a:r>
              <a:rPr lang="en-US" altLang="ko-KR" sz="1600" dirty="0" err="1">
                <a:solidFill>
                  <a:srgbClr val="6C6969"/>
                </a:solidFill>
              </a:rPr>
              <a:t>src</a:t>
            </a:r>
            <a:r>
              <a:rPr lang="en-US" altLang="ko-KR" sz="1600" dirty="0">
                <a:solidFill>
                  <a:srgbClr val="6C6969"/>
                </a:solidFill>
              </a:rPr>
              <a:t>/                    		# </a:t>
            </a:r>
            <a:r>
              <a:rPr lang="ko-KR" altLang="en-US" sz="1600" dirty="0">
                <a:solidFill>
                  <a:srgbClr val="6C6969"/>
                </a:solidFill>
              </a:rPr>
              <a:t>소스 코드</a:t>
            </a:r>
          </a:p>
          <a:p>
            <a:r>
              <a:rPr lang="ko-KR" altLang="en-US" sz="1600" dirty="0">
                <a:solidFill>
                  <a:srgbClr val="6C6969"/>
                </a:solidFill>
              </a:rPr>
              <a:t>    │   ├── </a:t>
            </a:r>
            <a:r>
              <a:rPr lang="en-US" altLang="ko-KR" sz="1600" dirty="0">
                <a:solidFill>
                  <a:srgbClr val="6C6969"/>
                </a:solidFill>
              </a:rPr>
              <a:t>A04.py         		# </a:t>
            </a:r>
            <a:r>
              <a:rPr lang="ko-KR" altLang="en-US" sz="1600" dirty="0">
                <a:solidFill>
                  <a:srgbClr val="6C6969"/>
                </a:solidFill>
              </a:rPr>
              <a:t>메인 학습 코드</a:t>
            </a:r>
          </a:p>
          <a:p>
            <a:r>
              <a:rPr lang="ko-KR" altLang="en-US" sz="1600" dirty="0">
                <a:solidFill>
                  <a:srgbClr val="6C6969"/>
                </a:solidFill>
              </a:rPr>
              <a:t>    │   ├── </a:t>
            </a:r>
            <a:r>
              <a:rPr lang="en-US" altLang="ko-KR" sz="1600" dirty="0">
                <a:solidFill>
                  <a:srgbClr val="6C6969"/>
                </a:solidFill>
              </a:rPr>
              <a:t>eda.py             		# </a:t>
            </a:r>
            <a:r>
              <a:rPr lang="ko-KR" altLang="en-US" sz="1600" dirty="0">
                <a:solidFill>
                  <a:srgbClr val="6C6969"/>
                </a:solidFill>
              </a:rPr>
              <a:t>데이터 분석</a:t>
            </a:r>
          </a:p>
          <a:p>
            <a:r>
              <a:rPr lang="ko-KR" altLang="en-US" sz="1600" dirty="0">
                <a:solidFill>
                  <a:srgbClr val="6C6969"/>
                </a:solidFill>
              </a:rPr>
              <a:t>    │   └── </a:t>
            </a:r>
            <a:r>
              <a:rPr lang="en-US" altLang="ko-KR" sz="1600" dirty="0">
                <a:solidFill>
                  <a:srgbClr val="6C6969"/>
                </a:solidFill>
              </a:rPr>
              <a:t>streamitService.py	# </a:t>
            </a:r>
            <a:r>
              <a:rPr lang="en-US" altLang="ko-KR" sz="1600" dirty="0" err="1">
                <a:solidFill>
                  <a:srgbClr val="6C6969"/>
                </a:solidFill>
              </a:rPr>
              <a:t>Streamlit</a:t>
            </a:r>
            <a:r>
              <a:rPr lang="en-US" altLang="ko-KR" sz="1600" dirty="0">
                <a:solidFill>
                  <a:srgbClr val="6C6969"/>
                </a:solidFill>
              </a:rPr>
              <a:t> </a:t>
            </a:r>
            <a:r>
              <a:rPr lang="ko-KR" altLang="en-US" sz="1600" dirty="0">
                <a:solidFill>
                  <a:srgbClr val="6C6969"/>
                </a:solidFill>
              </a:rPr>
              <a:t>앱</a:t>
            </a:r>
          </a:p>
          <a:p>
            <a:r>
              <a:rPr lang="en-US" altLang="ko-KR" sz="1600" dirty="0">
                <a:solidFill>
                  <a:srgbClr val="6C6969"/>
                </a:solidFill>
              </a:rPr>
              <a:t>    │</a:t>
            </a:r>
          </a:p>
          <a:p>
            <a:r>
              <a:rPr lang="ko-KR" altLang="en-US" sz="1600" dirty="0">
                <a:solidFill>
                  <a:srgbClr val="6C6969"/>
                </a:solidFill>
              </a:rPr>
              <a:t>    └──</a:t>
            </a:r>
            <a:r>
              <a:rPr lang="en-US" altLang="ko-KR" sz="1600" dirty="0">
                <a:solidFill>
                  <a:srgbClr val="6C6969"/>
                </a:solidFill>
              </a:rPr>
              <a:t>doc/ </a:t>
            </a:r>
          </a:p>
          <a:p>
            <a:r>
              <a:rPr lang="ko-KR" altLang="en-US" sz="1600" dirty="0">
                <a:solidFill>
                  <a:srgbClr val="6C6969"/>
                </a:solidFill>
              </a:rPr>
              <a:t>           └── </a:t>
            </a:r>
            <a:r>
              <a:rPr lang="en-US" altLang="ko-KR" sz="1600" dirty="0">
                <a:solidFill>
                  <a:srgbClr val="6C6969"/>
                </a:solidFill>
              </a:rPr>
              <a:t>report.pdf   		# </a:t>
            </a:r>
            <a:r>
              <a:rPr lang="ko-KR" altLang="en-US" sz="1600" dirty="0">
                <a:solidFill>
                  <a:srgbClr val="6C6969"/>
                </a:solidFill>
              </a:rPr>
              <a:t>프로젝트 리포트</a:t>
            </a:r>
            <a:endParaRPr lang="en-US" altLang="ko-KR" sz="1600" dirty="0">
              <a:solidFill>
                <a:srgbClr val="6C6969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79FE6-EBE9-1B22-4498-5F1C3EE47A10}"/>
              </a:ext>
            </a:extLst>
          </p:cNvPr>
          <p:cNvSpPr txBox="1"/>
          <p:nvPr/>
        </p:nvSpPr>
        <p:spPr>
          <a:xfrm>
            <a:off x="583709" y="345588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2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D69672E-BFA7-7EAE-8FA9-E9520773E24F}"/>
              </a:ext>
            </a:extLst>
          </p:cNvPr>
          <p:cNvCxnSpPr>
            <a:cxnSpLocks/>
          </p:cNvCxnSpPr>
          <p:nvPr/>
        </p:nvCxnSpPr>
        <p:spPr>
          <a:xfrm>
            <a:off x="152400" y="190500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35D554D-4DEE-F8E3-276D-A81F7D80D6EB}"/>
              </a:ext>
            </a:extLst>
          </p:cNvPr>
          <p:cNvCxnSpPr>
            <a:cxnSpLocks/>
          </p:cNvCxnSpPr>
          <p:nvPr/>
        </p:nvCxnSpPr>
        <p:spPr>
          <a:xfrm>
            <a:off x="1587500" y="190500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FEF1A0D-99E0-FBE9-D57A-5CAD4C6EC375}"/>
              </a:ext>
            </a:extLst>
          </p:cNvPr>
          <p:cNvSpPr txBox="1"/>
          <p:nvPr/>
        </p:nvSpPr>
        <p:spPr>
          <a:xfrm>
            <a:off x="1676400" y="330200"/>
            <a:ext cx="101024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핵심 기능 및 아키텍처 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(Key Features &amp; Architecture)</a:t>
            </a:r>
            <a:endParaRPr lang="ko-KR" altLang="en-US" sz="3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EAABD58-B35C-6576-B809-2D98FDDE3D9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alphaModFix amt="7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89856" y="1014787"/>
            <a:ext cx="3503536" cy="5411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385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111 고르곤졸라">
      <a:dk1>
        <a:srgbClr val="3A3838"/>
      </a:dk1>
      <a:lt1>
        <a:srgbClr val="FFFFFF"/>
      </a:lt1>
      <a:dk2>
        <a:srgbClr val="5D5B5B"/>
      </a:dk2>
      <a:lt2>
        <a:srgbClr val="F2F2F2"/>
      </a:lt2>
      <a:accent1>
        <a:srgbClr val="5F5F5D"/>
      </a:accent1>
      <a:accent2>
        <a:srgbClr val="7C7C7A"/>
      </a:accent2>
      <a:accent3>
        <a:srgbClr val="BEB7B1"/>
      </a:accent3>
      <a:accent4>
        <a:srgbClr val="3D3A35"/>
      </a:accent4>
      <a:accent5>
        <a:srgbClr val="D1C6AE"/>
      </a:accent5>
      <a:accent6>
        <a:srgbClr val="DFD8C7"/>
      </a:accent6>
      <a:hlink>
        <a:srgbClr val="757070"/>
      </a:hlink>
      <a:folHlink>
        <a:srgbClr val="757070"/>
      </a:folHlink>
    </a:clrScheme>
    <a:fontScheme name="Pretendard ExtraBold">
      <a:majorFont>
        <a:latin typeface="Montserrat Black"/>
        <a:ea typeface="Pretendard ExtraBold"/>
        <a:cs typeface=""/>
      </a:majorFont>
      <a:minorFont>
        <a:latin typeface="Montserrat SemiBol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</TotalTime>
  <Words>669</Words>
  <Application>Microsoft Office PowerPoint</Application>
  <PresentationFormat>와이드스크린</PresentationFormat>
  <Paragraphs>123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2" baseType="lpstr">
      <vt:lpstr>Noto Sans KR Black</vt:lpstr>
      <vt:lpstr>Noto Serif KR Black</vt:lpstr>
      <vt:lpstr>Arial</vt:lpstr>
      <vt:lpstr>Montserrat Black</vt:lpstr>
      <vt:lpstr>Montserrat SemiBold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Yu Saebyeol</dc:creator>
  <cp:lastModifiedBy>우정 장</cp:lastModifiedBy>
  <cp:revision>30</cp:revision>
  <dcterms:created xsi:type="dcterms:W3CDTF">2021-10-22T06:13:27Z</dcterms:created>
  <dcterms:modified xsi:type="dcterms:W3CDTF">2025-12-18T08:46:14Z</dcterms:modified>
</cp:coreProperties>
</file>